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4"/>
  </p:notesMasterIdLst>
  <p:sldIdLst>
    <p:sldId id="1497" r:id="rId2"/>
    <p:sldId id="1498" r:id="rId3"/>
    <p:sldId id="1499" r:id="rId4"/>
    <p:sldId id="1500" r:id="rId5"/>
    <p:sldId id="1501" r:id="rId6"/>
    <p:sldId id="1507" r:id="rId7"/>
    <p:sldId id="1508" r:id="rId8"/>
    <p:sldId id="1672" r:id="rId9"/>
    <p:sldId id="1673" r:id="rId10"/>
    <p:sldId id="1674" r:id="rId11"/>
    <p:sldId id="1513" r:id="rId12"/>
    <p:sldId id="1511" r:id="rId13"/>
    <p:sldId id="1512" r:id="rId14"/>
    <p:sldId id="1505" r:id="rId15"/>
    <p:sldId id="1506" r:id="rId16"/>
    <p:sldId id="1515" r:id="rId17"/>
    <p:sldId id="1536" r:id="rId18"/>
    <p:sldId id="1516" r:id="rId19"/>
    <p:sldId id="1537" r:id="rId20"/>
    <p:sldId id="1538" r:id="rId21"/>
    <p:sldId id="1539" r:id="rId22"/>
    <p:sldId id="1528" r:id="rId23"/>
    <p:sldId id="1530" r:id="rId24"/>
    <p:sldId id="1668" r:id="rId25"/>
    <p:sldId id="1664" r:id="rId26"/>
    <p:sldId id="1669" r:id="rId27"/>
    <p:sldId id="1665" r:id="rId28"/>
    <p:sldId id="1670" r:id="rId29"/>
    <p:sldId id="1666" r:id="rId30"/>
    <p:sldId id="1671" r:id="rId31"/>
    <p:sldId id="1667" r:id="rId32"/>
    <p:sldId id="1649" r:id="rId33"/>
    <p:sldId id="1544" r:id="rId34"/>
    <p:sldId id="1549" r:id="rId35"/>
    <p:sldId id="1550" r:id="rId36"/>
    <p:sldId id="1551" r:id="rId37"/>
    <p:sldId id="1553" r:id="rId38"/>
    <p:sldId id="1655" r:id="rId39"/>
    <p:sldId id="1547" r:id="rId40"/>
    <p:sldId id="1546" r:id="rId41"/>
    <p:sldId id="1548" r:id="rId42"/>
    <p:sldId id="1641" r:id="rId43"/>
    <p:sldId id="1595" r:id="rId44"/>
    <p:sldId id="1656" r:id="rId45"/>
    <p:sldId id="1556" r:id="rId46"/>
    <p:sldId id="1552" r:id="rId47"/>
    <p:sldId id="1575" r:id="rId48"/>
    <p:sldId id="1602" r:id="rId49"/>
    <p:sldId id="1574" r:id="rId50"/>
    <p:sldId id="1576" r:id="rId51"/>
    <p:sldId id="1577" r:id="rId52"/>
    <p:sldId id="1578" r:id="rId53"/>
    <p:sldId id="1555" r:id="rId54"/>
    <p:sldId id="1582" r:id="rId55"/>
    <p:sldId id="1584" r:id="rId56"/>
    <p:sldId id="1657" r:id="rId57"/>
    <p:sldId id="1585" r:id="rId58"/>
    <p:sldId id="1586" r:id="rId59"/>
    <p:sldId id="1587" r:id="rId60"/>
    <p:sldId id="1588" r:id="rId61"/>
    <p:sldId id="1589" r:id="rId62"/>
    <p:sldId id="1590" r:id="rId63"/>
    <p:sldId id="1591" r:id="rId64"/>
    <p:sldId id="1592" r:id="rId65"/>
    <p:sldId id="1593" r:id="rId66"/>
    <p:sldId id="1594" r:id="rId67"/>
    <p:sldId id="1658" r:id="rId68"/>
    <p:sldId id="1644" r:id="rId69"/>
    <p:sldId id="1596" r:id="rId70"/>
    <p:sldId id="1597" r:id="rId71"/>
    <p:sldId id="1598" r:id="rId72"/>
    <p:sldId id="1599" r:id="rId73"/>
    <p:sldId id="1600" r:id="rId74"/>
    <p:sldId id="1601" r:id="rId75"/>
    <p:sldId id="1604" r:id="rId76"/>
    <p:sldId id="1605" r:id="rId77"/>
    <p:sldId id="1606" r:id="rId78"/>
    <p:sldId id="1659" r:id="rId79"/>
    <p:sldId id="1645" r:id="rId80"/>
    <p:sldId id="1607" r:id="rId81"/>
    <p:sldId id="1608" r:id="rId82"/>
    <p:sldId id="1609" r:id="rId83"/>
    <p:sldId id="1610" r:id="rId84"/>
    <p:sldId id="1611" r:id="rId85"/>
    <p:sldId id="1612" r:id="rId86"/>
    <p:sldId id="1613" r:id="rId87"/>
    <p:sldId id="1614" r:id="rId88"/>
    <p:sldId id="1652" r:id="rId89"/>
    <p:sldId id="1646" r:id="rId90"/>
    <p:sldId id="1615" r:id="rId91"/>
    <p:sldId id="1616" r:id="rId92"/>
    <p:sldId id="1617" r:id="rId93"/>
    <p:sldId id="1618" r:id="rId94"/>
    <p:sldId id="1619" r:id="rId95"/>
    <p:sldId id="1620" r:id="rId96"/>
    <p:sldId id="1621" r:id="rId97"/>
    <p:sldId id="1557" r:id="rId98"/>
    <p:sldId id="1653" r:id="rId99"/>
    <p:sldId id="1647" r:id="rId100"/>
    <p:sldId id="1622" r:id="rId101"/>
    <p:sldId id="1623" r:id="rId102"/>
    <p:sldId id="1624" r:id="rId103"/>
    <p:sldId id="1625" r:id="rId104"/>
    <p:sldId id="1626" r:id="rId105"/>
    <p:sldId id="1627" r:id="rId106"/>
    <p:sldId id="1628" r:id="rId107"/>
    <p:sldId id="1629" r:id="rId108"/>
    <p:sldId id="1654" r:id="rId109"/>
    <p:sldId id="1630" r:id="rId110"/>
    <p:sldId id="1631" r:id="rId111"/>
    <p:sldId id="1632" r:id="rId112"/>
    <p:sldId id="1633" r:id="rId113"/>
    <p:sldId id="1636" r:id="rId114"/>
    <p:sldId id="1634" r:id="rId115"/>
    <p:sldId id="1648" r:id="rId116"/>
    <p:sldId id="1643" r:id="rId117"/>
    <p:sldId id="1635" r:id="rId118"/>
    <p:sldId id="1637" r:id="rId119"/>
    <p:sldId id="1638" r:id="rId120"/>
    <p:sldId id="1640" r:id="rId121"/>
    <p:sldId id="1642" r:id="rId122"/>
    <p:sldId id="301" r:id="rId1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CB22F"/>
    <a:srgbClr val="AEFCFC"/>
    <a:srgbClr val="E0C1FF"/>
    <a:srgbClr val="CC99FF"/>
    <a:srgbClr val="00589A"/>
    <a:srgbClr val="DECEFE"/>
    <a:srgbClr val="D0B9F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312" autoAdjust="0"/>
    <p:restoredTop sz="95226" autoAdjust="0"/>
  </p:normalViewPr>
  <p:slideViewPr>
    <p:cSldViewPr snapToGrid="0">
      <p:cViewPr varScale="1">
        <p:scale>
          <a:sx n="75" d="100"/>
          <a:sy n="75" d="100"/>
        </p:scale>
        <p:origin x="840"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notesMaster" Target="notesMasters/notesMaster1.xml"/><Relationship Id="rId129" Type="http://schemas.microsoft.com/office/2016/11/relationships/changesInfo" Target="changesInfos/changesInfo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ndra Mouli Kotta kota" userId="5fe5cc5c0dc36bb4" providerId="LiveId" clId="{AF510240-E2B3-4173-97EA-0549470BF6C3}"/>
    <pc:docChg chg="modSld">
      <pc:chgData name="Chandra Mouli Kotta kota" userId="5fe5cc5c0dc36bb4" providerId="LiveId" clId="{AF510240-E2B3-4173-97EA-0549470BF6C3}" dt="2025-06-19T11:50:38.028" v="4" actId="20577"/>
      <pc:docMkLst>
        <pc:docMk/>
      </pc:docMkLst>
      <pc:sldChg chg="modSp mod">
        <pc:chgData name="Chandra Mouli Kotta kota" userId="5fe5cc5c0dc36bb4" providerId="LiveId" clId="{AF510240-E2B3-4173-97EA-0549470BF6C3}" dt="2025-06-19T11:50:38.028" v="4" actId="20577"/>
        <pc:sldMkLst>
          <pc:docMk/>
          <pc:sldMk cId="3071345316" sldId="1119"/>
        </pc:sldMkLst>
        <pc:spChg chg="mod">
          <ac:chgData name="Chandra Mouli Kotta kota" userId="5fe5cc5c0dc36bb4" providerId="LiveId" clId="{AF510240-E2B3-4173-97EA-0549470BF6C3}" dt="2025-06-19T11:50:38.028" v="4" actId="20577"/>
          <ac:spMkLst>
            <pc:docMk/>
            <pc:sldMk cId="3071345316" sldId="1119"/>
            <ac:spMk id="2" creationId="{566CF642-B155-3EAA-0E23-97793C0E3936}"/>
          </ac:spMkLst>
        </pc:spChg>
      </pc:sldChg>
    </pc:docChg>
  </pc:docChgLst>
  <pc:docChgLst>
    <pc:chgData name="Chandra Mouli Kotta kota" userId="5fe5cc5c0dc36bb4" providerId="LiveId" clId="{FBBFCDCC-E222-47BB-B53E-A36211211E46}"/>
    <pc:docChg chg="undo custSel addSld delSld modSld modMainMaster">
      <pc:chgData name="Chandra Mouli Kotta kota" userId="5fe5cc5c0dc36bb4" providerId="LiveId" clId="{FBBFCDCC-E222-47BB-B53E-A36211211E46}" dt="2025-06-09T07:16:43.868" v="150" actId="1076"/>
      <pc:docMkLst>
        <pc:docMk/>
      </pc:docMkLst>
      <pc:sldChg chg="delSp mod">
        <pc:chgData name="Chandra Mouli Kotta kota" userId="5fe5cc5c0dc36bb4" providerId="LiveId" clId="{FBBFCDCC-E222-47BB-B53E-A36211211E46}" dt="2025-06-09T07:06:28.861" v="4" actId="478"/>
        <pc:sldMkLst>
          <pc:docMk/>
          <pc:sldMk cId="3656772840" sldId="301"/>
        </pc:sldMkLst>
      </pc:sldChg>
      <pc:sldChg chg="modSp add mod">
        <pc:chgData name="Chandra Mouli Kotta kota" userId="5fe5cc5c0dc36bb4" providerId="LiveId" clId="{FBBFCDCC-E222-47BB-B53E-A36211211E46}" dt="2025-06-09T07:16:43.868" v="150" actId="1076"/>
        <pc:sldMkLst>
          <pc:docMk/>
          <pc:sldMk cId="2694837450" sldId="699"/>
        </pc:sldMkLst>
        <pc:spChg chg="mod">
          <ac:chgData name="Chandra Mouli Kotta kota" userId="5fe5cc5c0dc36bb4" providerId="LiveId" clId="{FBBFCDCC-E222-47BB-B53E-A36211211E46}" dt="2025-06-09T07:16:15.986" v="148" actId="207"/>
          <ac:spMkLst>
            <pc:docMk/>
            <pc:sldMk cId="2694837450" sldId="699"/>
            <ac:spMk id="16" creationId="{00000000-0000-0000-0000-000000000000}"/>
          </ac:spMkLst>
        </pc:spChg>
        <pc:spChg chg="mod">
          <ac:chgData name="Chandra Mouli Kotta kota" userId="5fe5cc5c0dc36bb4" providerId="LiveId" clId="{FBBFCDCC-E222-47BB-B53E-A36211211E46}" dt="2025-06-09T07:15:46.025" v="144" actId="207"/>
          <ac:spMkLst>
            <pc:docMk/>
            <pc:sldMk cId="2694837450" sldId="699"/>
            <ac:spMk id="4104" creationId="{00000000-0000-0000-0000-000000000000}"/>
          </ac:spMkLst>
        </pc:spChg>
        <pc:spChg chg="mod">
          <ac:chgData name="Chandra Mouli Kotta kota" userId="5fe5cc5c0dc36bb4" providerId="LiveId" clId="{FBBFCDCC-E222-47BB-B53E-A36211211E46}" dt="2025-06-09T07:16:01.759" v="147" actId="207"/>
          <ac:spMkLst>
            <pc:docMk/>
            <pc:sldMk cId="2694837450" sldId="699"/>
            <ac:spMk id="4107" creationId="{00000000-0000-0000-0000-000000000000}"/>
          </ac:spMkLst>
        </pc:spChg>
        <pc:spChg chg="mod">
          <ac:chgData name="Chandra Mouli Kotta kota" userId="5fe5cc5c0dc36bb4" providerId="LiveId" clId="{FBBFCDCC-E222-47BB-B53E-A36211211E46}" dt="2025-06-09T07:14:45.024" v="138" actId="1076"/>
          <ac:spMkLst>
            <pc:docMk/>
            <pc:sldMk cId="2694837450" sldId="699"/>
            <ac:spMk id="4108" creationId="{00000000-0000-0000-0000-000000000000}"/>
          </ac:spMkLst>
        </pc:spChg>
        <pc:spChg chg="mod">
          <ac:chgData name="Chandra Mouli Kotta kota" userId="5fe5cc5c0dc36bb4" providerId="LiveId" clId="{FBBFCDCC-E222-47BB-B53E-A36211211E46}" dt="2025-06-09T07:16:43.868" v="150" actId="1076"/>
          <ac:spMkLst>
            <pc:docMk/>
            <pc:sldMk cId="2694837450" sldId="699"/>
            <ac:spMk id="4109" creationId="{00000000-0000-0000-0000-000000000000}"/>
          </ac:spMkLst>
        </pc:spChg>
      </pc:sldChg>
      <pc:sldChg chg="addSp delSp modSp mod">
        <pc:chgData name="Chandra Mouli Kotta kota" userId="5fe5cc5c0dc36bb4" providerId="LiveId" clId="{FBBFCDCC-E222-47BB-B53E-A36211211E46}" dt="2025-06-09T07:09:17" v="77" actId="1076"/>
        <pc:sldMkLst>
          <pc:docMk/>
          <pc:sldMk cId="3071345316" sldId="1119"/>
        </pc:sldMkLst>
        <pc:spChg chg="add del mod">
          <ac:chgData name="Chandra Mouli Kotta kota" userId="5fe5cc5c0dc36bb4" providerId="LiveId" clId="{FBBFCDCC-E222-47BB-B53E-A36211211E46}" dt="2025-06-09T07:09:17" v="77" actId="1076"/>
          <ac:spMkLst>
            <pc:docMk/>
            <pc:sldMk cId="3071345316" sldId="1119"/>
            <ac:spMk id="2" creationId="{566CF642-B155-3EAA-0E23-97793C0E3936}"/>
          </ac:spMkLst>
        </pc:spChg>
      </pc:sldChg>
      <pc:sldChg chg="addSp delSp modSp mod">
        <pc:chgData name="Chandra Mouli Kotta kota" userId="5fe5cc5c0dc36bb4" providerId="LiveId" clId="{FBBFCDCC-E222-47BB-B53E-A36211211E46}" dt="2025-06-09T07:10:31.264" v="94" actId="20577"/>
        <pc:sldMkLst>
          <pc:docMk/>
          <pc:sldMk cId="2708497484" sldId="1496"/>
        </pc:sldMkLst>
        <pc:spChg chg="add mod">
          <ac:chgData name="Chandra Mouli Kotta kota" userId="5fe5cc5c0dc36bb4" providerId="LiveId" clId="{FBBFCDCC-E222-47BB-B53E-A36211211E46}" dt="2025-06-09T07:10:31.264" v="94" actId="20577"/>
          <ac:spMkLst>
            <pc:docMk/>
            <pc:sldMk cId="2708497484" sldId="1496"/>
            <ac:spMk id="5" creationId="{7803B91D-5C02-48C0-DF6E-84767A9F9558}"/>
          </ac:spMkLst>
        </pc:spChg>
      </pc:sldChg>
      <pc:sldChg chg="del">
        <pc:chgData name="Chandra Mouli Kotta kota" userId="5fe5cc5c0dc36bb4" providerId="LiveId" clId="{FBBFCDCC-E222-47BB-B53E-A36211211E46}" dt="2025-06-09T07:06:09.840" v="0" actId="47"/>
        <pc:sldMkLst>
          <pc:docMk/>
          <pc:sldMk cId="4148693392" sldId="1497"/>
        </pc:sldMkLst>
      </pc:sldChg>
      <pc:sldChg chg="del">
        <pc:chgData name="Chandra Mouli Kotta kota" userId="5fe5cc5c0dc36bb4" providerId="LiveId" clId="{FBBFCDCC-E222-47BB-B53E-A36211211E46}" dt="2025-06-09T07:06:09.840" v="0" actId="47"/>
        <pc:sldMkLst>
          <pc:docMk/>
          <pc:sldMk cId="3523114206" sldId="1504"/>
        </pc:sldMkLst>
      </pc:sldChg>
      <pc:sldChg chg="del">
        <pc:chgData name="Chandra Mouli Kotta kota" userId="5fe5cc5c0dc36bb4" providerId="LiveId" clId="{FBBFCDCC-E222-47BB-B53E-A36211211E46}" dt="2025-06-09T07:06:09.840" v="0" actId="47"/>
        <pc:sldMkLst>
          <pc:docMk/>
          <pc:sldMk cId="1052189437" sldId="1722"/>
        </pc:sldMkLst>
      </pc:sldChg>
      <pc:sldChg chg="del">
        <pc:chgData name="Chandra Mouli Kotta kota" userId="5fe5cc5c0dc36bb4" providerId="LiveId" clId="{FBBFCDCC-E222-47BB-B53E-A36211211E46}" dt="2025-06-09T07:06:09.840" v="0" actId="47"/>
        <pc:sldMkLst>
          <pc:docMk/>
          <pc:sldMk cId="1971513023" sldId="1723"/>
        </pc:sldMkLst>
      </pc:sldChg>
      <pc:sldChg chg="del">
        <pc:chgData name="Chandra Mouli Kotta kota" userId="5fe5cc5c0dc36bb4" providerId="LiveId" clId="{FBBFCDCC-E222-47BB-B53E-A36211211E46}" dt="2025-06-09T07:06:09.840" v="0" actId="47"/>
        <pc:sldMkLst>
          <pc:docMk/>
          <pc:sldMk cId="3993323865" sldId="1724"/>
        </pc:sldMkLst>
      </pc:sldChg>
      <pc:sldMasterChg chg="delSp mod setBg modSldLayout">
        <pc:chgData name="Chandra Mouli Kotta kota" userId="5fe5cc5c0dc36bb4" providerId="LiveId" clId="{FBBFCDCC-E222-47BB-B53E-A36211211E46}" dt="2025-06-09T07:10:44.416" v="96" actId="478"/>
        <pc:sldMasterMkLst>
          <pc:docMk/>
          <pc:sldMasterMk cId="109456712" sldId="2147483660"/>
        </pc:sldMasterMkLst>
        <pc:sldLayoutChg chg="addSp delSp modSp mod">
          <pc:chgData name="Chandra Mouli Kotta kota" userId="5fe5cc5c0dc36bb4" providerId="LiveId" clId="{FBBFCDCC-E222-47BB-B53E-A36211211E46}" dt="2025-06-09T07:08:43.170" v="36" actId="14100"/>
          <pc:sldLayoutMkLst>
            <pc:docMk/>
            <pc:sldMasterMk cId="109456712" sldId="2147483660"/>
            <pc:sldLayoutMk cId="3918365627" sldId="2147483661"/>
          </pc:sldLayoutMkLst>
          <pc:spChg chg="add mod">
            <ac:chgData name="Chandra Mouli Kotta kota" userId="5fe5cc5c0dc36bb4" providerId="LiveId" clId="{FBBFCDCC-E222-47BB-B53E-A36211211E46}" dt="2025-06-09T07:08:14.842" v="28" actId="1076"/>
            <ac:spMkLst>
              <pc:docMk/>
              <pc:sldMasterMk cId="109456712" sldId="2147483660"/>
              <pc:sldLayoutMk cId="3918365627" sldId="2147483661"/>
              <ac:spMk id="10" creationId="{41D13BBF-8BF9-58E8-2D48-8C25E8436E1D}"/>
            </ac:spMkLst>
          </pc:spChg>
          <pc:spChg chg="add mod">
            <ac:chgData name="Chandra Mouli Kotta kota" userId="5fe5cc5c0dc36bb4" providerId="LiveId" clId="{FBBFCDCC-E222-47BB-B53E-A36211211E46}" dt="2025-06-09T07:08:43.170" v="36" actId="14100"/>
            <ac:spMkLst>
              <pc:docMk/>
              <pc:sldMasterMk cId="109456712" sldId="2147483660"/>
              <pc:sldLayoutMk cId="3918365627" sldId="2147483661"/>
              <ac:spMk id="12" creationId="{E6481E89-02DE-7518-CF7A-DC982067B7A2}"/>
            </ac:spMkLst>
          </pc:spChg>
          <pc:picChg chg="add mod">
            <ac:chgData name="Chandra Mouli Kotta kota" userId="5fe5cc5c0dc36bb4" providerId="LiveId" clId="{FBBFCDCC-E222-47BB-B53E-A36211211E46}" dt="2025-06-09T07:08:18.565" v="30" actId="14100"/>
            <ac:picMkLst>
              <pc:docMk/>
              <pc:sldMasterMk cId="109456712" sldId="2147483660"/>
              <pc:sldLayoutMk cId="3918365627" sldId="2147483661"/>
              <ac:picMk id="3" creationId="{03AD558F-750C-7F7A-EF36-7477B28E6647}"/>
            </ac:picMkLst>
          </pc:picChg>
        </pc:sldLayoutChg>
        <pc:sldLayoutChg chg="delSp mod">
          <pc:chgData name="Chandra Mouli Kotta kota" userId="5fe5cc5c0dc36bb4" providerId="LiveId" clId="{FBBFCDCC-E222-47BB-B53E-A36211211E46}" dt="2025-06-09T07:07:25.672" v="14" actId="478"/>
          <pc:sldLayoutMkLst>
            <pc:docMk/>
            <pc:sldMasterMk cId="109456712" sldId="2147483660"/>
            <pc:sldLayoutMk cId="3313620054" sldId="2147483662"/>
          </pc:sldLayoutMkLst>
        </pc:sldLayoutChg>
        <pc:sldLayoutChg chg="delSp mod">
          <pc:chgData name="Chandra Mouli Kotta kota" userId="5fe5cc5c0dc36bb4" providerId="LiveId" clId="{FBBFCDCC-E222-47BB-B53E-A36211211E46}" dt="2025-06-09T07:07:29.465" v="15" actId="478"/>
          <pc:sldLayoutMkLst>
            <pc:docMk/>
            <pc:sldMasterMk cId="109456712" sldId="2147483660"/>
            <pc:sldLayoutMk cId="3499187656" sldId="2147483663"/>
          </pc:sldLayoutMkLst>
        </pc:sldLayoutChg>
        <pc:sldLayoutChg chg="delSp mod">
          <pc:chgData name="Chandra Mouli Kotta kota" userId="5fe5cc5c0dc36bb4" providerId="LiveId" clId="{FBBFCDCC-E222-47BB-B53E-A36211211E46}" dt="2025-06-09T07:07:31.437" v="16" actId="478"/>
          <pc:sldLayoutMkLst>
            <pc:docMk/>
            <pc:sldMasterMk cId="109456712" sldId="2147483660"/>
            <pc:sldLayoutMk cId="3228013749" sldId="2147483664"/>
          </pc:sldLayoutMkLst>
        </pc:sldLayoutChg>
        <pc:sldLayoutChg chg="delSp mod">
          <pc:chgData name="Chandra Mouli Kotta kota" userId="5fe5cc5c0dc36bb4" providerId="LiveId" clId="{FBBFCDCC-E222-47BB-B53E-A36211211E46}" dt="2025-06-09T07:07:33.128" v="17" actId="478"/>
          <pc:sldLayoutMkLst>
            <pc:docMk/>
            <pc:sldMasterMk cId="109456712" sldId="2147483660"/>
            <pc:sldLayoutMk cId="2061382611" sldId="2147483665"/>
          </pc:sldLayoutMkLst>
        </pc:sldLayoutChg>
        <pc:sldLayoutChg chg="delSp mod">
          <pc:chgData name="Chandra Mouli Kotta kota" userId="5fe5cc5c0dc36bb4" providerId="LiveId" clId="{FBBFCDCC-E222-47BB-B53E-A36211211E46}" dt="2025-06-09T07:10:39.905" v="95" actId="478"/>
          <pc:sldLayoutMkLst>
            <pc:docMk/>
            <pc:sldMasterMk cId="109456712" sldId="2147483660"/>
            <pc:sldLayoutMk cId="2932584646" sldId="2147483666"/>
          </pc:sldLayoutMkLst>
        </pc:sldLayoutChg>
        <pc:sldLayoutChg chg="delSp mod">
          <pc:chgData name="Chandra Mouli Kotta kota" userId="5fe5cc5c0dc36bb4" providerId="LiveId" clId="{FBBFCDCC-E222-47BB-B53E-A36211211E46}" dt="2025-06-09T07:07:36.269" v="18" actId="478"/>
          <pc:sldLayoutMkLst>
            <pc:docMk/>
            <pc:sldMasterMk cId="109456712" sldId="2147483660"/>
            <pc:sldLayoutMk cId="3416484042" sldId="2147483667"/>
          </pc:sldLayoutMkLst>
        </pc:sldLayoutChg>
        <pc:sldLayoutChg chg="delSp mod">
          <pc:chgData name="Chandra Mouli Kotta kota" userId="5fe5cc5c0dc36bb4" providerId="LiveId" clId="{FBBFCDCC-E222-47BB-B53E-A36211211E46}" dt="2025-06-09T07:07:38.370" v="19" actId="478"/>
          <pc:sldLayoutMkLst>
            <pc:docMk/>
            <pc:sldMasterMk cId="109456712" sldId="2147483660"/>
            <pc:sldLayoutMk cId="1265085532" sldId="2147483668"/>
          </pc:sldLayoutMkLst>
        </pc:sldLayoutChg>
        <pc:sldLayoutChg chg="delSp mod">
          <pc:chgData name="Chandra Mouli Kotta kota" userId="5fe5cc5c0dc36bb4" providerId="LiveId" clId="{FBBFCDCC-E222-47BB-B53E-A36211211E46}" dt="2025-06-09T07:07:41.069" v="20" actId="478"/>
          <pc:sldLayoutMkLst>
            <pc:docMk/>
            <pc:sldMasterMk cId="109456712" sldId="2147483660"/>
            <pc:sldLayoutMk cId="836081883" sldId="2147483669"/>
          </pc:sldLayoutMkLst>
        </pc:sldLayoutChg>
        <pc:sldLayoutChg chg="delSp mod">
          <pc:chgData name="Chandra Mouli Kotta kota" userId="5fe5cc5c0dc36bb4" providerId="LiveId" clId="{FBBFCDCC-E222-47BB-B53E-A36211211E46}" dt="2025-06-09T07:07:42.956" v="21" actId="478"/>
          <pc:sldLayoutMkLst>
            <pc:docMk/>
            <pc:sldMasterMk cId="109456712" sldId="2147483660"/>
            <pc:sldLayoutMk cId="1560623489" sldId="2147483670"/>
          </pc:sldLayoutMkLst>
        </pc:sldLayoutChg>
        <pc:sldLayoutChg chg="delSp mod">
          <pc:chgData name="Chandra Mouli Kotta kota" userId="5fe5cc5c0dc36bb4" providerId="LiveId" clId="{FBBFCDCC-E222-47BB-B53E-A36211211E46}" dt="2025-06-09T07:10:44.416" v="96" actId="478"/>
          <pc:sldLayoutMkLst>
            <pc:docMk/>
            <pc:sldMasterMk cId="109456712" sldId="2147483660"/>
            <pc:sldLayoutMk cId="871137606" sldId="2147483671"/>
          </pc:sldLayoutMkLst>
        </pc:sldLayoutChg>
        <pc:sldLayoutChg chg="delSp mod">
          <pc:chgData name="Chandra Mouli Kotta kota" userId="5fe5cc5c0dc36bb4" providerId="LiveId" clId="{FBBFCDCC-E222-47BB-B53E-A36211211E46}" dt="2025-06-09T07:08:25.590" v="32" actId="478"/>
          <pc:sldLayoutMkLst>
            <pc:docMk/>
            <pc:sldMasterMk cId="109456712" sldId="2147483660"/>
            <pc:sldLayoutMk cId="656193189" sldId="2147483672"/>
          </pc:sldLayoutMkLst>
        </pc:sldLayoutChg>
        <pc:sldLayoutChg chg="delSp mod">
          <pc:chgData name="Chandra Mouli Kotta kota" userId="5fe5cc5c0dc36bb4" providerId="LiveId" clId="{FBBFCDCC-E222-47BB-B53E-A36211211E46}" dt="2025-06-09T07:08:30.354" v="33" actId="478"/>
          <pc:sldLayoutMkLst>
            <pc:docMk/>
            <pc:sldMasterMk cId="109456712" sldId="2147483660"/>
            <pc:sldLayoutMk cId="830446849" sldId="2147483673"/>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5813B3-6425-4A6D-806E-021B84DD5758}" type="datetimeFigureOut">
              <a:rPr lang="en-IN" smtClean="0"/>
              <a:t>17-09-2025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193CE8-3B10-43B2-8860-AFD8154600F8}" type="slidenum">
              <a:rPr lang="en-IN" smtClean="0"/>
              <a:t>‹#›</a:t>
            </a:fld>
            <a:endParaRPr lang="en-IN"/>
          </a:p>
        </p:txBody>
      </p:sp>
    </p:spTree>
    <p:extLst>
      <p:ext uri="{BB962C8B-B14F-4D97-AF65-F5344CB8AC3E}">
        <p14:creationId xmlns:p14="http://schemas.microsoft.com/office/powerpoint/2010/main" val="730557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7193CE8-3B10-43B2-8860-AFD8154600F8}" type="slidenum">
              <a:rPr lang="en-IN" smtClean="0"/>
              <a:t>6</a:t>
            </a:fld>
            <a:endParaRPr lang="en-IN"/>
          </a:p>
        </p:txBody>
      </p:sp>
    </p:spTree>
    <p:extLst>
      <p:ext uri="{BB962C8B-B14F-4D97-AF65-F5344CB8AC3E}">
        <p14:creationId xmlns:p14="http://schemas.microsoft.com/office/powerpoint/2010/main" val="42343328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A5E0F-4C75-99E9-3574-A72228E1F0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C0F56F-B94B-2EFE-B704-2CCD304215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19CF47-B451-BC3B-7ADF-1429051B9E1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4404E27-233D-F441-79C1-09BC317F8896}"/>
              </a:ext>
            </a:extLst>
          </p:cNvPr>
          <p:cNvSpPr>
            <a:spLocks noGrp="1"/>
          </p:cNvSpPr>
          <p:nvPr>
            <p:ph type="sldNum" sz="quarter" idx="5"/>
          </p:nvPr>
        </p:nvSpPr>
        <p:spPr/>
        <p:txBody>
          <a:bodyPr/>
          <a:lstStyle/>
          <a:p>
            <a:fld id="{87193CE8-3B10-43B2-8860-AFD8154600F8}" type="slidenum">
              <a:rPr lang="en-IN" smtClean="0"/>
              <a:t>7</a:t>
            </a:fld>
            <a:endParaRPr lang="en-IN"/>
          </a:p>
        </p:txBody>
      </p:sp>
    </p:spTree>
    <p:extLst>
      <p:ext uri="{BB962C8B-B14F-4D97-AF65-F5344CB8AC3E}">
        <p14:creationId xmlns:p14="http://schemas.microsoft.com/office/powerpoint/2010/main" val="34743639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6BB3F-92C7-8FEC-19C4-2898BB043E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50AF9D-0C6C-5588-2A4A-619E236C8F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76CBFD-6840-08DC-88A5-FBE68EB3E20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7EA9C5F-7BD0-228A-F41C-6CE1602100A1}"/>
              </a:ext>
            </a:extLst>
          </p:cNvPr>
          <p:cNvSpPr>
            <a:spLocks noGrp="1"/>
          </p:cNvSpPr>
          <p:nvPr>
            <p:ph type="sldNum" sz="quarter" idx="5"/>
          </p:nvPr>
        </p:nvSpPr>
        <p:spPr/>
        <p:txBody>
          <a:bodyPr/>
          <a:lstStyle/>
          <a:p>
            <a:fld id="{87193CE8-3B10-43B2-8860-AFD8154600F8}" type="slidenum">
              <a:rPr lang="en-IN" smtClean="0"/>
              <a:t>8</a:t>
            </a:fld>
            <a:endParaRPr lang="en-IN"/>
          </a:p>
        </p:txBody>
      </p:sp>
    </p:spTree>
    <p:extLst>
      <p:ext uri="{BB962C8B-B14F-4D97-AF65-F5344CB8AC3E}">
        <p14:creationId xmlns:p14="http://schemas.microsoft.com/office/powerpoint/2010/main" val="17546507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00436-0018-D919-FF43-2BB4FBBD0F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2E299E-2FB3-39D5-FD7C-85BF73E749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9F5C68-757B-62F8-BBDF-8EC9CDA64E1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076569E-6426-0188-42E5-239B74E35F11}"/>
              </a:ext>
            </a:extLst>
          </p:cNvPr>
          <p:cNvSpPr>
            <a:spLocks noGrp="1"/>
          </p:cNvSpPr>
          <p:nvPr>
            <p:ph type="sldNum" sz="quarter" idx="5"/>
          </p:nvPr>
        </p:nvSpPr>
        <p:spPr/>
        <p:txBody>
          <a:bodyPr/>
          <a:lstStyle/>
          <a:p>
            <a:fld id="{87193CE8-3B10-43B2-8860-AFD8154600F8}" type="slidenum">
              <a:rPr lang="en-IN" smtClean="0"/>
              <a:t>9</a:t>
            </a:fld>
            <a:endParaRPr lang="en-IN"/>
          </a:p>
        </p:txBody>
      </p:sp>
    </p:spTree>
    <p:extLst>
      <p:ext uri="{BB962C8B-B14F-4D97-AF65-F5344CB8AC3E}">
        <p14:creationId xmlns:p14="http://schemas.microsoft.com/office/powerpoint/2010/main" val="19167784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A38F5-8755-9663-21BB-79311549E2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5794CC-F152-195B-8590-524F2AA12D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1983FC-3D6E-4D25-7473-F7370862766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83C27FA-45C7-3F60-5CFB-53694A41DE08}"/>
              </a:ext>
            </a:extLst>
          </p:cNvPr>
          <p:cNvSpPr>
            <a:spLocks noGrp="1"/>
          </p:cNvSpPr>
          <p:nvPr>
            <p:ph type="sldNum" sz="quarter" idx="5"/>
          </p:nvPr>
        </p:nvSpPr>
        <p:spPr/>
        <p:txBody>
          <a:bodyPr/>
          <a:lstStyle/>
          <a:p>
            <a:fld id="{87193CE8-3B10-43B2-8860-AFD8154600F8}" type="slidenum">
              <a:rPr lang="en-IN" smtClean="0"/>
              <a:t>10</a:t>
            </a:fld>
            <a:endParaRPr lang="en-IN"/>
          </a:p>
        </p:txBody>
      </p:sp>
    </p:spTree>
    <p:extLst>
      <p:ext uri="{BB962C8B-B14F-4D97-AF65-F5344CB8AC3E}">
        <p14:creationId xmlns:p14="http://schemas.microsoft.com/office/powerpoint/2010/main" val="11890704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A7BE97-EC48-8F99-D320-B6D211C89C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A01ECB-4230-84A9-2EBA-28780F79AD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E70C3F-3A62-705F-029A-C405BB3E6C6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F887E8C-4F5B-4EB5-5B3C-DB94AC21CBFC}"/>
              </a:ext>
            </a:extLst>
          </p:cNvPr>
          <p:cNvSpPr>
            <a:spLocks noGrp="1"/>
          </p:cNvSpPr>
          <p:nvPr>
            <p:ph type="sldNum" sz="quarter" idx="5"/>
          </p:nvPr>
        </p:nvSpPr>
        <p:spPr/>
        <p:txBody>
          <a:bodyPr/>
          <a:lstStyle/>
          <a:p>
            <a:fld id="{87193CE8-3B10-43B2-8860-AFD8154600F8}" type="slidenum">
              <a:rPr lang="en-IN" smtClean="0"/>
              <a:t>11</a:t>
            </a:fld>
            <a:endParaRPr lang="en-IN"/>
          </a:p>
        </p:txBody>
      </p:sp>
    </p:spTree>
    <p:extLst>
      <p:ext uri="{BB962C8B-B14F-4D97-AF65-F5344CB8AC3E}">
        <p14:creationId xmlns:p14="http://schemas.microsoft.com/office/powerpoint/2010/main" val="1700360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4"/>
        <p:cNvGrpSpPr/>
        <p:nvPr/>
      </p:nvGrpSpPr>
      <p:grpSpPr>
        <a:xfrm>
          <a:off x="0" y="0"/>
          <a:ext cx="0" cy="0"/>
          <a:chOff x="0" y="0"/>
          <a:chExt cx="0" cy="0"/>
        </a:xfrm>
      </p:grpSpPr>
      <p:sp>
        <p:nvSpPr>
          <p:cNvPr id="1205" name="Google Shape;1205;p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06" name="Google Shape;1206;p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6554282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caletrix Title Page">
    <p:spTree>
      <p:nvGrpSpPr>
        <p:cNvPr id="1" name=""/>
        <p:cNvGrpSpPr/>
        <p:nvPr/>
      </p:nvGrpSpPr>
      <p:grpSpPr>
        <a:xfrm>
          <a:off x="0" y="0"/>
          <a:ext cx="0" cy="0"/>
          <a:chOff x="0" y="0"/>
          <a:chExt cx="0" cy="0"/>
        </a:xfrm>
      </p:grpSpPr>
      <p:sp>
        <p:nvSpPr>
          <p:cNvPr id="2" name="Google Shape;22;p3">
            <a:extLst>
              <a:ext uri="{FF2B5EF4-FFF2-40B4-BE49-F238E27FC236}">
                <a16:creationId xmlns:a16="http://schemas.microsoft.com/office/drawing/2014/main" id="{2F306997-3B2B-2B65-053F-A3D89D2F2DA0}"/>
              </a:ext>
            </a:extLst>
          </p:cNvPr>
          <p:cNvSpPr/>
          <p:nvPr userDrawn="1"/>
        </p:nvSpPr>
        <p:spPr>
          <a:xfrm>
            <a:off x="-67" y="0"/>
            <a:ext cx="12192000" cy="6327976"/>
          </a:xfrm>
          <a:prstGeom prst="rect">
            <a:avLst/>
          </a:prstGeom>
          <a:solidFill>
            <a:schemeClr val="tx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pic>
        <p:nvPicPr>
          <p:cNvPr id="3" name="Picture 2">
            <a:extLst>
              <a:ext uri="{FF2B5EF4-FFF2-40B4-BE49-F238E27FC236}">
                <a16:creationId xmlns:a16="http://schemas.microsoft.com/office/drawing/2014/main" id="{03AD558F-750C-7F7A-EF36-7477B28E6647}"/>
              </a:ext>
            </a:extLst>
          </p:cNvPr>
          <p:cNvPicPr>
            <a:picLocks noChangeAspect="1"/>
          </p:cNvPicPr>
          <p:nvPr userDrawn="1"/>
        </p:nvPicPr>
        <p:blipFill rotWithShape="1">
          <a:blip r:embed="rId2"/>
          <a:srcRect r="5636" b="4250"/>
          <a:stretch/>
        </p:blipFill>
        <p:spPr>
          <a:xfrm flipH="1">
            <a:off x="937527" y="1260005"/>
            <a:ext cx="5091797" cy="4486363"/>
          </a:xfrm>
          <a:prstGeom prst="rect">
            <a:avLst/>
          </a:prstGeom>
        </p:spPr>
      </p:pic>
      <p:sp>
        <p:nvSpPr>
          <p:cNvPr id="10" name="Rectangle 9">
            <a:extLst>
              <a:ext uri="{FF2B5EF4-FFF2-40B4-BE49-F238E27FC236}">
                <a16:creationId xmlns:a16="http://schemas.microsoft.com/office/drawing/2014/main" id="{41D13BBF-8BF9-58E8-2D48-8C25E8436E1D}"/>
              </a:ext>
            </a:extLst>
          </p:cNvPr>
          <p:cNvSpPr/>
          <p:nvPr userDrawn="1"/>
        </p:nvSpPr>
        <p:spPr>
          <a:xfrm>
            <a:off x="0" y="0"/>
            <a:ext cx="12195029" cy="524801"/>
          </a:xfrm>
          <a:prstGeom prst="rect">
            <a:avLst/>
          </a:prstGeom>
          <a:solidFill>
            <a:srgbClr val="348E90"/>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12" name="Google Shape;37;p60">
            <a:extLst>
              <a:ext uri="{FF2B5EF4-FFF2-40B4-BE49-F238E27FC236}">
                <a16:creationId xmlns:a16="http://schemas.microsoft.com/office/drawing/2014/main" id="{E6481E89-02DE-7518-CF7A-DC982067B7A2}"/>
              </a:ext>
            </a:extLst>
          </p:cNvPr>
          <p:cNvSpPr txBox="1">
            <a:spLocks noGrp="1"/>
          </p:cNvSpPr>
          <p:nvPr>
            <p:ph type="subTitle" idx="1"/>
          </p:nvPr>
        </p:nvSpPr>
        <p:spPr>
          <a:xfrm>
            <a:off x="6279060" y="2107188"/>
            <a:ext cx="5455740" cy="1056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2400"/>
              <a:buNone/>
              <a:defRPr sz="3200">
                <a:latin typeface="Raleway"/>
                <a:ea typeface="Raleway"/>
                <a:cs typeface="Raleway"/>
                <a:sym typeface="Raleway"/>
              </a:defRPr>
            </a:lvl1pPr>
            <a:lvl2pPr lvl="1" algn="ctr">
              <a:lnSpc>
                <a:spcPct val="100000"/>
              </a:lnSpc>
              <a:spcBef>
                <a:spcPts val="0"/>
              </a:spcBef>
              <a:spcAft>
                <a:spcPts val="0"/>
              </a:spcAft>
              <a:buSzPts val="2400"/>
              <a:buNone/>
              <a:defRPr sz="3200"/>
            </a:lvl2pPr>
            <a:lvl3pPr lvl="2" algn="ctr">
              <a:lnSpc>
                <a:spcPct val="100000"/>
              </a:lnSpc>
              <a:spcBef>
                <a:spcPts val="0"/>
              </a:spcBef>
              <a:spcAft>
                <a:spcPts val="0"/>
              </a:spcAft>
              <a:buSzPts val="2400"/>
              <a:buNone/>
              <a:defRPr sz="3200"/>
            </a:lvl3pPr>
            <a:lvl4pPr lvl="3" algn="ctr">
              <a:lnSpc>
                <a:spcPct val="100000"/>
              </a:lnSpc>
              <a:spcBef>
                <a:spcPts val="0"/>
              </a:spcBef>
              <a:spcAft>
                <a:spcPts val="0"/>
              </a:spcAft>
              <a:buSzPts val="2400"/>
              <a:buNone/>
              <a:defRPr sz="3200"/>
            </a:lvl4pPr>
            <a:lvl5pPr lvl="4" algn="ctr">
              <a:lnSpc>
                <a:spcPct val="100000"/>
              </a:lnSpc>
              <a:spcBef>
                <a:spcPts val="0"/>
              </a:spcBef>
              <a:spcAft>
                <a:spcPts val="0"/>
              </a:spcAft>
              <a:buSzPts val="2400"/>
              <a:buNone/>
              <a:defRPr sz="3200"/>
            </a:lvl5pPr>
            <a:lvl6pPr lvl="5" algn="ctr">
              <a:lnSpc>
                <a:spcPct val="100000"/>
              </a:lnSpc>
              <a:spcBef>
                <a:spcPts val="0"/>
              </a:spcBef>
              <a:spcAft>
                <a:spcPts val="0"/>
              </a:spcAft>
              <a:buSzPts val="2400"/>
              <a:buNone/>
              <a:defRPr sz="3200"/>
            </a:lvl6pPr>
            <a:lvl7pPr lvl="6" algn="ctr">
              <a:lnSpc>
                <a:spcPct val="100000"/>
              </a:lnSpc>
              <a:spcBef>
                <a:spcPts val="0"/>
              </a:spcBef>
              <a:spcAft>
                <a:spcPts val="0"/>
              </a:spcAft>
              <a:buSzPts val="2400"/>
              <a:buNone/>
              <a:defRPr sz="3200"/>
            </a:lvl7pPr>
            <a:lvl8pPr lvl="7" algn="ctr">
              <a:lnSpc>
                <a:spcPct val="100000"/>
              </a:lnSpc>
              <a:spcBef>
                <a:spcPts val="0"/>
              </a:spcBef>
              <a:spcAft>
                <a:spcPts val="0"/>
              </a:spcAft>
              <a:buSzPts val="2400"/>
              <a:buNone/>
              <a:defRPr sz="3200"/>
            </a:lvl8pPr>
            <a:lvl9pPr lvl="8" algn="ctr">
              <a:lnSpc>
                <a:spcPct val="100000"/>
              </a:lnSpc>
              <a:spcBef>
                <a:spcPts val="0"/>
              </a:spcBef>
              <a:spcAft>
                <a:spcPts val="0"/>
              </a:spcAft>
              <a:buSzPts val="2400"/>
              <a:buNone/>
              <a:defRPr sz="3200"/>
            </a:lvl9pPr>
          </a:lstStyle>
          <a:p>
            <a:endParaRPr/>
          </a:p>
        </p:txBody>
      </p:sp>
    </p:spTree>
    <p:extLst>
      <p:ext uri="{BB962C8B-B14F-4D97-AF65-F5344CB8AC3E}">
        <p14:creationId xmlns:p14="http://schemas.microsoft.com/office/powerpoint/2010/main" val="39183656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1"/>
        <p:cNvGrpSpPr/>
        <p:nvPr/>
      </p:nvGrpSpPr>
      <p:grpSpPr>
        <a:xfrm>
          <a:off x="0" y="0"/>
          <a:ext cx="0" cy="0"/>
          <a:chOff x="0" y="0"/>
          <a:chExt cx="0" cy="0"/>
        </a:xfrm>
      </p:grpSpPr>
      <p:sp>
        <p:nvSpPr>
          <p:cNvPr id="23" name="Google Shape;23;p3"/>
          <p:cNvSpPr txBox="1">
            <a:spLocks noGrp="1"/>
          </p:cNvSpPr>
          <p:nvPr>
            <p:ph type="title"/>
          </p:nvPr>
        </p:nvSpPr>
        <p:spPr>
          <a:xfrm>
            <a:off x="415600" y="4289085"/>
            <a:ext cx="11428400" cy="12560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a:latin typeface="Raleway" pitchFamily="2" charset="0"/>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a:endParaRPr dirty="0"/>
          </a:p>
        </p:txBody>
      </p:sp>
      <p:sp>
        <p:nvSpPr>
          <p:cNvPr id="2" name="Google Shape;8;p1">
            <a:extLst>
              <a:ext uri="{FF2B5EF4-FFF2-40B4-BE49-F238E27FC236}">
                <a16:creationId xmlns:a16="http://schemas.microsoft.com/office/drawing/2014/main" id="{9DF37ADA-1D1E-F64E-723D-3F6E9A12009A}"/>
              </a:ext>
            </a:extLst>
          </p:cNvPr>
          <p:cNvSpPr txBox="1">
            <a:spLocks noGrp="1"/>
          </p:cNvSpPr>
          <p:nvPr>
            <p:ph type="sldNum" idx="12"/>
          </p:nvPr>
        </p:nvSpPr>
        <p:spPr>
          <a:xfrm>
            <a:off x="11323907" y="6414447"/>
            <a:ext cx="731600" cy="355272"/>
          </a:xfrm>
          <a:prstGeom prst="rect">
            <a:avLst/>
          </a:prstGeom>
          <a:noFill/>
          <a:ln>
            <a:noFill/>
          </a:ln>
        </p:spPr>
        <p:txBody>
          <a:bodyPr spcFirstLastPara="1" wrap="square" lIns="91425" tIns="91425" rIns="91425" bIns="91425" anchor="ctr" anchorCtr="0">
            <a:normAutofit/>
          </a:bodyPr>
          <a:lstStyle>
            <a:lvl1pPr lvl="0" algn="r">
              <a:buNone/>
              <a:defRPr sz="1333">
                <a:solidFill>
                  <a:schemeClr val="bg1"/>
                </a:solidFill>
                <a:latin typeface="Raleway" pitchFamily="2" charset="0"/>
                <a:ea typeface="Open Sans"/>
                <a:cs typeface="Open Sans"/>
                <a:sym typeface="Open Sans"/>
              </a:defRPr>
            </a:lvl1pPr>
            <a:lvl2pPr lvl="1" algn="r">
              <a:buNone/>
              <a:defRPr sz="1333">
                <a:solidFill>
                  <a:schemeClr val="dk2"/>
                </a:solidFill>
                <a:latin typeface="Open Sans"/>
                <a:ea typeface="Open Sans"/>
                <a:cs typeface="Open Sans"/>
                <a:sym typeface="Open Sans"/>
              </a:defRPr>
            </a:lvl2pPr>
            <a:lvl3pPr lvl="2" algn="r">
              <a:buNone/>
              <a:defRPr sz="1333">
                <a:solidFill>
                  <a:schemeClr val="dk2"/>
                </a:solidFill>
                <a:latin typeface="Open Sans"/>
                <a:ea typeface="Open Sans"/>
                <a:cs typeface="Open Sans"/>
                <a:sym typeface="Open Sans"/>
              </a:defRPr>
            </a:lvl3pPr>
            <a:lvl4pPr lvl="3" algn="r">
              <a:buNone/>
              <a:defRPr sz="1333">
                <a:solidFill>
                  <a:schemeClr val="dk2"/>
                </a:solidFill>
                <a:latin typeface="Open Sans"/>
                <a:ea typeface="Open Sans"/>
                <a:cs typeface="Open Sans"/>
                <a:sym typeface="Open Sans"/>
              </a:defRPr>
            </a:lvl4pPr>
            <a:lvl5pPr lvl="4" algn="r">
              <a:buNone/>
              <a:defRPr sz="1333">
                <a:solidFill>
                  <a:schemeClr val="dk2"/>
                </a:solidFill>
                <a:latin typeface="Open Sans"/>
                <a:ea typeface="Open Sans"/>
                <a:cs typeface="Open Sans"/>
                <a:sym typeface="Open Sans"/>
              </a:defRPr>
            </a:lvl5pPr>
            <a:lvl6pPr lvl="5" algn="r">
              <a:buNone/>
              <a:defRPr sz="1333">
                <a:solidFill>
                  <a:schemeClr val="dk2"/>
                </a:solidFill>
                <a:latin typeface="Open Sans"/>
                <a:ea typeface="Open Sans"/>
                <a:cs typeface="Open Sans"/>
                <a:sym typeface="Open Sans"/>
              </a:defRPr>
            </a:lvl6pPr>
            <a:lvl7pPr lvl="6" algn="r">
              <a:buNone/>
              <a:defRPr sz="1333">
                <a:solidFill>
                  <a:schemeClr val="dk2"/>
                </a:solidFill>
                <a:latin typeface="Open Sans"/>
                <a:ea typeface="Open Sans"/>
                <a:cs typeface="Open Sans"/>
                <a:sym typeface="Open Sans"/>
              </a:defRPr>
            </a:lvl7pPr>
            <a:lvl8pPr lvl="7" algn="r">
              <a:buNone/>
              <a:defRPr sz="1333">
                <a:solidFill>
                  <a:schemeClr val="dk2"/>
                </a:solidFill>
                <a:latin typeface="Open Sans"/>
                <a:ea typeface="Open Sans"/>
                <a:cs typeface="Open Sans"/>
                <a:sym typeface="Open Sans"/>
              </a:defRPr>
            </a:lvl8pPr>
            <a:lvl9pPr lvl="8" algn="r">
              <a:buNone/>
              <a:defRPr sz="1333">
                <a:solidFill>
                  <a:schemeClr val="dk2"/>
                </a:solidFill>
                <a:latin typeface="Open Sans"/>
                <a:ea typeface="Open Sans"/>
                <a:cs typeface="Open Sans"/>
                <a:sym typeface="Open Sans"/>
              </a:defRPr>
            </a:lvl9pPr>
          </a:lstStyle>
          <a:p>
            <a:fld id="{00000000-1234-1234-1234-123412341234}" type="slidenum">
              <a:rPr lang="en" smtClean="0"/>
              <a:pPr/>
              <a:t>‹#›</a:t>
            </a:fld>
            <a:endParaRPr lang="en" dirty="0"/>
          </a:p>
        </p:txBody>
      </p:sp>
    </p:spTree>
    <p:extLst>
      <p:ext uri="{BB962C8B-B14F-4D97-AF65-F5344CB8AC3E}">
        <p14:creationId xmlns:p14="http://schemas.microsoft.com/office/powerpoint/2010/main" val="33136200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61"/>
        <p:cNvGrpSpPr/>
        <p:nvPr/>
      </p:nvGrpSpPr>
      <p:grpSpPr>
        <a:xfrm>
          <a:off x="0" y="0"/>
          <a:ext cx="0" cy="0"/>
          <a:chOff x="0" y="0"/>
          <a:chExt cx="0" cy="0"/>
        </a:xfrm>
      </p:grpSpPr>
      <p:sp>
        <p:nvSpPr>
          <p:cNvPr id="62" name="Google Shape;62;p10"/>
          <p:cNvSpPr txBox="1">
            <a:spLocks noGrp="1"/>
          </p:cNvSpPr>
          <p:nvPr>
            <p:ph type="body" idx="1"/>
          </p:nvPr>
        </p:nvSpPr>
        <p:spPr>
          <a:xfrm>
            <a:off x="1081404" y="5270123"/>
            <a:ext cx="7998400" cy="798400"/>
          </a:xfrm>
          <a:prstGeom prst="rect">
            <a:avLst/>
          </a:prstGeom>
        </p:spPr>
        <p:txBody>
          <a:bodyPr spcFirstLastPara="1" wrap="square" lIns="91425" tIns="91425" rIns="91425" bIns="91425" anchor="ctr" anchorCtr="0">
            <a:normAutofit/>
          </a:bodyPr>
          <a:lstStyle>
            <a:lvl1pPr marL="609585" lvl="0" indent="-304792">
              <a:lnSpc>
                <a:spcPct val="100000"/>
              </a:lnSpc>
              <a:spcBef>
                <a:spcPts val="0"/>
              </a:spcBef>
              <a:spcAft>
                <a:spcPts val="0"/>
              </a:spcAft>
              <a:buSzPts val="2400"/>
              <a:buFont typeface="PT Sans Narrow"/>
              <a:buNone/>
              <a:defRPr sz="3200">
                <a:latin typeface="Raleway" pitchFamily="2" charset="0"/>
                <a:ea typeface="Raleway" pitchFamily="2" charset="0"/>
                <a:cs typeface="Raleway" pitchFamily="2" charset="0"/>
                <a:sym typeface="PT Sans Narrow"/>
              </a:defRPr>
            </a:lvl1pPr>
          </a:lstStyle>
          <a:p>
            <a:endParaRPr dirty="0"/>
          </a:p>
        </p:txBody>
      </p:sp>
      <p:sp>
        <p:nvSpPr>
          <p:cNvPr id="6" name="Slide Number Placeholder 5">
            <a:extLst>
              <a:ext uri="{FF2B5EF4-FFF2-40B4-BE49-F238E27FC236}">
                <a16:creationId xmlns:a16="http://schemas.microsoft.com/office/drawing/2014/main" id="{2D49176E-C771-72C8-F8E5-906AAEAB5941}"/>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34991876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userDrawn="1">
  <p:cSld name="One column text">
    <p:spTree>
      <p:nvGrpSpPr>
        <p:cNvPr id="1" name="Shape 44"/>
        <p:cNvGrpSpPr/>
        <p:nvPr/>
      </p:nvGrpSpPr>
      <p:grpSpPr>
        <a:xfrm>
          <a:off x="0" y="0"/>
          <a:ext cx="0" cy="0"/>
          <a:chOff x="0" y="0"/>
          <a:chExt cx="0" cy="0"/>
        </a:xfrm>
      </p:grpSpPr>
      <p:sp>
        <p:nvSpPr>
          <p:cNvPr id="46" name="Google Shape;46;p7"/>
          <p:cNvSpPr txBox="1">
            <a:spLocks noGrp="1"/>
          </p:cNvSpPr>
          <p:nvPr>
            <p:ph type="body" idx="1"/>
          </p:nvPr>
        </p:nvSpPr>
        <p:spPr>
          <a:xfrm>
            <a:off x="415600" y="1672836"/>
            <a:ext cx="3744000" cy="4239200"/>
          </a:xfrm>
          <a:prstGeom prst="rect">
            <a:avLst/>
          </a:prstGeom>
        </p:spPr>
        <p:txBody>
          <a:bodyPr spcFirstLastPara="1" wrap="square" lIns="91425" tIns="91425" rIns="91425" bIns="91425" anchor="t" anchorCtr="0">
            <a:normAutofit/>
          </a:bodyPr>
          <a:lstStyle>
            <a:lvl1pPr marL="609585" lvl="0" indent="-406390">
              <a:spcBef>
                <a:spcPts val="0"/>
              </a:spcBef>
              <a:spcAft>
                <a:spcPts val="0"/>
              </a:spcAft>
              <a:buSzPts val="1200"/>
              <a:buChar char="●"/>
              <a:defRPr sz="1333">
                <a:latin typeface="Calibri" panose="020F0502020204030204" pitchFamily="34" charset="0"/>
                <a:cs typeface="Calibri" panose="020F0502020204030204" pitchFamily="34" charset="0"/>
              </a:defRPr>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dirty="0"/>
          </a:p>
        </p:txBody>
      </p:sp>
      <p:sp>
        <p:nvSpPr>
          <p:cNvPr id="5" name="Google Shape;45;p7">
            <a:extLst>
              <a:ext uri="{FF2B5EF4-FFF2-40B4-BE49-F238E27FC236}">
                <a16:creationId xmlns:a16="http://schemas.microsoft.com/office/drawing/2014/main" id="{482C3779-B2BB-CEE4-3E2C-334B9C6C7D8A}"/>
              </a:ext>
            </a:extLst>
          </p:cNvPr>
          <p:cNvSpPr txBox="1">
            <a:spLocks noGrp="1"/>
          </p:cNvSpPr>
          <p:nvPr>
            <p:ph type="title"/>
          </p:nvPr>
        </p:nvSpPr>
        <p:spPr>
          <a:xfrm>
            <a:off x="403197" y="0"/>
            <a:ext cx="10675200" cy="1137600"/>
          </a:xfrm>
          <a:prstGeom prst="rect">
            <a:avLst/>
          </a:prstGeom>
        </p:spPr>
        <p:txBody>
          <a:bodyPr spcFirstLastPara="1" wrap="square" lIns="91425" tIns="91425" rIns="91425" bIns="91425" anchor="ctr" anchorCtr="0">
            <a:noAutofit/>
          </a:bodyPr>
          <a:lstStyle>
            <a:lvl1pPr lvl="0">
              <a:spcBef>
                <a:spcPts val="0"/>
              </a:spcBef>
              <a:spcAft>
                <a:spcPts val="0"/>
              </a:spcAft>
              <a:buSzPts val="2400"/>
              <a:buNone/>
              <a:defRPr sz="2933">
                <a:solidFill>
                  <a:schemeClr val="tx1"/>
                </a:solidFill>
                <a:latin typeface="Raleway" pitchFamily="2" charset="0"/>
              </a:defRPr>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dirty="0"/>
          </a:p>
        </p:txBody>
      </p:sp>
      <p:sp>
        <p:nvSpPr>
          <p:cNvPr id="7" name="Slide Number Placeholder 5">
            <a:extLst>
              <a:ext uri="{FF2B5EF4-FFF2-40B4-BE49-F238E27FC236}">
                <a16:creationId xmlns:a16="http://schemas.microsoft.com/office/drawing/2014/main" id="{E53AC460-69CA-8F48-E3C8-414742235405}"/>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32280137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B9630DA-C8F6-4DCB-07B4-8474A714CA0E}"/>
              </a:ext>
            </a:extLst>
          </p:cNvPr>
          <p:cNvSpPr>
            <a:spLocks noGrp="1"/>
          </p:cNvSpPr>
          <p:nvPr>
            <p:ph type="pic" idx="1"/>
          </p:nvPr>
        </p:nvSpPr>
        <p:spPr>
          <a:xfrm>
            <a:off x="5183188" y="2049463"/>
            <a:ext cx="6172200" cy="3811588"/>
          </a:xfrm>
          <a:prstGeom prst="rect">
            <a:avLst/>
          </a:prstGeom>
        </p:spPr>
        <p:txBody>
          <a:bodyPr>
            <a:normAutofit/>
          </a:bodyPr>
          <a:lstStyle>
            <a:lvl1pPr marL="0" indent="0">
              <a:buNone/>
              <a:defRPr sz="1333">
                <a:latin typeface="Calibri" panose="020F0502020204030204" pitchFamily="34" charset="0"/>
                <a:cs typeface="Calibri" panose="020F0502020204030204" pitchFamily="34" charset="0"/>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IN" dirty="0"/>
          </a:p>
        </p:txBody>
      </p:sp>
      <p:sp>
        <p:nvSpPr>
          <p:cNvPr id="4" name="Text Placeholder 3">
            <a:extLst>
              <a:ext uri="{FF2B5EF4-FFF2-40B4-BE49-F238E27FC236}">
                <a16:creationId xmlns:a16="http://schemas.microsoft.com/office/drawing/2014/main" id="{2D23ABE9-772D-629A-0846-B8D8655E488F}"/>
              </a:ext>
            </a:extLst>
          </p:cNvPr>
          <p:cNvSpPr>
            <a:spLocks noGrp="1"/>
          </p:cNvSpPr>
          <p:nvPr>
            <p:ph type="body" sz="half" idx="2"/>
          </p:nvPr>
        </p:nvSpPr>
        <p:spPr>
          <a:xfrm>
            <a:off x="839788" y="2057401"/>
            <a:ext cx="3932237" cy="3811588"/>
          </a:xfrm>
          <a:prstGeom prst="rect">
            <a:avLst/>
          </a:prstGeom>
        </p:spPr>
        <p:txBody>
          <a:bodyPr/>
          <a:lstStyle>
            <a:lvl1pPr marL="0" indent="0">
              <a:buNone/>
              <a:defRPr sz="1333">
                <a:latin typeface="Calibri" panose="020F0502020204030204" pitchFamily="34" charset="0"/>
                <a:cs typeface="Calibri" panose="020F0502020204030204" pitchFamily="34" charset="0"/>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11" name="Google Shape;45;p7">
            <a:extLst>
              <a:ext uri="{FF2B5EF4-FFF2-40B4-BE49-F238E27FC236}">
                <a16:creationId xmlns:a16="http://schemas.microsoft.com/office/drawing/2014/main" id="{2DDA5E8B-7438-C891-2771-F57700CCD3FA}"/>
              </a:ext>
            </a:extLst>
          </p:cNvPr>
          <p:cNvSpPr txBox="1">
            <a:spLocks noGrp="1"/>
          </p:cNvSpPr>
          <p:nvPr>
            <p:ph type="title"/>
          </p:nvPr>
        </p:nvSpPr>
        <p:spPr>
          <a:xfrm>
            <a:off x="403197" y="0"/>
            <a:ext cx="10675200" cy="1137600"/>
          </a:xfrm>
          <a:prstGeom prst="rect">
            <a:avLst/>
          </a:prstGeom>
        </p:spPr>
        <p:txBody>
          <a:bodyPr spcFirstLastPara="1" wrap="square" lIns="91425" tIns="91425" rIns="91425" bIns="91425" anchor="ctr" anchorCtr="0">
            <a:noAutofit/>
          </a:bodyPr>
          <a:lstStyle>
            <a:lvl1pPr lvl="0">
              <a:spcBef>
                <a:spcPts val="0"/>
              </a:spcBef>
              <a:spcAft>
                <a:spcPts val="0"/>
              </a:spcAft>
              <a:buSzPts val="2400"/>
              <a:buNone/>
              <a:defRPr sz="2933">
                <a:solidFill>
                  <a:schemeClr val="tx1"/>
                </a:solidFill>
                <a:latin typeface="Raleway" pitchFamily="2" charset="0"/>
              </a:defRPr>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dirty="0"/>
          </a:p>
        </p:txBody>
      </p:sp>
      <p:sp>
        <p:nvSpPr>
          <p:cNvPr id="13" name="Slide Number Placeholder 5">
            <a:extLst>
              <a:ext uri="{FF2B5EF4-FFF2-40B4-BE49-F238E27FC236}">
                <a16:creationId xmlns:a16="http://schemas.microsoft.com/office/drawing/2014/main" id="{BE10E01B-527E-6CF6-D575-6D430AD2824D}"/>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cs typeface="Calibri" panose="020F0502020204030204" pitchFamily="34"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20613826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rts_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9EE7B-0C51-8498-9CA8-9E86029FC77B}"/>
              </a:ext>
            </a:extLst>
          </p:cNvPr>
          <p:cNvSpPr>
            <a:spLocks noGrp="1"/>
          </p:cNvSpPr>
          <p:nvPr>
            <p:ph type="title"/>
          </p:nvPr>
        </p:nvSpPr>
        <p:spPr/>
        <p:txBody>
          <a:bodyPr/>
          <a:lstStyle/>
          <a:p>
            <a:r>
              <a:rPr lang="en-US"/>
              <a:t>Click to edit Master title style</a:t>
            </a:r>
            <a:endParaRPr lang="en-IN"/>
          </a:p>
        </p:txBody>
      </p:sp>
      <p:sp>
        <p:nvSpPr>
          <p:cNvPr id="3" name="Slide Number Placeholder 2">
            <a:extLst>
              <a:ext uri="{FF2B5EF4-FFF2-40B4-BE49-F238E27FC236}">
                <a16:creationId xmlns:a16="http://schemas.microsoft.com/office/drawing/2014/main" id="{42E3FB6E-4771-B14F-8BFC-D15A9A3494B5}"/>
              </a:ext>
            </a:extLst>
          </p:cNvPr>
          <p:cNvSpPr>
            <a:spLocks noGrp="1"/>
          </p:cNvSpPr>
          <p:nvPr>
            <p:ph type="sldNum" idx="10"/>
          </p:nvPr>
        </p:nvSpPr>
        <p:spPr/>
        <p:txBody>
          <a:bodyPr/>
          <a:lstStyle/>
          <a:p>
            <a:fld id="{00000000-1234-1234-1234-123412341234}" type="slidenum">
              <a:rPr lang="en" smtClean="0"/>
              <a:pPr/>
              <a:t>‹#›</a:t>
            </a:fld>
            <a:endParaRPr lang="en" dirty="0"/>
          </a:p>
        </p:txBody>
      </p:sp>
      <p:sp>
        <p:nvSpPr>
          <p:cNvPr id="7" name="Chart Placeholder 6">
            <a:extLst>
              <a:ext uri="{FF2B5EF4-FFF2-40B4-BE49-F238E27FC236}">
                <a16:creationId xmlns:a16="http://schemas.microsoft.com/office/drawing/2014/main" id="{B0A86B0F-CA5C-ABF0-4D84-9C32C4271F29}"/>
              </a:ext>
            </a:extLst>
          </p:cNvPr>
          <p:cNvSpPr>
            <a:spLocks noGrp="1"/>
          </p:cNvSpPr>
          <p:nvPr>
            <p:ph type="chart" sz="quarter" idx="11"/>
          </p:nvPr>
        </p:nvSpPr>
        <p:spPr>
          <a:xfrm>
            <a:off x="403225" y="1549400"/>
            <a:ext cx="11360775" cy="3324225"/>
          </a:xfrm>
          <a:prstGeom prst="rect">
            <a:avLst/>
          </a:prstGeom>
        </p:spPr>
        <p:txBody>
          <a:bodyPr/>
          <a:lstStyle/>
          <a:p>
            <a:endParaRPr lang="en-IN"/>
          </a:p>
        </p:txBody>
      </p:sp>
      <p:sp>
        <p:nvSpPr>
          <p:cNvPr id="9" name="Text Placeholder 8">
            <a:extLst>
              <a:ext uri="{FF2B5EF4-FFF2-40B4-BE49-F238E27FC236}">
                <a16:creationId xmlns:a16="http://schemas.microsoft.com/office/drawing/2014/main" id="{3C043C36-7256-75D4-957E-8CFC72ED590F}"/>
              </a:ext>
            </a:extLst>
          </p:cNvPr>
          <p:cNvSpPr>
            <a:spLocks noGrp="1"/>
          </p:cNvSpPr>
          <p:nvPr>
            <p:ph type="body" sz="quarter" idx="12"/>
          </p:nvPr>
        </p:nvSpPr>
        <p:spPr>
          <a:xfrm>
            <a:off x="403225" y="5106988"/>
            <a:ext cx="11360150" cy="9429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8988141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ion_Charts_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C5BE8-79B3-0FBD-4EF2-DC834E806895}"/>
              </a:ext>
            </a:extLst>
          </p:cNvPr>
          <p:cNvSpPr>
            <a:spLocks noGrp="1"/>
          </p:cNvSpPr>
          <p:nvPr>
            <p:ph type="title"/>
          </p:nvPr>
        </p:nvSpPr>
        <p:spPr/>
        <p:txBody>
          <a:bodyPr/>
          <a:lstStyle/>
          <a:p>
            <a:r>
              <a:rPr lang="en-US"/>
              <a:t>Click to edit Master title style</a:t>
            </a:r>
            <a:endParaRPr lang="en-IN"/>
          </a:p>
        </p:txBody>
      </p:sp>
      <p:sp>
        <p:nvSpPr>
          <p:cNvPr id="3" name="Slide Number Placeholder 2">
            <a:extLst>
              <a:ext uri="{FF2B5EF4-FFF2-40B4-BE49-F238E27FC236}">
                <a16:creationId xmlns:a16="http://schemas.microsoft.com/office/drawing/2014/main" id="{1EDE572C-85AA-503D-DE55-C6B554000603}"/>
              </a:ext>
            </a:extLst>
          </p:cNvPr>
          <p:cNvSpPr>
            <a:spLocks noGrp="1"/>
          </p:cNvSpPr>
          <p:nvPr>
            <p:ph type="sldNum" idx="10"/>
          </p:nvPr>
        </p:nvSpPr>
        <p:spPr/>
        <p:txBody>
          <a:bodyPr/>
          <a:lstStyle/>
          <a:p>
            <a:fld id="{00000000-1234-1234-1234-123412341234}" type="slidenum">
              <a:rPr lang="en" smtClean="0"/>
              <a:pPr/>
              <a:t>‹#›</a:t>
            </a:fld>
            <a:endParaRPr lang="en" dirty="0"/>
          </a:p>
        </p:txBody>
      </p:sp>
      <p:sp>
        <p:nvSpPr>
          <p:cNvPr id="5" name="Picture Placeholder 4">
            <a:extLst>
              <a:ext uri="{FF2B5EF4-FFF2-40B4-BE49-F238E27FC236}">
                <a16:creationId xmlns:a16="http://schemas.microsoft.com/office/drawing/2014/main" id="{1FF4509F-07A0-1C5B-0761-81A488C8F89A}"/>
              </a:ext>
            </a:extLst>
          </p:cNvPr>
          <p:cNvSpPr>
            <a:spLocks noGrp="1"/>
          </p:cNvSpPr>
          <p:nvPr>
            <p:ph type="pic" sz="quarter" idx="11"/>
          </p:nvPr>
        </p:nvSpPr>
        <p:spPr>
          <a:xfrm>
            <a:off x="403225" y="1506538"/>
            <a:ext cx="5535757" cy="3441700"/>
          </a:xfrm>
          <a:prstGeom prst="rect">
            <a:avLst/>
          </a:prstGeom>
        </p:spPr>
        <p:txBody>
          <a:bodyPr/>
          <a:lstStyle/>
          <a:p>
            <a:endParaRPr lang="en-IN"/>
          </a:p>
        </p:txBody>
      </p:sp>
      <p:sp>
        <p:nvSpPr>
          <p:cNvPr id="7" name="Picture Placeholder 6">
            <a:extLst>
              <a:ext uri="{FF2B5EF4-FFF2-40B4-BE49-F238E27FC236}">
                <a16:creationId xmlns:a16="http://schemas.microsoft.com/office/drawing/2014/main" id="{4350C9DE-2053-2A1D-D18C-FE16516F74B7}"/>
              </a:ext>
            </a:extLst>
          </p:cNvPr>
          <p:cNvSpPr>
            <a:spLocks noGrp="1"/>
          </p:cNvSpPr>
          <p:nvPr>
            <p:ph type="pic" sz="quarter" idx="12"/>
          </p:nvPr>
        </p:nvSpPr>
        <p:spPr>
          <a:xfrm>
            <a:off x="6289675" y="1506538"/>
            <a:ext cx="5499100" cy="3441700"/>
          </a:xfrm>
          <a:prstGeom prst="rect">
            <a:avLst/>
          </a:prstGeom>
        </p:spPr>
        <p:txBody>
          <a:bodyPr/>
          <a:lstStyle/>
          <a:p>
            <a:endParaRPr lang="en-IN"/>
          </a:p>
        </p:txBody>
      </p:sp>
      <p:sp>
        <p:nvSpPr>
          <p:cNvPr id="9" name="Text Placeholder 8">
            <a:extLst>
              <a:ext uri="{FF2B5EF4-FFF2-40B4-BE49-F238E27FC236}">
                <a16:creationId xmlns:a16="http://schemas.microsoft.com/office/drawing/2014/main" id="{E90BC090-F418-22CB-713A-343C08C398FF}"/>
              </a:ext>
            </a:extLst>
          </p:cNvPr>
          <p:cNvSpPr>
            <a:spLocks noGrp="1"/>
          </p:cNvSpPr>
          <p:nvPr>
            <p:ph type="body" sz="quarter" idx="13"/>
          </p:nvPr>
        </p:nvSpPr>
        <p:spPr>
          <a:xfrm>
            <a:off x="403225" y="5227638"/>
            <a:ext cx="11360150" cy="8778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6127345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Content" userDrawn="1">
  <p:cSld name="Title and Content">
    <p:spTree>
      <p:nvGrpSpPr>
        <p:cNvPr id="1" name="Shape 91"/>
        <p:cNvGrpSpPr/>
        <p:nvPr/>
      </p:nvGrpSpPr>
      <p:grpSpPr>
        <a:xfrm>
          <a:off x="0" y="0"/>
          <a:ext cx="0" cy="0"/>
          <a:chOff x="0" y="0"/>
          <a:chExt cx="0" cy="0"/>
        </a:xfrm>
      </p:grpSpPr>
      <p:sp>
        <p:nvSpPr>
          <p:cNvPr id="93" name="Google Shape;93;p15"/>
          <p:cNvSpPr txBox="1">
            <a:spLocks noGrp="1"/>
          </p:cNvSpPr>
          <p:nvPr>
            <p:ph type="body" idx="1"/>
          </p:nvPr>
        </p:nvSpPr>
        <p:spPr>
          <a:xfrm>
            <a:off x="838200" y="2023409"/>
            <a:ext cx="10515600" cy="3955636"/>
          </a:xfrm>
          <a:prstGeom prst="rect">
            <a:avLst/>
          </a:prstGeom>
          <a:noFill/>
          <a:ln>
            <a:noFill/>
          </a:ln>
        </p:spPr>
        <p:txBody>
          <a:bodyPr spcFirstLastPara="1" wrap="square" lIns="68575" tIns="34275" rIns="68575" bIns="34275" anchor="t" anchorCtr="0">
            <a:normAutofit/>
          </a:bodyPr>
          <a:lstStyle>
            <a:lvl1pPr marL="609585" lvl="0" indent="-423323" algn="l" rtl="0">
              <a:lnSpc>
                <a:spcPct val="90000"/>
              </a:lnSpc>
              <a:spcBef>
                <a:spcPts val="1067"/>
              </a:spcBef>
              <a:spcAft>
                <a:spcPts val="0"/>
              </a:spcAft>
              <a:buClr>
                <a:schemeClr val="dk1"/>
              </a:buClr>
              <a:buSzPts val="1400"/>
              <a:buChar char="•"/>
              <a:defRPr>
                <a:latin typeface="Calibri" panose="020F0502020204030204" pitchFamily="34" charset="0"/>
                <a:cs typeface="Calibri" panose="020F0502020204030204" pitchFamily="34" charset="0"/>
              </a:defRPr>
            </a:lvl1pPr>
            <a:lvl2pPr marL="1219170" lvl="1" indent="-423323" algn="l" rtl="0">
              <a:lnSpc>
                <a:spcPct val="90000"/>
              </a:lnSpc>
              <a:spcBef>
                <a:spcPts val="533"/>
              </a:spcBef>
              <a:spcAft>
                <a:spcPts val="0"/>
              </a:spcAft>
              <a:buClr>
                <a:schemeClr val="dk1"/>
              </a:buClr>
              <a:buSzPts val="1400"/>
              <a:buChar char="•"/>
              <a:defRPr/>
            </a:lvl2pPr>
            <a:lvl3pPr marL="1828754" lvl="2" indent="-423323" algn="l" rtl="0">
              <a:lnSpc>
                <a:spcPct val="90000"/>
              </a:lnSpc>
              <a:spcBef>
                <a:spcPts val="533"/>
              </a:spcBef>
              <a:spcAft>
                <a:spcPts val="0"/>
              </a:spcAft>
              <a:buClr>
                <a:schemeClr val="dk1"/>
              </a:buClr>
              <a:buSzPts val="1400"/>
              <a:buChar char="•"/>
              <a:defRPr/>
            </a:lvl3pPr>
            <a:lvl4pPr marL="2438339" lvl="3" indent="-423323" algn="l" rtl="0">
              <a:lnSpc>
                <a:spcPct val="90000"/>
              </a:lnSpc>
              <a:spcBef>
                <a:spcPts val="533"/>
              </a:spcBef>
              <a:spcAft>
                <a:spcPts val="0"/>
              </a:spcAft>
              <a:buClr>
                <a:schemeClr val="dk1"/>
              </a:buClr>
              <a:buSzPts val="1400"/>
              <a:buChar char="•"/>
              <a:defRPr/>
            </a:lvl4pPr>
            <a:lvl5pPr marL="3047924" lvl="4" indent="-423323" algn="l" rtl="0">
              <a:lnSpc>
                <a:spcPct val="90000"/>
              </a:lnSpc>
              <a:spcBef>
                <a:spcPts val="533"/>
              </a:spcBef>
              <a:spcAft>
                <a:spcPts val="0"/>
              </a:spcAft>
              <a:buClr>
                <a:schemeClr val="dk1"/>
              </a:buClr>
              <a:buSzPts val="1400"/>
              <a:buChar char="•"/>
              <a:defRPr/>
            </a:lvl5pPr>
            <a:lvl6pPr marL="3657509" lvl="5" indent="-423323" algn="l" rtl="0">
              <a:lnSpc>
                <a:spcPct val="90000"/>
              </a:lnSpc>
              <a:spcBef>
                <a:spcPts val="533"/>
              </a:spcBef>
              <a:spcAft>
                <a:spcPts val="0"/>
              </a:spcAft>
              <a:buClr>
                <a:schemeClr val="dk1"/>
              </a:buClr>
              <a:buSzPts val="1400"/>
              <a:buChar char="•"/>
              <a:defRPr/>
            </a:lvl6pPr>
            <a:lvl7pPr marL="4267093" lvl="6" indent="-423323" algn="l" rtl="0">
              <a:lnSpc>
                <a:spcPct val="90000"/>
              </a:lnSpc>
              <a:spcBef>
                <a:spcPts val="533"/>
              </a:spcBef>
              <a:spcAft>
                <a:spcPts val="0"/>
              </a:spcAft>
              <a:buClr>
                <a:schemeClr val="dk1"/>
              </a:buClr>
              <a:buSzPts val="1400"/>
              <a:buChar char="•"/>
              <a:defRPr/>
            </a:lvl7pPr>
            <a:lvl8pPr marL="4876678" lvl="7" indent="-423323" algn="l" rtl="0">
              <a:lnSpc>
                <a:spcPct val="90000"/>
              </a:lnSpc>
              <a:spcBef>
                <a:spcPts val="533"/>
              </a:spcBef>
              <a:spcAft>
                <a:spcPts val="0"/>
              </a:spcAft>
              <a:buClr>
                <a:schemeClr val="dk1"/>
              </a:buClr>
              <a:buSzPts val="1400"/>
              <a:buChar char="•"/>
              <a:defRPr/>
            </a:lvl8pPr>
            <a:lvl9pPr marL="5486263" lvl="8" indent="-423323" algn="l" rtl="0">
              <a:lnSpc>
                <a:spcPct val="90000"/>
              </a:lnSpc>
              <a:spcBef>
                <a:spcPts val="533"/>
              </a:spcBef>
              <a:spcAft>
                <a:spcPts val="0"/>
              </a:spcAft>
              <a:buClr>
                <a:schemeClr val="dk1"/>
              </a:buClr>
              <a:buSzPts val="1400"/>
              <a:buChar char="•"/>
              <a:defRPr/>
            </a:lvl9pPr>
          </a:lstStyle>
          <a:p>
            <a:endParaRPr dirty="0"/>
          </a:p>
        </p:txBody>
      </p:sp>
      <p:sp>
        <p:nvSpPr>
          <p:cNvPr id="4" name="Google Shape;45;p7">
            <a:extLst>
              <a:ext uri="{FF2B5EF4-FFF2-40B4-BE49-F238E27FC236}">
                <a16:creationId xmlns:a16="http://schemas.microsoft.com/office/drawing/2014/main" id="{EB44CB0A-F4B1-A402-3759-2C3528AB8E4F}"/>
              </a:ext>
            </a:extLst>
          </p:cNvPr>
          <p:cNvSpPr txBox="1">
            <a:spLocks noGrp="1"/>
          </p:cNvSpPr>
          <p:nvPr>
            <p:ph type="title"/>
          </p:nvPr>
        </p:nvSpPr>
        <p:spPr>
          <a:xfrm>
            <a:off x="403197" y="0"/>
            <a:ext cx="10675200" cy="11376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933">
                <a:solidFill>
                  <a:schemeClr val="tx1"/>
                </a:solidFill>
                <a:latin typeface="Raleway" pitchFamily="2" charset="0"/>
              </a:defRPr>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dirty="0"/>
          </a:p>
        </p:txBody>
      </p:sp>
      <p:sp>
        <p:nvSpPr>
          <p:cNvPr id="9" name="Slide Number Placeholder 5">
            <a:extLst>
              <a:ext uri="{FF2B5EF4-FFF2-40B4-BE49-F238E27FC236}">
                <a16:creationId xmlns:a16="http://schemas.microsoft.com/office/drawing/2014/main" id="{876617F3-2402-6614-1A74-28C7B4C54B24}"/>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cs typeface="Calibri" panose="020F0502020204030204" pitchFamily="34"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29325846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6E896A-68C9-7523-8C07-666BD0EFBA84}"/>
              </a:ext>
            </a:extLst>
          </p:cNvPr>
          <p:cNvSpPr>
            <a:spLocks noGrp="1"/>
          </p:cNvSpPr>
          <p:nvPr>
            <p:ph idx="1"/>
          </p:nvPr>
        </p:nvSpPr>
        <p:spPr>
          <a:xfrm>
            <a:off x="415600" y="2602499"/>
            <a:ext cx="11360800" cy="3153216"/>
          </a:xfrm>
          <a:prstGeom prst="rect">
            <a:avLst/>
          </a:prstGeom>
        </p:spPr>
        <p:txBody>
          <a:bodyPr/>
          <a:lstStyle>
            <a:lvl1pPr>
              <a:defRPr>
                <a:latin typeface="Calibri" panose="020F0502020204030204" pitchFamily="34" charset="0"/>
                <a:cs typeface="Calibri" panose="020F0502020204030204" pitchFamily="34" charset="0"/>
              </a:defRPr>
            </a:lvl1pPr>
            <a:lvl2pPr>
              <a:defRPr>
                <a:latin typeface="Raleway" pitchFamily="2" charset="0"/>
              </a:defRPr>
            </a:lvl2pPr>
            <a:lvl3pPr>
              <a:defRPr>
                <a:latin typeface="Raleway" pitchFamily="2" charset="0"/>
              </a:defRPr>
            </a:lvl3pPr>
            <a:lvl4pPr>
              <a:defRPr>
                <a:latin typeface="Raleway" pitchFamily="2" charset="0"/>
              </a:defRPr>
            </a:lvl4pPr>
            <a:lvl5pPr>
              <a:defRPr>
                <a:latin typeface="Raleway"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 name="Google Shape;45;p7">
            <a:extLst>
              <a:ext uri="{FF2B5EF4-FFF2-40B4-BE49-F238E27FC236}">
                <a16:creationId xmlns:a16="http://schemas.microsoft.com/office/drawing/2014/main" id="{2B1567C0-4287-5016-773D-60FC6944785E}"/>
              </a:ext>
            </a:extLst>
          </p:cNvPr>
          <p:cNvSpPr txBox="1">
            <a:spLocks noGrp="1"/>
          </p:cNvSpPr>
          <p:nvPr>
            <p:ph type="title"/>
          </p:nvPr>
        </p:nvSpPr>
        <p:spPr>
          <a:xfrm>
            <a:off x="403197" y="0"/>
            <a:ext cx="10675200" cy="11376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933">
                <a:solidFill>
                  <a:schemeClr val="tx1"/>
                </a:solidFill>
                <a:latin typeface="Raleway" pitchFamily="2" charset="0"/>
              </a:defRPr>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dirty="0"/>
          </a:p>
        </p:txBody>
      </p:sp>
      <p:sp>
        <p:nvSpPr>
          <p:cNvPr id="12" name="Slide Number Placeholder 5">
            <a:extLst>
              <a:ext uri="{FF2B5EF4-FFF2-40B4-BE49-F238E27FC236}">
                <a16:creationId xmlns:a16="http://schemas.microsoft.com/office/drawing/2014/main" id="{54CBDA10-C463-8A5E-0969-8CFE1D30C617}"/>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cs typeface="Calibri" panose="020F0502020204030204" pitchFamily="34"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34164840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wo columns 1" userDrawn="1">
  <p:cSld name="Title and two columns 1">
    <p:spTree>
      <p:nvGrpSpPr>
        <p:cNvPr id="1" name="Shape 76"/>
        <p:cNvGrpSpPr/>
        <p:nvPr/>
      </p:nvGrpSpPr>
      <p:grpSpPr>
        <a:xfrm>
          <a:off x="0" y="0"/>
          <a:ext cx="0" cy="0"/>
          <a:chOff x="0" y="0"/>
          <a:chExt cx="0" cy="0"/>
        </a:xfrm>
      </p:grpSpPr>
      <p:sp>
        <p:nvSpPr>
          <p:cNvPr id="77" name="Google Shape;77;p13"/>
          <p:cNvSpPr txBox="1">
            <a:spLocks noGrp="1"/>
          </p:cNvSpPr>
          <p:nvPr>
            <p:ph type="subTitle" idx="1"/>
          </p:nvPr>
        </p:nvSpPr>
        <p:spPr>
          <a:xfrm>
            <a:off x="1802727" y="3860800"/>
            <a:ext cx="3646280" cy="495200"/>
          </a:xfrm>
          <a:prstGeom prst="rect">
            <a:avLst/>
          </a:prstGeom>
        </p:spPr>
        <p:txBody>
          <a:bodyPr spcFirstLastPara="1" wrap="square" lIns="91425" tIns="91425" rIns="91425" bIns="91425" anchor="ctr" anchorCtr="0">
            <a:normAutofit/>
          </a:bodyPr>
          <a:lstStyle>
            <a:lvl1pPr lvl="0" algn="ctr" rtl="0">
              <a:lnSpc>
                <a:spcPct val="100000"/>
              </a:lnSpc>
              <a:spcBef>
                <a:spcPts val="0"/>
              </a:spcBef>
              <a:spcAft>
                <a:spcPts val="0"/>
              </a:spcAft>
              <a:buNone/>
              <a:defRPr b="1">
                <a:latin typeface="Calibri" panose="020F0502020204030204" pitchFamily="34" charset="0"/>
                <a:cs typeface="Calibri" panose="020F0502020204030204" pitchFamily="34" charset="0"/>
              </a:defRPr>
            </a:lvl1pPr>
            <a:lvl2pPr lvl="1" rtl="0">
              <a:lnSpc>
                <a:spcPct val="100000"/>
              </a:lnSpc>
              <a:spcBef>
                <a:spcPts val="1600"/>
              </a:spcBef>
              <a:spcAft>
                <a:spcPts val="0"/>
              </a:spcAft>
              <a:buNone/>
              <a:defRPr b="1"/>
            </a:lvl2pPr>
            <a:lvl3pPr lvl="2" rtl="0">
              <a:lnSpc>
                <a:spcPct val="100000"/>
              </a:lnSpc>
              <a:spcBef>
                <a:spcPts val="1600"/>
              </a:spcBef>
              <a:spcAft>
                <a:spcPts val="0"/>
              </a:spcAft>
              <a:buNone/>
              <a:defRPr b="1"/>
            </a:lvl3pPr>
            <a:lvl4pPr lvl="3" rtl="0">
              <a:lnSpc>
                <a:spcPct val="100000"/>
              </a:lnSpc>
              <a:spcBef>
                <a:spcPts val="1600"/>
              </a:spcBef>
              <a:spcAft>
                <a:spcPts val="0"/>
              </a:spcAft>
              <a:buNone/>
              <a:defRPr b="1"/>
            </a:lvl4pPr>
            <a:lvl5pPr lvl="4" rtl="0">
              <a:lnSpc>
                <a:spcPct val="100000"/>
              </a:lnSpc>
              <a:spcBef>
                <a:spcPts val="1600"/>
              </a:spcBef>
              <a:spcAft>
                <a:spcPts val="0"/>
              </a:spcAft>
              <a:buNone/>
              <a:defRPr b="1"/>
            </a:lvl5pPr>
            <a:lvl6pPr lvl="5" rtl="0">
              <a:lnSpc>
                <a:spcPct val="100000"/>
              </a:lnSpc>
              <a:spcBef>
                <a:spcPts val="1600"/>
              </a:spcBef>
              <a:spcAft>
                <a:spcPts val="0"/>
              </a:spcAft>
              <a:buNone/>
              <a:defRPr b="1"/>
            </a:lvl6pPr>
            <a:lvl7pPr lvl="6" rtl="0">
              <a:lnSpc>
                <a:spcPct val="100000"/>
              </a:lnSpc>
              <a:spcBef>
                <a:spcPts val="1600"/>
              </a:spcBef>
              <a:spcAft>
                <a:spcPts val="0"/>
              </a:spcAft>
              <a:buNone/>
              <a:defRPr b="1"/>
            </a:lvl7pPr>
            <a:lvl8pPr lvl="7" rtl="0">
              <a:lnSpc>
                <a:spcPct val="100000"/>
              </a:lnSpc>
              <a:spcBef>
                <a:spcPts val="1600"/>
              </a:spcBef>
              <a:spcAft>
                <a:spcPts val="0"/>
              </a:spcAft>
              <a:buNone/>
              <a:defRPr b="1"/>
            </a:lvl8pPr>
            <a:lvl9pPr lvl="8" rtl="0">
              <a:lnSpc>
                <a:spcPct val="100000"/>
              </a:lnSpc>
              <a:spcBef>
                <a:spcPts val="1600"/>
              </a:spcBef>
              <a:spcAft>
                <a:spcPts val="1600"/>
              </a:spcAft>
              <a:buNone/>
              <a:defRPr b="1"/>
            </a:lvl9pPr>
          </a:lstStyle>
          <a:p>
            <a:endParaRPr dirty="0"/>
          </a:p>
        </p:txBody>
      </p:sp>
      <p:sp>
        <p:nvSpPr>
          <p:cNvPr id="78" name="Google Shape;78;p13"/>
          <p:cNvSpPr txBox="1">
            <a:spLocks noGrp="1"/>
          </p:cNvSpPr>
          <p:nvPr>
            <p:ph type="subTitle" idx="2"/>
          </p:nvPr>
        </p:nvSpPr>
        <p:spPr>
          <a:xfrm>
            <a:off x="1802727" y="4362700"/>
            <a:ext cx="3646280" cy="12788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None/>
              <a:defRPr sz="1867">
                <a:latin typeface="Calibri" panose="020F0502020204030204" pitchFamily="34" charset="0"/>
                <a:cs typeface="Calibri" panose="020F0502020204030204" pitchFamily="34" charset="0"/>
              </a:defRPr>
            </a:lvl1pPr>
            <a:lvl2pPr lvl="1" rtl="0">
              <a:lnSpc>
                <a:spcPct val="100000"/>
              </a:lnSpc>
              <a:spcBef>
                <a:spcPts val="1600"/>
              </a:spcBef>
              <a:spcAft>
                <a:spcPts val="0"/>
              </a:spcAft>
              <a:buNone/>
              <a:defRPr sz="1867"/>
            </a:lvl2pPr>
            <a:lvl3pPr lvl="2" rtl="0">
              <a:lnSpc>
                <a:spcPct val="100000"/>
              </a:lnSpc>
              <a:spcBef>
                <a:spcPts val="1600"/>
              </a:spcBef>
              <a:spcAft>
                <a:spcPts val="0"/>
              </a:spcAft>
              <a:buNone/>
              <a:defRPr sz="1867"/>
            </a:lvl3pPr>
            <a:lvl4pPr lvl="3" rtl="0">
              <a:lnSpc>
                <a:spcPct val="100000"/>
              </a:lnSpc>
              <a:spcBef>
                <a:spcPts val="1600"/>
              </a:spcBef>
              <a:spcAft>
                <a:spcPts val="0"/>
              </a:spcAft>
              <a:buNone/>
              <a:defRPr sz="1867"/>
            </a:lvl4pPr>
            <a:lvl5pPr lvl="4" rtl="0">
              <a:lnSpc>
                <a:spcPct val="100000"/>
              </a:lnSpc>
              <a:spcBef>
                <a:spcPts val="1600"/>
              </a:spcBef>
              <a:spcAft>
                <a:spcPts val="0"/>
              </a:spcAft>
              <a:buNone/>
              <a:defRPr sz="1867"/>
            </a:lvl5pPr>
            <a:lvl6pPr lvl="5" rtl="0">
              <a:lnSpc>
                <a:spcPct val="100000"/>
              </a:lnSpc>
              <a:spcBef>
                <a:spcPts val="1600"/>
              </a:spcBef>
              <a:spcAft>
                <a:spcPts val="0"/>
              </a:spcAft>
              <a:buNone/>
              <a:defRPr sz="1867"/>
            </a:lvl6pPr>
            <a:lvl7pPr lvl="6" rtl="0">
              <a:lnSpc>
                <a:spcPct val="100000"/>
              </a:lnSpc>
              <a:spcBef>
                <a:spcPts val="1600"/>
              </a:spcBef>
              <a:spcAft>
                <a:spcPts val="0"/>
              </a:spcAft>
              <a:buNone/>
              <a:defRPr sz="1867"/>
            </a:lvl7pPr>
            <a:lvl8pPr lvl="7" rtl="0">
              <a:lnSpc>
                <a:spcPct val="100000"/>
              </a:lnSpc>
              <a:spcBef>
                <a:spcPts val="1600"/>
              </a:spcBef>
              <a:spcAft>
                <a:spcPts val="0"/>
              </a:spcAft>
              <a:buNone/>
              <a:defRPr sz="1867"/>
            </a:lvl8pPr>
            <a:lvl9pPr lvl="8" rtl="0">
              <a:lnSpc>
                <a:spcPct val="100000"/>
              </a:lnSpc>
              <a:spcBef>
                <a:spcPts val="1600"/>
              </a:spcBef>
              <a:spcAft>
                <a:spcPts val="1600"/>
              </a:spcAft>
              <a:buNone/>
              <a:defRPr sz="1867"/>
            </a:lvl9pPr>
          </a:lstStyle>
          <a:p>
            <a:endParaRPr dirty="0"/>
          </a:p>
        </p:txBody>
      </p:sp>
      <p:sp>
        <p:nvSpPr>
          <p:cNvPr id="79" name="Google Shape;79;p13"/>
          <p:cNvSpPr txBox="1">
            <a:spLocks noGrp="1"/>
          </p:cNvSpPr>
          <p:nvPr>
            <p:ph type="subTitle" idx="3"/>
          </p:nvPr>
        </p:nvSpPr>
        <p:spPr>
          <a:xfrm>
            <a:off x="6743027" y="3860800"/>
            <a:ext cx="3646280" cy="495200"/>
          </a:xfrm>
          <a:prstGeom prst="rect">
            <a:avLst/>
          </a:prstGeom>
        </p:spPr>
        <p:txBody>
          <a:bodyPr spcFirstLastPara="1" wrap="square" lIns="91425" tIns="91425" rIns="91425" bIns="91425" anchor="ctr" anchorCtr="0">
            <a:normAutofit/>
          </a:bodyPr>
          <a:lstStyle>
            <a:lvl1pPr lvl="0" algn="ctr" rtl="0">
              <a:lnSpc>
                <a:spcPct val="100000"/>
              </a:lnSpc>
              <a:spcBef>
                <a:spcPts val="0"/>
              </a:spcBef>
              <a:spcAft>
                <a:spcPts val="0"/>
              </a:spcAft>
              <a:buNone/>
              <a:defRPr b="1">
                <a:latin typeface="Calibri" panose="020F0502020204030204" pitchFamily="34" charset="0"/>
                <a:cs typeface="Calibri" panose="020F0502020204030204" pitchFamily="34" charset="0"/>
              </a:defRPr>
            </a:lvl1pPr>
            <a:lvl2pPr lvl="1" rtl="0">
              <a:lnSpc>
                <a:spcPct val="100000"/>
              </a:lnSpc>
              <a:spcBef>
                <a:spcPts val="1600"/>
              </a:spcBef>
              <a:spcAft>
                <a:spcPts val="0"/>
              </a:spcAft>
              <a:buNone/>
              <a:defRPr b="1"/>
            </a:lvl2pPr>
            <a:lvl3pPr lvl="2" rtl="0">
              <a:lnSpc>
                <a:spcPct val="100000"/>
              </a:lnSpc>
              <a:spcBef>
                <a:spcPts val="1600"/>
              </a:spcBef>
              <a:spcAft>
                <a:spcPts val="0"/>
              </a:spcAft>
              <a:buNone/>
              <a:defRPr b="1"/>
            </a:lvl3pPr>
            <a:lvl4pPr lvl="3" rtl="0">
              <a:lnSpc>
                <a:spcPct val="100000"/>
              </a:lnSpc>
              <a:spcBef>
                <a:spcPts val="1600"/>
              </a:spcBef>
              <a:spcAft>
                <a:spcPts val="0"/>
              </a:spcAft>
              <a:buNone/>
              <a:defRPr b="1"/>
            </a:lvl4pPr>
            <a:lvl5pPr lvl="4" rtl="0">
              <a:lnSpc>
                <a:spcPct val="100000"/>
              </a:lnSpc>
              <a:spcBef>
                <a:spcPts val="1600"/>
              </a:spcBef>
              <a:spcAft>
                <a:spcPts val="0"/>
              </a:spcAft>
              <a:buNone/>
              <a:defRPr b="1"/>
            </a:lvl5pPr>
            <a:lvl6pPr lvl="5" rtl="0">
              <a:lnSpc>
                <a:spcPct val="100000"/>
              </a:lnSpc>
              <a:spcBef>
                <a:spcPts val="1600"/>
              </a:spcBef>
              <a:spcAft>
                <a:spcPts val="0"/>
              </a:spcAft>
              <a:buNone/>
              <a:defRPr b="1"/>
            </a:lvl6pPr>
            <a:lvl7pPr lvl="6" rtl="0">
              <a:lnSpc>
                <a:spcPct val="100000"/>
              </a:lnSpc>
              <a:spcBef>
                <a:spcPts val="1600"/>
              </a:spcBef>
              <a:spcAft>
                <a:spcPts val="0"/>
              </a:spcAft>
              <a:buNone/>
              <a:defRPr b="1"/>
            </a:lvl7pPr>
            <a:lvl8pPr lvl="7" rtl="0">
              <a:lnSpc>
                <a:spcPct val="100000"/>
              </a:lnSpc>
              <a:spcBef>
                <a:spcPts val="1600"/>
              </a:spcBef>
              <a:spcAft>
                <a:spcPts val="0"/>
              </a:spcAft>
              <a:buNone/>
              <a:defRPr b="1"/>
            </a:lvl8pPr>
            <a:lvl9pPr lvl="8" rtl="0">
              <a:lnSpc>
                <a:spcPct val="100000"/>
              </a:lnSpc>
              <a:spcBef>
                <a:spcPts val="1600"/>
              </a:spcBef>
              <a:spcAft>
                <a:spcPts val="1600"/>
              </a:spcAft>
              <a:buNone/>
              <a:defRPr b="1"/>
            </a:lvl9pPr>
          </a:lstStyle>
          <a:p>
            <a:endParaRPr dirty="0"/>
          </a:p>
        </p:txBody>
      </p:sp>
      <p:sp>
        <p:nvSpPr>
          <p:cNvPr id="80" name="Google Shape;80;p13"/>
          <p:cNvSpPr txBox="1">
            <a:spLocks noGrp="1"/>
          </p:cNvSpPr>
          <p:nvPr>
            <p:ph type="subTitle" idx="4"/>
          </p:nvPr>
        </p:nvSpPr>
        <p:spPr>
          <a:xfrm>
            <a:off x="6743027" y="4362700"/>
            <a:ext cx="3646280" cy="12788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None/>
              <a:defRPr sz="1867">
                <a:latin typeface="Calibri" panose="020F0502020204030204" pitchFamily="34" charset="0"/>
                <a:cs typeface="Calibri" panose="020F0502020204030204" pitchFamily="34" charset="0"/>
              </a:defRPr>
            </a:lvl1pPr>
            <a:lvl2pPr lvl="1" rtl="0">
              <a:lnSpc>
                <a:spcPct val="100000"/>
              </a:lnSpc>
              <a:spcBef>
                <a:spcPts val="1600"/>
              </a:spcBef>
              <a:spcAft>
                <a:spcPts val="0"/>
              </a:spcAft>
              <a:buNone/>
              <a:defRPr sz="1867"/>
            </a:lvl2pPr>
            <a:lvl3pPr lvl="2" rtl="0">
              <a:lnSpc>
                <a:spcPct val="100000"/>
              </a:lnSpc>
              <a:spcBef>
                <a:spcPts val="1600"/>
              </a:spcBef>
              <a:spcAft>
                <a:spcPts val="0"/>
              </a:spcAft>
              <a:buNone/>
              <a:defRPr sz="1867"/>
            </a:lvl3pPr>
            <a:lvl4pPr lvl="3" rtl="0">
              <a:lnSpc>
                <a:spcPct val="100000"/>
              </a:lnSpc>
              <a:spcBef>
                <a:spcPts val="1600"/>
              </a:spcBef>
              <a:spcAft>
                <a:spcPts val="0"/>
              </a:spcAft>
              <a:buNone/>
              <a:defRPr sz="1867"/>
            </a:lvl4pPr>
            <a:lvl5pPr lvl="4" rtl="0">
              <a:lnSpc>
                <a:spcPct val="100000"/>
              </a:lnSpc>
              <a:spcBef>
                <a:spcPts val="1600"/>
              </a:spcBef>
              <a:spcAft>
                <a:spcPts val="0"/>
              </a:spcAft>
              <a:buNone/>
              <a:defRPr sz="1867"/>
            </a:lvl5pPr>
            <a:lvl6pPr lvl="5" rtl="0">
              <a:lnSpc>
                <a:spcPct val="100000"/>
              </a:lnSpc>
              <a:spcBef>
                <a:spcPts val="1600"/>
              </a:spcBef>
              <a:spcAft>
                <a:spcPts val="0"/>
              </a:spcAft>
              <a:buNone/>
              <a:defRPr sz="1867"/>
            </a:lvl6pPr>
            <a:lvl7pPr lvl="6" rtl="0">
              <a:lnSpc>
                <a:spcPct val="100000"/>
              </a:lnSpc>
              <a:spcBef>
                <a:spcPts val="1600"/>
              </a:spcBef>
              <a:spcAft>
                <a:spcPts val="0"/>
              </a:spcAft>
              <a:buNone/>
              <a:defRPr sz="1867"/>
            </a:lvl7pPr>
            <a:lvl8pPr lvl="7" rtl="0">
              <a:lnSpc>
                <a:spcPct val="100000"/>
              </a:lnSpc>
              <a:spcBef>
                <a:spcPts val="1600"/>
              </a:spcBef>
              <a:spcAft>
                <a:spcPts val="0"/>
              </a:spcAft>
              <a:buNone/>
              <a:defRPr sz="1867"/>
            </a:lvl8pPr>
            <a:lvl9pPr lvl="8" rtl="0">
              <a:lnSpc>
                <a:spcPct val="100000"/>
              </a:lnSpc>
              <a:spcBef>
                <a:spcPts val="1600"/>
              </a:spcBef>
              <a:spcAft>
                <a:spcPts val="1600"/>
              </a:spcAft>
              <a:buNone/>
              <a:defRPr sz="1867"/>
            </a:lvl9pPr>
          </a:lstStyle>
          <a:p>
            <a:endParaRPr/>
          </a:p>
        </p:txBody>
      </p:sp>
      <p:sp>
        <p:nvSpPr>
          <p:cNvPr id="3" name="Google Shape;45;p7">
            <a:extLst>
              <a:ext uri="{FF2B5EF4-FFF2-40B4-BE49-F238E27FC236}">
                <a16:creationId xmlns:a16="http://schemas.microsoft.com/office/drawing/2014/main" id="{D0B48D13-027A-4AFE-4CD9-AAE135E2BABD}"/>
              </a:ext>
            </a:extLst>
          </p:cNvPr>
          <p:cNvSpPr txBox="1">
            <a:spLocks noGrp="1"/>
          </p:cNvSpPr>
          <p:nvPr>
            <p:ph type="title"/>
          </p:nvPr>
        </p:nvSpPr>
        <p:spPr>
          <a:xfrm>
            <a:off x="403199" y="115200"/>
            <a:ext cx="10550999" cy="10076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3200">
                <a:solidFill>
                  <a:schemeClr val="tx1"/>
                </a:solidFill>
                <a:latin typeface="Raleway" pitchFamily="2" charset="0"/>
              </a:defRPr>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dirty="0"/>
          </a:p>
        </p:txBody>
      </p:sp>
      <p:sp>
        <p:nvSpPr>
          <p:cNvPr id="9" name="Slide Number Placeholder 5">
            <a:extLst>
              <a:ext uri="{FF2B5EF4-FFF2-40B4-BE49-F238E27FC236}">
                <a16:creationId xmlns:a16="http://schemas.microsoft.com/office/drawing/2014/main" id="{9432BB4C-0FFD-F107-637F-62075DD566B0}"/>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cs typeface="Calibri" panose="020F0502020204030204" pitchFamily="34"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12650855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66"/>
        <p:cNvGrpSpPr/>
        <p:nvPr/>
      </p:nvGrpSpPr>
      <p:grpSpPr>
        <a:xfrm>
          <a:off x="0" y="0"/>
          <a:ext cx="0" cy="0"/>
          <a:chOff x="0" y="0"/>
          <a:chExt cx="0" cy="0"/>
        </a:xfrm>
      </p:grpSpPr>
      <p:sp>
        <p:nvSpPr>
          <p:cNvPr id="67" name="Google Shape;67;p11"/>
          <p:cNvSpPr txBox="1">
            <a:spLocks noGrp="1"/>
          </p:cNvSpPr>
          <p:nvPr>
            <p:ph type="title" hasCustomPrompt="1"/>
          </p:nvPr>
        </p:nvSpPr>
        <p:spPr>
          <a:xfrm>
            <a:off x="415600" y="2236481"/>
            <a:ext cx="11360800" cy="20512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accent3"/>
              </a:buClr>
              <a:buSzPts val="13000"/>
              <a:buNone/>
              <a:defRPr sz="17333">
                <a:solidFill>
                  <a:schemeClr val="accent3"/>
                </a:solidFill>
                <a:latin typeface="Calibri" panose="020F0502020204030204" pitchFamily="34" charset="0"/>
                <a:cs typeface="Calibri" panose="020F0502020204030204" pitchFamily="34" charset="0"/>
              </a:defRPr>
            </a:lvl1pPr>
            <a:lvl2pPr lvl="1" algn="ctr">
              <a:spcBef>
                <a:spcPts val="0"/>
              </a:spcBef>
              <a:spcAft>
                <a:spcPts val="0"/>
              </a:spcAft>
              <a:buClr>
                <a:schemeClr val="accent3"/>
              </a:buClr>
              <a:buSzPts val="13000"/>
              <a:buNone/>
              <a:defRPr sz="17333">
                <a:solidFill>
                  <a:schemeClr val="accent3"/>
                </a:solidFill>
              </a:defRPr>
            </a:lvl2pPr>
            <a:lvl3pPr lvl="2" algn="ctr">
              <a:spcBef>
                <a:spcPts val="0"/>
              </a:spcBef>
              <a:spcAft>
                <a:spcPts val="0"/>
              </a:spcAft>
              <a:buClr>
                <a:schemeClr val="accent3"/>
              </a:buClr>
              <a:buSzPts val="13000"/>
              <a:buNone/>
              <a:defRPr sz="17333">
                <a:solidFill>
                  <a:schemeClr val="accent3"/>
                </a:solidFill>
              </a:defRPr>
            </a:lvl3pPr>
            <a:lvl4pPr lvl="3" algn="ctr">
              <a:spcBef>
                <a:spcPts val="0"/>
              </a:spcBef>
              <a:spcAft>
                <a:spcPts val="0"/>
              </a:spcAft>
              <a:buClr>
                <a:schemeClr val="accent3"/>
              </a:buClr>
              <a:buSzPts val="13000"/>
              <a:buNone/>
              <a:defRPr sz="17333">
                <a:solidFill>
                  <a:schemeClr val="accent3"/>
                </a:solidFill>
              </a:defRPr>
            </a:lvl4pPr>
            <a:lvl5pPr lvl="4" algn="ctr">
              <a:spcBef>
                <a:spcPts val="0"/>
              </a:spcBef>
              <a:spcAft>
                <a:spcPts val="0"/>
              </a:spcAft>
              <a:buClr>
                <a:schemeClr val="accent3"/>
              </a:buClr>
              <a:buSzPts val="13000"/>
              <a:buNone/>
              <a:defRPr sz="17333">
                <a:solidFill>
                  <a:schemeClr val="accent3"/>
                </a:solidFill>
              </a:defRPr>
            </a:lvl5pPr>
            <a:lvl6pPr lvl="5" algn="ctr">
              <a:spcBef>
                <a:spcPts val="0"/>
              </a:spcBef>
              <a:spcAft>
                <a:spcPts val="0"/>
              </a:spcAft>
              <a:buClr>
                <a:schemeClr val="accent3"/>
              </a:buClr>
              <a:buSzPts val="13000"/>
              <a:buNone/>
              <a:defRPr sz="17333">
                <a:solidFill>
                  <a:schemeClr val="accent3"/>
                </a:solidFill>
              </a:defRPr>
            </a:lvl6pPr>
            <a:lvl7pPr lvl="6" algn="ctr">
              <a:spcBef>
                <a:spcPts val="0"/>
              </a:spcBef>
              <a:spcAft>
                <a:spcPts val="0"/>
              </a:spcAft>
              <a:buClr>
                <a:schemeClr val="accent3"/>
              </a:buClr>
              <a:buSzPts val="13000"/>
              <a:buNone/>
              <a:defRPr sz="17333">
                <a:solidFill>
                  <a:schemeClr val="accent3"/>
                </a:solidFill>
              </a:defRPr>
            </a:lvl7pPr>
            <a:lvl8pPr lvl="7" algn="ctr">
              <a:spcBef>
                <a:spcPts val="0"/>
              </a:spcBef>
              <a:spcAft>
                <a:spcPts val="0"/>
              </a:spcAft>
              <a:buClr>
                <a:schemeClr val="accent3"/>
              </a:buClr>
              <a:buSzPts val="13000"/>
              <a:buNone/>
              <a:defRPr sz="17333">
                <a:solidFill>
                  <a:schemeClr val="accent3"/>
                </a:solidFill>
              </a:defRPr>
            </a:lvl8pPr>
            <a:lvl9pPr lvl="8" algn="ctr">
              <a:spcBef>
                <a:spcPts val="0"/>
              </a:spcBef>
              <a:spcAft>
                <a:spcPts val="0"/>
              </a:spcAft>
              <a:buClr>
                <a:schemeClr val="accent3"/>
              </a:buClr>
              <a:buSzPts val="13000"/>
              <a:buNone/>
              <a:defRPr sz="17333">
                <a:solidFill>
                  <a:schemeClr val="accent3"/>
                </a:solidFill>
              </a:defRPr>
            </a:lvl9pPr>
          </a:lstStyle>
          <a:p>
            <a:r>
              <a:rPr dirty="0"/>
              <a:t>xx%</a:t>
            </a:r>
          </a:p>
        </p:txBody>
      </p:sp>
      <p:sp>
        <p:nvSpPr>
          <p:cNvPr id="68" name="Google Shape;68;p11"/>
          <p:cNvSpPr txBox="1">
            <a:spLocks noGrp="1"/>
          </p:cNvSpPr>
          <p:nvPr>
            <p:ph type="body" idx="1"/>
          </p:nvPr>
        </p:nvSpPr>
        <p:spPr>
          <a:xfrm>
            <a:off x="415600" y="4490881"/>
            <a:ext cx="11360800" cy="1428800"/>
          </a:xfrm>
          <a:prstGeom prst="rect">
            <a:avLst/>
          </a:prstGeom>
        </p:spPr>
        <p:txBody>
          <a:bodyPr spcFirstLastPara="1" wrap="square" lIns="91425" tIns="91425" rIns="91425" bIns="91425" anchor="t" anchorCtr="0">
            <a:normAutofit/>
          </a:bodyPr>
          <a:lstStyle>
            <a:lvl1pPr marL="609585" lvl="0" indent="-457189" algn="ctr">
              <a:spcBef>
                <a:spcPts val="0"/>
              </a:spcBef>
              <a:spcAft>
                <a:spcPts val="0"/>
              </a:spcAft>
              <a:buSzPts val="1800"/>
              <a:buChar char="●"/>
              <a:defRPr>
                <a:latin typeface="Calibri" panose="020F0502020204030204" pitchFamily="34" charset="0"/>
                <a:cs typeface="Calibri" panose="020F0502020204030204" pitchFamily="34" charset="0"/>
              </a:defRPr>
            </a:lvl1pPr>
            <a:lvl2pPr marL="1219170" lvl="1" indent="-423323" algn="ctr">
              <a:spcBef>
                <a:spcPts val="0"/>
              </a:spcBef>
              <a:spcAft>
                <a:spcPts val="0"/>
              </a:spcAft>
              <a:buSzPts val="1400"/>
              <a:buChar char="○"/>
              <a:defRPr/>
            </a:lvl2pPr>
            <a:lvl3pPr marL="1828754" lvl="2" indent="-423323" algn="ctr">
              <a:spcBef>
                <a:spcPts val="0"/>
              </a:spcBef>
              <a:spcAft>
                <a:spcPts val="0"/>
              </a:spcAft>
              <a:buSzPts val="1400"/>
              <a:buChar char="■"/>
              <a:defRPr/>
            </a:lvl3pPr>
            <a:lvl4pPr marL="2438339" lvl="3" indent="-423323" algn="ctr">
              <a:spcBef>
                <a:spcPts val="0"/>
              </a:spcBef>
              <a:spcAft>
                <a:spcPts val="0"/>
              </a:spcAft>
              <a:buSzPts val="1400"/>
              <a:buChar char="●"/>
              <a:defRPr/>
            </a:lvl4pPr>
            <a:lvl5pPr marL="3047924" lvl="4" indent="-423323" algn="ctr">
              <a:spcBef>
                <a:spcPts val="0"/>
              </a:spcBef>
              <a:spcAft>
                <a:spcPts val="0"/>
              </a:spcAft>
              <a:buSzPts val="1400"/>
              <a:buChar char="○"/>
              <a:defRPr/>
            </a:lvl5pPr>
            <a:lvl6pPr marL="3657509" lvl="5" indent="-423323" algn="ctr">
              <a:spcBef>
                <a:spcPts val="0"/>
              </a:spcBef>
              <a:spcAft>
                <a:spcPts val="0"/>
              </a:spcAft>
              <a:buSzPts val="1400"/>
              <a:buChar char="■"/>
              <a:defRPr/>
            </a:lvl6pPr>
            <a:lvl7pPr marL="4267093" lvl="6" indent="-423323" algn="ctr">
              <a:spcBef>
                <a:spcPts val="0"/>
              </a:spcBef>
              <a:spcAft>
                <a:spcPts val="0"/>
              </a:spcAft>
              <a:buSzPts val="1400"/>
              <a:buChar char="●"/>
              <a:defRPr/>
            </a:lvl7pPr>
            <a:lvl8pPr marL="4876678" lvl="7" indent="-423323" algn="ctr">
              <a:spcBef>
                <a:spcPts val="0"/>
              </a:spcBef>
              <a:spcAft>
                <a:spcPts val="0"/>
              </a:spcAft>
              <a:buSzPts val="1400"/>
              <a:buChar char="○"/>
              <a:defRPr/>
            </a:lvl8pPr>
            <a:lvl9pPr marL="5486263" lvl="8" indent="-423323" algn="ctr">
              <a:spcBef>
                <a:spcPts val="0"/>
              </a:spcBef>
              <a:spcAft>
                <a:spcPts val="0"/>
              </a:spcAft>
              <a:buSzPts val="1400"/>
              <a:buChar char="■"/>
              <a:defRPr/>
            </a:lvl9pPr>
          </a:lstStyle>
          <a:p>
            <a:endParaRPr dirty="0"/>
          </a:p>
        </p:txBody>
      </p:sp>
      <p:sp>
        <p:nvSpPr>
          <p:cNvPr id="8" name="Slide Number Placeholder 5">
            <a:extLst>
              <a:ext uri="{FF2B5EF4-FFF2-40B4-BE49-F238E27FC236}">
                <a16:creationId xmlns:a16="http://schemas.microsoft.com/office/drawing/2014/main" id="{FEF22A34-8630-7179-6BE7-3A5ED218F444}"/>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cs typeface="Calibri" panose="020F0502020204030204" pitchFamily="34"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8360818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Google Shape;45;p7">
            <a:extLst>
              <a:ext uri="{FF2B5EF4-FFF2-40B4-BE49-F238E27FC236}">
                <a16:creationId xmlns:a16="http://schemas.microsoft.com/office/drawing/2014/main" id="{564256A3-4B60-B37C-3C15-AB3FE9B6DA43}"/>
              </a:ext>
            </a:extLst>
          </p:cNvPr>
          <p:cNvSpPr txBox="1">
            <a:spLocks noGrp="1"/>
          </p:cNvSpPr>
          <p:nvPr>
            <p:ph type="title"/>
          </p:nvPr>
        </p:nvSpPr>
        <p:spPr>
          <a:xfrm>
            <a:off x="403197" y="0"/>
            <a:ext cx="10675200" cy="1137600"/>
          </a:xfrm>
          <a:prstGeom prst="rect">
            <a:avLst/>
          </a:prstGeom>
        </p:spPr>
        <p:txBody>
          <a:bodyPr spcFirstLastPara="1" wrap="square" lIns="91425" tIns="91425" rIns="91425" bIns="91425" anchor="ctr" anchorCtr="0">
            <a:noAutofit/>
          </a:bodyPr>
          <a:lstStyle>
            <a:lvl1pPr lvl="0">
              <a:spcBef>
                <a:spcPts val="0"/>
              </a:spcBef>
              <a:spcAft>
                <a:spcPts val="0"/>
              </a:spcAft>
              <a:buSzPts val="2400"/>
              <a:buNone/>
              <a:defRPr sz="2933">
                <a:solidFill>
                  <a:schemeClr val="tx1"/>
                </a:solidFill>
                <a:latin typeface="Raleway" pitchFamily="2" charset="0"/>
              </a:defRPr>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dirty="0"/>
          </a:p>
        </p:txBody>
      </p:sp>
      <p:sp>
        <p:nvSpPr>
          <p:cNvPr id="11" name="Slide Number Placeholder 5">
            <a:extLst>
              <a:ext uri="{FF2B5EF4-FFF2-40B4-BE49-F238E27FC236}">
                <a16:creationId xmlns:a16="http://schemas.microsoft.com/office/drawing/2014/main" id="{4B24C27D-E9CF-52B2-895E-3ABEC7ADC878}"/>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cs typeface="Calibri" panose="020F0502020204030204" pitchFamily="34"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15606234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0" name="Slide Number Placeholder 5">
            <a:extLst>
              <a:ext uri="{FF2B5EF4-FFF2-40B4-BE49-F238E27FC236}">
                <a16:creationId xmlns:a16="http://schemas.microsoft.com/office/drawing/2014/main" id="{983060A7-945A-2E96-761C-7E7F8D3C45F9}"/>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cs typeface="Calibri" panose="020F0502020204030204" pitchFamily="34" charset="0"/>
              </a:defRPr>
            </a:lvl1pPr>
          </a:lstStyle>
          <a:p>
            <a:fld id="{66B530E6-33B2-49CF-A736-7C25316E718C}" type="slidenum">
              <a:rPr lang="en-US" smtClean="0"/>
              <a:pPr/>
              <a:t>‹#›</a:t>
            </a:fld>
            <a:endParaRPr lang="en-US" dirty="0"/>
          </a:p>
        </p:txBody>
      </p:sp>
    </p:spTree>
    <p:extLst>
      <p:ext uri="{BB962C8B-B14F-4D97-AF65-F5344CB8AC3E}">
        <p14:creationId xmlns:p14="http://schemas.microsoft.com/office/powerpoint/2010/main" val="8711376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36"/>
        <p:cNvGrpSpPr/>
        <p:nvPr/>
      </p:nvGrpSpPr>
      <p:grpSpPr>
        <a:xfrm>
          <a:off x="0" y="0"/>
          <a:ext cx="0" cy="0"/>
          <a:chOff x="0" y="0"/>
          <a:chExt cx="0" cy="0"/>
        </a:xfrm>
      </p:grpSpPr>
      <p:sp>
        <p:nvSpPr>
          <p:cNvPr id="37" name="Google Shape;37;p60"/>
          <p:cNvSpPr txBox="1">
            <a:spLocks noGrp="1"/>
          </p:cNvSpPr>
          <p:nvPr>
            <p:ph type="subTitle" idx="1"/>
          </p:nvPr>
        </p:nvSpPr>
        <p:spPr>
          <a:xfrm>
            <a:off x="2840535" y="4195828"/>
            <a:ext cx="6494000" cy="1056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2400"/>
              <a:buNone/>
              <a:defRPr sz="3200">
                <a:latin typeface="Raleway"/>
                <a:ea typeface="Raleway"/>
                <a:cs typeface="Raleway"/>
                <a:sym typeface="Raleway"/>
              </a:defRPr>
            </a:lvl1pPr>
            <a:lvl2pPr lvl="1" algn="ctr">
              <a:lnSpc>
                <a:spcPct val="100000"/>
              </a:lnSpc>
              <a:spcBef>
                <a:spcPts val="0"/>
              </a:spcBef>
              <a:spcAft>
                <a:spcPts val="0"/>
              </a:spcAft>
              <a:buSzPts val="2400"/>
              <a:buNone/>
              <a:defRPr sz="3200"/>
            </a:lvl2pPr>
            <a:lvl3pPr lvl="2" algn="ctr">
              <a:lnSpc>
                <a:spcPct val="100000"/>
              </a:lnSpc>
              <a:spcBef>
                <a:spcPts val="0"/>
              </a:spcBef>
              <a:spcAft>
                <a:spcPts val="0"/>
              </a:spcAft>
              <a:buSzPts val="2400"/>
              <a:buNone/>
              <a:defRPr sz="3200"/>
            </a:lvl3pPr>
            <a:lvl4pPr lvl="3" algn="ctr">
              <a:lnSpc>
                <a:spcPct val="100000"/>
              </a:lnSpc>
              <a:spcBef>
                <a:spcPts val="0"/>
              </a:spcBef>
              <a:spcAft>
                <a:spcPts val="0"/>
              </a:spcAft>
              <a:buSzPts val="2400"/>
              <a:buNone/>
              <a:defRPr sz="3200"/>
            </a:lvl4pPr>
            <a:lvl5pPr lvl="4" algn="ctr">
              <a:lnSpc>
                <a:spcPct val="100000"/>
              </a:lnSpc>
              <a:spcBef>
                <a:spcPts val="0"/>
              </a:spcBef>
              <a:spcAft>
                <a:spcPts val="0"/>
              </a:spcAft>
              <a:buSzPts val="2400"/>
              <a:buNone/>
              <a:defRPr sz="3200"/>
            </a:lvl5pPr>
            <a:lvl6pPr lvl="5" algn="ctr">
              <a:lnSpc>
                <a:spcPct val="100000"/>
              </a:lnSpc>
              <a:spcBef>
                <a:spcPts val="0"/>
              </a:spcBef>
              <a:spcAft>
                <a:spcPts val="0"/>
              </a:spcAft>
              <a:buSzPts val="2400"/>
              <a:buNone/>
              <a:defRPr sz="3200"/>
            </a:lvl6pPr>
            <a:lvl7pPr lvl="6" algn="ctr">
              <a:lnSpc>
                <a:spcPct val="100000"/>
              </a:lnSpc>
              <a:spcBef>
                <a:spcPts val="0"/>
              </a:spcBef>
              <a:spcAft>
                <a:spcPts val="0"/>
              </a:spcAft>
              <a:buSzPts val="2400"/>
              <a:buNone/>
              <a:defRPr sz="3200"/>
            </a:lvl7pPr>
            <a:lvl8pPr lvl="7" algn="ctr">
              <a:lnSpc>
                <a:spcPct val="100000"/>
              </a:lnSpc>
              <a:spcBef>
                <a:spcPts val="0"/>
              </a:spcBef>
              <a:spcAft>
                <a:spcPts val="0"/>
              </a:spcAft>
              <a:buSzPts val="2400"/>
              <a:buNone/>
              <a:defRPr sz="3200"/>
            </a:lvl8pPr>
            <a:lvl9pPr lvl="8" algn="ctr">
              <a:lnSpc>
                <a:spcPct val="100000"/>
              </a:lnSpc>
              <a:spcBef>
                <a:spcPts val="0"/>
              </a:spcBef>
              <a:spcAft>
                <a:spcPts val="0"/>
              </a:spcAft>
              <a:buSzPts val="2400"/>
              <a:buNone/>
              <a:defRPr sz="3200"/>
            </a:lvl9pPr>
          </a:lstStyle>
          <a:p>
            <a:endParaRPr/>
          </a:p>
        </p:txBody>
      </p:sp>
      <p:sp>
        <p:nvSpPr>
          <p:cNvPr id="38" name="Google Shape;38;p60"/>
          <p:cNvSpPr txBox="1">
            <a:spLocks noGrp="1"/>
          </p:cNvSpPr>
          <p:nvPr>
            <p:ph type="sldNum" idx="12"/>
          </p:nvPr>
        </p:nvSpPr>
        <p:spPr>
          <a:xfrm>
            <a:off x="11323907" y="6414447"/>
            <a:ext cx="731600" cy="355272"/>
          </a:xfrm>
          <a:prstGeom prst="rect">
            <a:avLst/>
          </a:prstGeom>
          <a:noFill/>
          <a:ln>
            <a:noFill/>
          </a:ln>
        </p:spPr>
        <p:txBody>
          <a:bodyPr spcFirstLastPara="1" wrap="square" lIns="91425" tIns="91425" rIns="91425" bIns="91425" anchor="ctr" anchorCtr="0">
            <a:noAutofit/>
          </a:bodyPr>
          <a:lstStyle>
            <a:lvl1pPr marL="0" lvl="0"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1pPr>
            <a:lvl2pPr marL="0" lvl="1"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2pPr>
            <a:lvl3pPr marL="0" lvl="2"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3pPr>
            <a:lvl4pPr marL="0" lvl="3"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4pPr>
            <a:lvl5pPr marL="0" lvl="4"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5pPr>
            <a:lvl6pPr marL="0" lvl="5"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6pPr>
            <a:lvl7pPr marL="0" lvl="6"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7pPr>
            <a:lvl8pPr marL="0" lvl="7"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8pPr>
            <a:lvl9pPr marL="0" lvl="8"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8304468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03200" y="115200"/>
            <a:ext cx="11360800" cy="9432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9pPr>
          </a:lstStyle>
          <a:p>
            <a:endParaRPr dirty="0"/>
          </a:p>
        </p:txBody>
      </p:sp>
      <p:sp>
        <p:nvSpPr>
          <p:cNvPr id="27" name="Rectangle 26">
            <a:extLst>
              <a:ext uri="{FF2B5EF4-FFF2-40B4-BE49-F238E27FC236}">
                <a16:creationId xmlns:a16="http://schemas.microsoft.com/office/drawing/2014/main" id="{D2573FB6-F6A4-C682-F4CD-14CE8176A144}"/>
              </a:ext>
            </a:extLst>
          </p:cNvPr>
          <p:cNvSpPr/>
          <p:nvPr userDrawn="1"/>
        </p:nvSpPr>
        <p:spPr>
          <a:xfrm>
            <a:off x="0" y="6331389"/>
            <a:ext cx="12195029" cy="524801"/>
          </a:xfrm>
          <a:prstGeom prst="rect">
            <a:avLst/>
          </a:prstGeom>
          <a:solidFill>
            <a:srgbClr val="348E90"/>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8" name="Google Shape;8;p1"/>
          <p:cNvSpPr txBox="1">
            <a:spLocks noGrp="1"/>
          </p:cNvSpPr>
          <p:nvPr>
            <p:ph type="sldNum" idx="12"/>
          </p:nvPr>
        </p:nvSpPr>
        <p:spPr>
          <a:xfrm>
            <a:off x="11323907" y="6414447"/>
            <a:ext cx="731600" cy="355272"/>
          </a:xfrm>
          <a:prstGeom prst="rect">
            <a:avLst/>
          </a:prstGeom>
          <a:noFill/>
          <a:ln>
            <a:noFill/>
          </a:ln>
        </p:spPr>
        <p:txBody>
          <a:bodyPr spcFirstLastPara="1" wrap="square" lIns="91425" tIns="91425" rIns="91425" bIns="91425" anchor="ctr" anchorCtr="0">
            <a:noAutofit/>
          </a:bodyPr>
          <a:lstStyle>
            <a:lvl1pPr lvl="0" algn="r">
              <a:buNone/>
              <a:defRPr sz="1333">
                <a:solidFill>
                  <a:schemeClr val="bg1"/>
                </a:solidFill>
                <a:latin typeface="Raleway" pitchFamily="2" charset="0"/>
                <a:ea typeface="Open Sans"/>
                <a:cs typeface="Open Sans"/>
                <a:sym typeface="Open Sans"/>
              </a:defRPr>
            </a:lvl1pPr>
            <a:lvl2pPr lvl="1" algn="r">
              <a:buNone/>
              <a:defRPr sz="1333">
                <a:solidFill>
                  <a:schemeClr val="dk2"/>
                </a:solidFill>
                <a:latin typeface="Open Sans"/>
                <a:ea typeface="Open Sans"/>
                <a:cs typeface="Open Sans"/>
                <a:sym typeface="Open Sans"/>
              </a:defRPr>
            </a:lvl2pPr>
            <a:lvl3pPr lvl="2" algn="r">
              <a:buNone/>
              <a:defRPr sz="1333">
                <a:solidFill>
                  <a:schemeClr val="dk2"/>
                </a:solidFill>
                <a:latin typeface="Open Sans"/>
                <a:ea typeface="Open Sans"/>
                <a:cs typeface="Open Sans"/>
                <a:sym typeface="Open Sans"/>
              </a:defRPr>
            </a:lvl3pPr>
            <a:lvl4pPr lvl="3" algn="r">
              <a:buNone/>
              <a:defRPr sz="1333">
                <a:solidFill>
                  <a:schemeClr val="dk2"/>
                </a:solidFill>
                <a:latin typeface="Open Sans"/>
                <a:ea typeface="Open Sans"/>
                <a:cs typeface="Open Sans"/>
                <a:sym typeface="Open Sans"/>
              </a:defRPr>
            </a:lvl4pPr>
            <a:lvl5pPr lvl="4" algn="r">
              <a:buNone/>
              <a:defRPr sz="1333">
                <a:solidFill>
                  <a:schemeClr val="dk2"/>
                </a:solidFill>
                <a:latin typeface="Open Sans"/>
                <a:ea typeface="Open Sans"/>
                <a:cs typeface="Open Sans"/>
                <a:sym typeface="Open Sans"/>
              </a:defRPr>
            </a:lvl5pPr>
            <a:lvl6pPr lvl="5" algn="r">
              <a:buNone/>
              <a:defRPr sz="1333">
                <a:solidFill>
                  <a:schemeClr val="dk2"/>
                </a:solidFill>
                <a:latin typeface="Open Sans"/>
                <a:ea typeface="Open Sans"/>
                <a:cs typeface="Open Sans"/>
                <a:sym typeface="Open Sans"/>
              </a:defRPr>
            </a:lvl6pPr>
            <a:lvl7pPr lvl="6" algn="r">
              <a:buNone/>
              <a:defRPr sz="1333">
                <a:solidFill>
                  <a:schemeClr val="dk2"/>
                </a:solidFill>
                <a:latin typeface="Open Sans"/>
                <a:ea typeface="Open Sans"/>
                <a:cs typeface="Open Sans"/>
                <a:sym typeface="Open Sans"/>
              </a:defRPr>
            </a:lvl7pPr>
            <a:lvl8pPr lvl="7" algn="r">
              <a:buNone/>
              <a:defRPr sz="1333">
                <a:solidFill>
                  <a:schemeClr val="dk2"/>
                </a:solidFill>
                <a:latin typeface="Open Sans"/>
                <a:ea typeface="Open Sans"/>
                <a:cs typeface="Open Sans"/>
                <a:sym typeface="Open Sans"/>
              </a:defRPr>
            </a:lvl8pPr>
            <a:lvl9pPr lvl="8" algn="r">
              <a:buNone/>
              <a:defRPr sz="1333">
                <a:solidFill>
                  <a:schemeClr val="dk2"/>
                </a:solidFill>
                <a:latin typeface="Open Sans"/>
                <a:ea typeface="Open Sans"/>
                <a:cs typeface="Open Sans"/>
                <a:sym typeface="Open Sans"/>
              </a:defRPr>
            </a:lvl9pPr>
          </a:lstStyle>
          <a:p>
            <a:fld id="{00000000-1234-1234-1234-123412341234}" type="slidenum">
              <a:rPr lang="en" smtClean="0"/>
              <a:pPr/>
              <a:t>‹#›</a:t>
            </a:fld>
            <a:endParaRPr lang="en" dirty="0"/>
          </a:p>
        </p:txBody>
      </p:sp>
    </p:spTree>
    <p:extLst>
      <p:ext uri="{BB962C8B-B14F-4D97-AF65-F5344CB8AC3E}">
        <p14:creationId xmlns:p14="http://schemas.microsoft.com/office/powerpoint/2010/main" val="109456712"/>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74" r:id="rId6"/>
    <p:sldLayoutId id="2147483675" r:id="rId7"/>
    <p:sldLayoutId id="2147483666" r:id="rId8"/>
    <p:sldLayoutId id="2147483667" r:id="rId9"/>
    <p:sldLayoutId id="2147483668" r:id="rId10"/>
    <p:sldLayoutId id="2147483669" r:id="rId11"/>
    <p:sldLayoutId id="2147483670" r:id="rId12"/>
    <p:sldLayoutId id="2147483671" r:id="rId13"/>
    <p:sldLayoutId id="2147483673"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333" b="0" i="0" u="none" strike="noStrike" cap="none">
          <a:solidFill>
            <a:schemeClr val="tx1"/>
          </a:solidFill>
          <a:latin typeface="Raleway" pitchFamily="2" charset="0"/>
          <a:ea typeface="Raleway" pitchFamily="2" charset="0"/>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Raleway" pitchFamily="2" charset="0"/>
          <a:ea typeface="Raleway" pitchFamily="2" charset="0"/>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8.xml"/><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8.xml"/><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24.emf"/><Relationship Id="rId1" Type="http://schemas.openxmlformats.org/officeDocument/2006/relationships/slideLayout" Target="../slideLayouts/slideLayout6.xml"/><Relationship Id="rId4" Type="http://schemas.openxmlformats.org/officeDocument/2006/relationships/image" Target="../media/image26.emf"/></Relationships>
</file>

<file path=ppt/slides/_rels/slide42.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8.emf"/><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33.emf"/><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image" Target="../media/image42.emf"/><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image" Target="../media/image44.emf"/><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3" Type="http://schemas.openxmlformats.org/officeDocument/2006/relationships/image" Target="../media/image47.emf"/><Relationship Id="rId2" Type="http://schemas.openxmlformats.org/officeDocument/2006/relationships/image" Target="../media/image46.emf"/><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3" Type="http://schemas.openxmlformats.org/officeDocument/2006/relationships/image" Target="../media/image49.emf"/><Relationship Id="rId2" Type="http://schemas.openxmlformats.org/officeDocument/2006/relationships/image" Target="../media/image48.emf"/><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3" Type="http://schemas.openxmlformats.org/officeDocument/2006/relationships/image" Target="../media/image51.emf"/><Relationship Id="rId2" Type="http://schemas.openxmlformats.org/officeDocument/2006/relationships/image" Target="../media/image50.emf"/><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3" Type="http://schemas.openxmlformats.org/officeDocument/2006/relationships/image" Target="../media/image53.emf"/><Relationship Id="rId2" Type="http://schemas.openxmlformats.org/officeDocument/2006/relationships/image" Target="../media/image52.emf"/><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3" Type="http://schemas.openxmlformats.org/officeDocument/2006/relationships/image" Target="../media/image55.emf"/><Relationship Id="rId2" Type="http://schemas.openxmlformats.org/officeDocument/2006/relationships/image" Target="../media/image54.emf"/><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3" Type="http://schemas.openxmlformats.org/officeDocument/2006/relationships/image" Target="../media/image57.emf"/><Relationship Id="rId2" Type="http://schemas.openxmlformats.org/officeDocument/2006/relationships/image" Target="../media/image56.emf"/><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3" Type="http://schemas.openxmlformats.org/officeDocument/2006/relationships/image" Target="../media/image59.emf"/><Relationship Id="rId2" Type="http://schemas.openxmlformats.org/officeDocument/2006/relationships/image" Target="../media/image58.emf"/><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3" Type="http://schemas.openxmlformats.org/officeDocument/2006/relationships/image" Target="../media/image61.emf"/><Relationship Id="rId2" Type="http://schemas.openxmlformats.org/officeDocument/2006/relationships/image" Target="../media/image60.emf"/><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2" Type="http://schemas.openxmlformats.org/officeDocument/2006/relationships/image" Target="../media/image62.emf"/><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3" Type="http://schemas.openxmlformats.org/officeDocument/2006/relationships/image" Target="../media/image64.emf"/><Relationship Id="rId2" Type="http://schemas.openxmlformats.org/officeDocument/2006/relationships/image" Target="../media/image63.emf"/><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3" Type="http://schemas.openxmlformats.org/officeDocument/2006/relationships/image" Target="../media/image66.emf"/><Relationship Id="rId2" Type="http://schemas.openxmlformats.org/officeDocument/2006/relationships/image" Target="../media/image65.emf"/><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3" Type="http://schemas.openxmlformats.org/officeDocument/2006/relationships/image" Target="../media/image68.emf"/><Relationship Id="rId2" Type="http://schemas.openxmlformats.org/officeDocument/2006/relationships/image" Target="../media/image67.emf"/><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3" Type="http://schemas.openxmlformats.org/officeDocument/2006/relationships/image" Target="../media/image70.emf"/><Relationship Id="rId2" Type="http://schemas.openxmlformats.org/officeDocument/2006/relationships/image" Target="../media/image69.emf"/><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3" Type="http://schemas.openxmlformats.org/officeDocument/2006/relationships/image" Target="../media/image72.emf"/><Relationship Id="rId2" Type="http://schemas.openxmlformats.org/officeDocument/2006/relationships/image" Target="../media/image71.emf"/><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3" Type="http://schemas.openxmlformats.org/officeDocument/2006/relationships/image" Target="../media/image74.emf"/><Relationship Id="rId2" Type="http://schemas.openxmlformats.org/officeDocument/2006/relationships/image" Target="../media/image73.emf"/><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3" Type="http://schemas.openxmlformats.org/officeDocument/2006/relationships/image" Target="../media/image76.emf"/><Relationship Id="rId2" Type="http://schemas.openxmlformats.org/officeDocument/2006/relationships/image" Target="../media/image75.emf"/><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3" Type="http://schemas.openxmlformats.org/officeDocument/2006/relationships/image" Target="../media/image78.emf"/><Relationship Id="rId2" Type="http://schemas.openxmlformats.org/officeDocument/2006/relationships/image" Target="../media/image77.emf"/><Relationship Id="rId1" Type="http://schemas.openxmlformats.org/officeDocument/2006/relationships/slideLayout" Target="../slideLayouts/slideLayout6.xml"/><Relationship Id="rId4" Type="http://schemas.openxmlformats.org/officeDocument/2006/relationships/image" Target="../media/image79.emf"/></Relationships>
</file>

<file path=ppt/slides/_rels/slide77.xml.rels><?xml version="1.0" encoding="UTF-8" standalone="yes"?>
<Relationships xmlns="http://schemas.openxmlformats.org/package/2006/relationships"><Relationship Id="rId3" Type="http://schemas.openxmlformats.org/officeDocument/2006/relationships/image" Target="../media/image81.emf"/><Relationship Id="rId2" Type="http://schemas.openxmlformats.org/officeDocument/2006/relationships/image" Target="../media/image80.emf"/><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2" Type="http://schemas.openxmlformats.org/officeDocument/2006/relationships/image" Target="../media/image82.emf"/><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3" Type="http://schemas.openxmlformats.org/officeDocument/2006/relationships/image" Target="../media/image84.emf"/><Relationship Id="rId2" Type="http://schemas.openxmlformats.org/officeDocument/2006/relationships/image" Target="../media/image83.emf"/><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3" Type="http://schemas.openxmlformats.org/officeDocument/2006/relationships/image" Target="../media/image86.emf"/><Relationship Id="rId2" Type="http://schemas.openxmlformats.org/officeDocument/2006/relationships/image" Target="../media/image85.emf"/><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3" Type="http://schemas.openxmlformats.org/officeDocument/2006/relationships/image" Target="../media/image88.emf"/><Relationship Id="rId2" Type="http://schemas.openxmlformats.org/officeDocument/2006/relationships/image" Target="../media/image87.emf"/><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3" Type="http://schemas.openxmlformats.org/officeDocument/2006/relationships/image" Target="../media/image90.emf"/><Relationship Id="rId2" Type="http://schemas.openxmlformats.org/officeDocument/2006/relationships/image" Target="../media/image89.emf"/><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3" Type="http://schemas.openxmlformats.org/officeDocument/2006/relationships/image" Target="../media/image92.emf"/><Relationship Id="rId2" Type="http://schemas.openxmlformats.org/officeDocument/2006/relationships/image" Target="../media/image91.emf"/><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3" Type="http://schemas.openxmlformats.org/officeDocument/2006/relationships/image" Target="../media/image94.emf"/><Relationship Id="rId2" Type="http://schemas.openxmlformats.org/officeDocument/2006/relationships/image" Target="../media/image93.emf"/><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3" Type="http://schemas.openxmlformats.org/officeDocument/2006/relationships/image" Target="../media/image96.emf"/><Relationship Id="rId2" Type="http://schemas.openxmlformats.org/officeDocument/2006/relationships/image" Target="../media/image95.emf"/><Relationship Id="rId1" Type="http://schemas.openxmlformats.org/officeDocument/2006/relationships/slideLayout" Target="../slideLayouts/slideLayout6.xml"/><Relationship Id="rId4" Type="http://schemas.openxmlformats.org/officeDocument/2006/relationships/image" Target="../media/image97.emf"/></Relationships>
</file>

<file path=ppt/slides/_rels/slide87.xml.rels><?xml version="1.0" encoding="UTF-8" standalone="yes"?>
<Relationships xmlns="http://schemas.openxmlformats.org/package/2006/relationships"><Relationship Id="rId2" Type="http://schemas.openxmlformats.org/officeDocument/2006/relationships/image" Target="../media/image98.emf"/><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9.xml.rels><?xml version="1.0" encoding="UTF-8" standalone="yes"?>
<Relationships xmlns="http://schemas.openxmlformats.org/package/2006/relationships"><Relationship Id="rId2" Type="http://schemas.openxmlformats.org/officeDocument/2006/relationships/image" Target="../media/image99.emf"/><Relationship Id="rId1" Type="http://schemas.openxmlformats.org/officeDocument/2006/relationships/slideLayout" Target="../slideLayouts/slideLayout6.xml"/></Relationships>
</file>

<file path=ppt/slides/_rels/slide90.xml.rels><?xml version="1.0" encoding="UTF-8" standalone="yes"?>
<Relationships xmlns="http://schemas.openxmlformats.org/package/2006/relationships"><Relationship Id="rId3" Type="http://schemas.openxmlformats.org/officeDocument/2006/relationships/image" Target="../media/image101.emf"/><Relationship Id="rId2" Type="http://schemas.openxmlformats.org/officeDocument/2006/relationships/image" Target="../media/image100.emf"/><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3" Type="http://schemas.openxmlformats.org/officeDocument/2006/relationships/image" Target="../media/image103.emf"/><Relationship Id="rId2" Type="http://schemas.openxmlformats.org/officeDocument/2006/relationships/image" Target="../media/image102.emf"/><Relationship Id="rId1" Type="http://schemas.openxmlformats.org/officeDocument/2006/relationships/slideLayout" Target="../slideLayouts/slideLayout6.xml"/></Relationships>
</file>

<file path=ppt/slides/_rels/slide92.xml.rels><?xml version="1.0" encoding="UTF-8" standalone="yes"?>
<Relationships xmlns="http://schemas.openxmlformats.org/package/2006/relationships"><Relationship Id="rId3" Type="http://schemas.openxmlformats.org/officeDocument/2006/relationships/image" Target="../media/image105.emf"/><Relationship Id="rId2" Type="http://schemas.openxmlformats.org/officeDocument/2006/relationships/image" Target="../media/image104.emf"/><Relationship Id="rId1" Type="http://schemas.openxmlformats.org/officeDocument/2006/relationships/slideLayout" Target="../slideLayouts/slideLayout6.xml"/></Relationships>
</file>

<file path=ppt/slides/_rels/slide93.xml.rels><?xml version="1.0" encoding="UTF-8" standalone="yes"?>
<Relationships xmlns="http://schemas.openxmlformats.org/package/2006/relationships"><Relationship Id="rId3" Type="http://schemas.openxmlformats.org/officeDocument/2006/relationships/image" Target="../media/image107.emf"/><Relationship Id="rId2" Type="http://schemas.openxmlformats.org/officeDocument/2006/relationships/image" Target="../media/image106.emf"/><Relationship Id="rId1" Type="http://schemas.openxmlformats.org/officeDocument/2006/relationships/slideLayout" Target="../slideLayouts/slideLayout6.xml"/></Relationships>
</file>

<file path=ppt/slides/_rels/slide94.xml.rels><?xml version="1.0" encoding="UTF-8" standalone="yes"?>
<Relationships xmlns="http://schemas.openxmlformats.org/package/2006/relationships"><Relationship Id="rId3" Type="http://schemas.openxmlformats.org/officeDocument/2006/relationships/image" Target="../media/image109.emf"/><Relationship Id="rId2" Type="http://schemas.openxmlformats.org/officeDocument/2006/relationships/image" Target="../media/image108.emf"/><Relationship Id="rId1" Type="http://schemas.openxmlformats.org/officeDocument/2006/relationships/slideLayout" Target="../slideLayouts/slideLayout6.xml"/></Relationships>
</file>

<file path=ppt/slides/_rels/slide95.xml.rels><?xml version="1.0" encoding="UTF-8" standalone="yes"?>
<Relationships xmlns="http://schemas.openxmlformats.org/package/2006/relationships"><Relationship Id="rId3" Type="http://schemas.openxmlformats.org/officeDocument/2006/relationships/image" Target="../media/image111.emf"/><Relationship Id="rId2" Type="http://schemas.openxmlformats.org/officeDocument/2006/relationships/image" Target="../media/image110.emf"/><Relationship Id="rId1" Type="http://schemas.openxmlformats.org/officeDocument/2006/relationships/slideLayout" Target="../slideLayouts/slideLayout6.xml"/></Relationships>
</file>

<file path=ppt/slides/_rels/slide96.xml.rels><?xml version="1.0" encoding="UTF-8" standalone="yes"?>
<Relationships xmlns="http://schemas.openxmlformats.org/package/2006/relationships"><Relationship Id="rId3" Type="http://schemas.openxmlformats.org/officeDocument/2006/relationships/image" Target="../media/image113.emf"/><Relationship Id="rId2" Type="http://schemas.openxmlformats.org/officeDocument/2006/relationships/image" Target="../media/image112.emf"/><Relationship Id="rId1" Type="http://schemas.openxmlformats.org/officeDocument/2006/relationships/slideLayout" Target="../slideLayouts/slideLayout6.xml"/><Relationship Id="rId4" Type="http://schemas.openxmlformats.org/officeDocument/2006/relationships/image" Target="../media/image114.emf"/></Relationships>
</file>

<file path=ppt/slides/_rels/slide97.xml.rels><?xml version="1.0" encoding="UTF-8" standalone="yes"?>
<Relationships xmlns="http://schemas.openxmlformats.org/package/2006/relationships"><Relationship Id="rId2" Type="http://schemas.openxmlformats.org/officeDocument/2006/relationships/image" Target="../media/image115.emf"/><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9.xml.rels><?xml version="1.0" encoding="UTF-8" standalone="yes"?>
<Relationships xmlns="http://schemas.openxmlformats.org/package/2006/relationships"><Relationship Id="rId2" Type="http://schemas.openxmlformats.org/officeDocument/2006/relationships/image" Target="../media/image116.emf"/><Relationship Id="rId1" Type="http://schemas.openxmlformats.org/officeDocument/2006/relationships/slideLayout" Target="../slideLayouts/slideLayout6.xml"/></Relationships>
</file>

<file path=ppt/slides/_rels/slide100.xml.rels><?xml version="1.0" encoding="UTF-8" standalone="yes"?>
<Relationships xmlns="http://schemas.openxmlformats.org/package/2006/relationships"><Relationship Id="rId3" Type="http://schemas.openxmlformats.org/officeDocument/2006/relationships/image" Target="../media/image118.emf"/><Relationship Id="rId2" Type="http://schemas.openxmlformats.org/officeDocument/2006/relationships/image" Target="../media/image117.emf"/><Relationship Id="rId1" Type="http://schemas.openxmlformats.org/officeDocument/2006/relationships/slideLayout" Target="../slideLayouts/slideLayout6.xml"/></Relationships>
</file>

<file path=ppt/slides/_rels/slide101.xml.rels><?xml version="1.0" encoding="UTF-8" standalone="yes"?>
<Relationships xmlns="http://schemas.openxmlformats.org/package/2006/relationships"><Relationship Id="rId3" Type="http://schemas.openxmlformats.org/officeDocument/2006/relationships/image" Target="../media/image120.emf"/><Relationship Id="rId2" Type="http://schemas.openxmlformats.org/officeDocument/2006/relationships/image" Target="../media/image119.emf"/><Relationship Id="rId1" Type="http://schemas.openxmlformats.org/officeDocument/2006/relationships/slideLayout" Target="../slideLayouts/slideLayout6.xml"/></Relationships>
</file>

<file path=ppt/slides/_rels/slide102.xml.rels><?xml version="1.0" encoding="UTF-8" standalone="yes"?>
<Relationships xmlns="http://schemas.openxmlformats.org/package/2006/relationships"><Relationship Id="rId3" Type="http://schemas.openxmlformats.org/officeDocument/2006/relationships/image" Target="../media/image122.emf"/><Relationship Id="rId2" Type="http://schemas.openxmlformats.org/officeDocument/2006/relationships/image" Target="../media/image121.emf"/><Relationship Id="rId1" Type="http://schemas.openxmlformats.org/officeDocument/2006/relationships/slideLayout" Target="../slideLayouts/slideLayout6.xml"/></Relationships>
</file>

<file path=ppt/slides/_rels/slide103.xml.rels><?xml version="1.0" encoding="UTF-8" standalone="yes"?>
<Relationships xmlns="http://schemas.openxmlformats.org/package/2006/relationships"><Relationship Id="rId3" Type="http://schemas.openxmlformats.org/officeDocument/2006/relationships/image" Target="../media/image124.emf"/><Relationship Id="rId2" Type="http://schemas.openxmlformats.org/officeDocument/2006/relationships/image" Target="../media/image123.emf"/><Relationship Id="rId1" Type="http://schemas.openxmlformats.org/officeDocument/2006/relationships/slideLayout" Target="../slideLayouts/slideLayout6.xml"/></Relationships>
</file>

<file path=ppt/slides/_rels/slide104.xml.rels><?xml version="1.0" encoding="UTF-8" standalone="yes"?>
<Relationships xmlns="http://schemas.openxmlformats.org/package/2006/relationships"><Relationship Id="rId3" Type="http://schemas.openxmlformats.org/officeDocument/2006/relationships/image" Target="../media/image126.emf"/><Relationship Id="rId2" Type="http://schemas.openxmlformats.org/officeDocument/2006/relationships/image" Target="../media/image125.emf"/><Relationship Id="rId1" Type="http://schemas.openxmlformats.org/officeDocument/2006/relationships/slideLayout" Target="../slideLayouts/slideLayout6.xml"/></Relationships>
</file>

<file path=ppt/slides/_rels/slide105.xml.rels><?xml version="1.0" encoding="UTF-8" standalone="yes"?>
<Relationships xmlns="http://schemas.openxmlformats.org/package/2006/relationships"><Relationship Id="rId3" Type="http://schemas.openxmlformats.org/officeDocument/2006/relationships/image" Target="../media/image128.emf"/><Relationship Id="rId2" Type="http://schemas.openxmlformats.org/officeDocument/2006/relationships/image" Target="../media/image127.emf"/><Relationship Id="rId1" Type="http://schemas.openxmlformats.org/officeDocument/2006/relationships/slideLayout" Target="../slideLayouts/slideLayout6.xml"/></Relationships>
</file>

<file path=ppt/slides/_rels/slide106.xml.rels><?xml version="1.0" encoding="UTF-8" standalone="yes"?>
<Relationships xmlns="http://schemas.openxmlformats.org/package/2006/relationships"><Relationship Id="rId3" Type="http://schemas.openxmlformats.org/officeDocument/2006/relationships/image" Target="../media/image130.emf"/><Relationship Id="rId2" Type="http://schemas.openxmlformats.org/officeDocument/2006/relationships/image" Target="../media/image129.emf"/><Relationship Id="rId1" Type="http://schemas.openxmlformats.org/officeDocument/2006/relationships/slideLayout" Target="../slideLayouts/slideLayout6.xml"/><Relationship Id="rId4" Type="http://schemas.openxmlformats.org/officeDocument/2006/relationships/image" Target="../media/image131.emf"/></Relationships>
</file>

<file path=ppt/slides/_rels/slide107.xml.rels><?xml version="1.0" encoding="UTF-8" standalone="yes"?>
<Relationships xmlns="http://schemas.openxmlformats.org/package/2006/relationships"><Relationship Id="rId2" Type="http://schemas.openxmlformats.org/officeDocument/2006/relationships/image" Target="../media/image132.emf"/><Relationship Id="rId1" Type="http://schemas.openxmlformats.org/officeDocument/2006/relationships/slideLayout" Target="../slideLayouts/slideLayout6.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9.xml.rels><?xml version="1.0" encoding="UTF-8" standalone="yes"?>
<Relationships xmlns="http://schemas.openxmlformats.org/package/2006/relationships"><Relationship Id="rId3" Type="http://schemas.openxmlformats.org/officeDocument/2006/relationships/image" Target="../media/image134.emf"/><Relationship Id="rId2" Type="http://schemas.openxmlformats.org/officeDocument/2006/relationships/image" Target="../media/image133.emf"/><Relationship Id="rId1" Type="http://schemas.openxmlformats.org/officeDocument/2006/relationships/slideLayout" Target="../slideLayouts/slideLayout6.xml"/></Relationships>
</file>

<file path=ppt/slides/_rels/slide110.xml.rels><?xml version="1.0" encoding="UTF-8" standalone="yes"?>
<Relationships xmlns="http://schemas.openxmlformats.org/package/2006/relationships"><Relationship Id="rId3" Type="http://schemas.openxmlformats.org/officeDocument/2006/relationships/image" Target="../media/image136.emf"/><Relationship Id="rId2" Type="http://schemas.openxmlformats.org/officeDocument/2006/relationships/image" Target="../media/image135.emf"/><Relationship Id="rId1" Type="http://schemas.openxmlformats.org/officeDocument/2006/relationships/slideLayout" Target="../slideLayouts/slideLayout6.xml"/></Relationships>
</file>

<file path=ppt/slides/_rels/slide111.xml.rels><?xml version="1.0" encoding="UTF-8" standalone="yes"?>
<Relationships xmlns="http://schemas.openxmlformats.org/package/2006/relationships"><Relationship Id="rId3" Type="http://schemas.openxmlformats.org/officeDocument/2006/relationships/image" Target="../media/image138.emf"/><Relationship Id="rId2" Type="http://schemas.openxmlformats.org/officeDocument/2006/relationships/image" Target="../media/image137.emf"/><Relationship Id="rId1" Type="http://schemas.openxmlformats.org/officeDocument/2006/relationships/slideLayout" Target="../slideLayouts/slideLayout6.xml"/></Relationships>
</file>

<file path=ppt/slides/_rels/slide112.xml.rels><?xml version="1.0" encoding="UTF-8" standalone="yes"?>
<Relationships xmlns="http://schemas.openxmlformats.org/package/2006/relationships"><Relationship Id="rId3" Type="http://schemas.openxmlformats.org/officeDocument/2006/relationships/image" Target="../media/image140.emf"/><Relationship Id="rId2" Type="http://schemas.openxmlformats.org/officeDocument/2006/relationships/image" Target="../media/image139.emf"/><Relationship Id="rId1" Type="http://schemas.openxmlformats.org/officeDocument/2006/relationships/slideLayout" Target="../slideLayouts/slideLayout6.xml"/></Relationships>
</file>

<file path=ppt/slides/_rels/slide113.xml.rels><?xml version="1.0" encoding="UTF-8" standalone="yes"?>
<Relationships xmlns="http://schemas.openxmlformats.org/package/2006/relationships"><Relationship Id="rId2" Type="http://schemas.openxmlformats.org/officeDocument/2006/relationships/image" Target="../media/image141.emf"/><Relationship Id="rId1" Type="http://schemas.openxmlformats.org/officeDocument/2006/relationships/slideLayout" Target="../slideLayouts/slideLayout6.xml"/></Relationships>
</file>

<file path=ppt/slides/_rels/slide114.xml.rels><?xml version="1.0" encoding="UTF-8" standalone="yes"?>
<Relationships xmlns="http://schemas.openxmlformats.org/package/2006/relationships"><Relationship Id="rId3" Type="http://schemas.openxmlformats.org/officeDocument/2006/relationships/image" Target="../media/image143.emf"/><Relationship Id="rId2" Type="http://schemas.openxmlformats.org/officeDocument/2006/relationships/image" Target="../media/image142.emf"/><Relationship Id="rId1" Type="http://schemas.openxmlformats.org/officeDocument/2006/relationships/slideLayout" Target="../slideLayouts/slideLayout6.xml"/><Relationship Id="rId4" Type="http://schemas.openxmlformats.org/officeDocument/2006/relationships/image" Target="../media/image144.emf"/></Relationships>
</file>

<file path=ppt/slides/_rels/slide115.xml.rels><?xml version="1.0" encoding="UTF-8" standalone="yes"?>
<Relationships xmlns="http://schemas.openxmlformats.org/package/2006/relationships"><Relationship Id="rId2" Type="http://schemas.openxmlformats.org/officeDocument/2006/relationships/image" Target="../media/image145.emf"/><Relationship Id="rId1" Type="http://schemas.openxmlformats.org/officeDocument/2006/relationships/slideLayout" Target="../slideLayouts/slideLayout6.xml"/></Relationships>
</file>

<file path=ppt/slides/_rels/slide116.xml.rels><?xml version="1.0" encoding="UTF-8" standalone="yes"?>
<Relationships xmlns="http://schemas.openxmlformats.org/package/2006/relationships"><Relationship Id="rId3" Type="http://schemas.openxmlformats.org/officeDocument/2006/relationships/image" Target="../media/image147.emf"/><Relationship Id="rId2" Type="http://schemas.openxmlformats.org/officeDocument/2006/relationships/image" Target="../media/image146.emf"/><Relationship Id="rId1" Type="http://schemas.openxmlformats.org/officeDocument/2006/relationships/slideLayout" Target="../slideLayouts/slideLayout6.xml"/></Relationships>
</file>

<file path=ppt/slides/_rels/slide117.xml.rels><?xml version="1.0" encoding="UTF-8" standalone="yes"?>
<Relationships xmlns="http://schemas.openxmlformats.org/package/2006/relationships"><Relationship Id="rId3" Type="http://schemas.openxmlformats.org/officeDocument/2006/relationships/image" Target="../media/image149.emf"/><Relationship Id="rId2" Type="http://schemas.openxmlformats.org/officeDocument/2006/relationships/image" Target="../media/image148.emf"/><Relationship Id="rId1" Type="http://schemas.openxmlformats.org/officeDocument/2006/relationships/slideLayout" Target="../slideLayouts/slideLayout6.xml"/></Relationships>
</file>

<file path=ppt/slides/_rels/slide118.xml.rels><?xml version="1.0" encoding="UTF-8" standalone="yes"?>
<Relationships xmlns="http://schemas.openxmlformats.org/package/2006/relationships"><Relationship Id="rId2" Type="http://schemas.openxmlformats.org/officeDocument/2006/relationships/image" Target="../media/image150.emf"/><Relationship Id="rId1" Type="http://schemas.openxmlformats.org/officeDocument/2006/relationships/slideLayout" Target="../slideLayouts/slideLayout6.xml"/></Relationships>
</file>

<file path=ppt/slides/_rels/slide119.xml.rels><?xml version="1.0" encoding="UTF-8" standalone="yes"?>
<Relationships xmlns="http://schemas.openxmlformats.org/package/2006/relationships"><Relationship Id="rId2" Type="http://schemas.openxmlformats.org/officeDocument/2006/relationships/image" Target="../media/image151.emf"/><Relationship Id="rId1" Type="http://schemas.openxmlformats.org/officeDocument/2006/relationships/slideLayout" Target="../slideLayouts/slideLayout6.xml"/></Relationships>
</file>

<file path=ppt/slides/_rels/slide120.xml.rels><?xml version="1.0" encoding="UTF-8" standalone="yes"?>
<Relationships xmlns="http://schemas.openxmlformats.org/package/2006/relationships"><Relationship Id="rId3" Type="http://schemas.openxmlformats.org/officeDocument/2006/relationships/image" Target="../media/image153.emf"/><Relationship Id="rId2" Type="http://schemas.openxmlformats.org/officeDocument/2006/relationships/image" Target="../media/image152.emf"/><Relationship Id="rId1" Type="http://schemas.openxmlformats.org/officeDocument/2006/relationships/slideLayout" Target="../slideLayouts/slideLayout6.xml"/></Relationships>
</file>

<file path=ppt/slides/_rels/slide121.xml.rels><?xml version="1.0" encoding="UTF-8" standalone="yes"?>
<Relationships xmlns="http://schemas.openxmlformats.org/package/2006/relationships"><Relationship Id="rId2" Type="http://schemas.openxmlformats.org/officeDocument/2006/relationships/image" Target="../media/image154.emf"/><Relationship Id="rId1" Type="http://schemas.openxmlformats.org/officeDocument/2006/relationships/slideLayout" Target="../slideLayouts/slideLayout6.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F8E0CC9-F31E-11D8-1BC2-56724FFBD5DA}"/>
              </a:ext>
            </a:extLst>
          </p:cNvPr>
          <p:cNvSpPr>
            <a:spLocks noGrp="1"/>
          </p:cNvSpPr>
          <p:nvPr>
            <p:ph type="body" idx="1"/>
          </p:nvPr>
        </p:nvSpPr>
        <p:spPr>
          <a:xfrm>
            <a:off x="838200" y="1924493"/>
            <a:ext cx="10515600" cy="4210493"/>
          </a:xfrm>
        </p:spPr>
        <p:txBody>
          <a:bodyPr>
            <a:normAutofit/>
          </a:bodyPr>
          <a:lstStyle/>
          <a:p>
            <a:pPr marL="186262" indent="0" algn="ctr">
              <a:buNone/>
            </a:pPr>
            <a:r>
              <a:rPr lang="en-US" sz="3200" i="1" dirty="0"/>
              <a:t>Leveraging SQL to uncover trends in customer loyalty and retail transactions</a:t>
            </a:r>
            <a:endParaRPr lang="en-IN" sz="3200" b="1" dirty="0"/>
          </a:p>
          <a:p>
            <a:pPr marL="186262" indent="0" algn="ctr">
              <a:buNone/>
            </a:pPr>
            <a:endParaRPr lang="en-IN" sz="2800" b="1" dirty="0"/>
          </a:p>
          <a:p>
            <a:pPr marL="186262" indent="0" algn="ctr">
              <a:buNone/>
            </a:pPr>
            <a:r>
              <a:rPr lang="en-IN" sz="2800" b="1" dirty="0"/>
              <a:t>Presented by </a:t>
            </a:r>
          </a:p>
          <a:p>
            <a:pPr marL="186262" indent="0" algn="ctr">
              <a:buNone/>
            </a:pPr>
            <a:r>
              <a:rPr lang="en-IN" sz="2800" i="1" dirty="0"/>
              <a:t>Ayush Chaudhary</a:t>
            </a:r>
          </a:p>
          <a:p>
            <a:pPr marL="186262" indent="0" algn="ctr">
              <a:buNone/>
            </a:pPr>
            <a:endParaRPr lang="en-US" sz="2800" dirty="0"/>
          </a:p>
          <a:p>
            <a:pPr marL="186262" indent="0" algn="ctr">
              <a:buNone/>
            </a:pPr>
            <a:r>
              <a:rPr lang="en-US" sz="2400" b="1" dirty="0"/>
              <a:t>Project For</a:t>
            </a:r>
          </a:p>
          <a:p>
            <a:pPr marL="186262" indent="0" algn="ctr">
              <a:buNone/>
            </a:pPr>
            <a:r>
              <a:rPr lang="en-US" sz="2400" i="1" dirty="0"/>
              <a:t>A Leading Indian Retail Chain</a:t>
            </a:r>
          </a:p>
          <a:p>
            <a:pPr marL="186262" indent="0">
              <a:buNone/>
            </a:pPr>
            <a:endParaRPr lang="en-US" sz="2800" dirty="0"/>
          </a:p>
        </p:txBody>
      </p:sp>
      <p:sp>
        <p:nvSpPr>
          <p:cNvPr id="3" name="Title 2">
            <a:extLst>
              <a:ext uri="{FF2B5EF4-FFF2-40B4-BE49-F238E27FC236}">
                <a16:creationId xmlns:a16="http://schemas.microsoft.com/office/drawing/2014/main" id="{CA85D316-6F8B-559E-B406-36225EEEE86E}"/>
              </a:ext>
            </a:extLst>
          </p:cNvPr>
          <p:cNvSpPr>
            <a:spLocks noGrp="1"/>
          </p:cNvSpPr>
          <p:nvPr>
            <p:ph type="title"/>
          </p:nvPr>
        </p:nvSpPr>
        <p:spPr>
          <a:xfrm>
            <a:off x="403197" y="0"/>
            <a:ext cx="10675200" cy="1754372"/>
          </a:xfrm>
        </p:spPr>
        <p:txBody>
          <a:bodyPr/>
          <a:lstStyle/>
          <a:p>
            <a:pPr algn="ctr"/>
            <a:r>
              <a:rPr lang="en-US" sz="3200" dirty="0"/>
              <a:t>Retail Intelligence: Customer Loyalty and Transaction Insights</a:t>
            </a:r>
            <a:endParaRPr lang="en-IN" sz="3200" dirty="0"/>
          </a:p>
        </p:txBody>
      </p:sp>
    </p:spTree>
    <p:extLst>
      <p:ext uri="{BB962C8B-B14F-4D97-AF65-F5344CB8AC3E}">
        <p14:creationId xmlns:p14="http://schemas.microsoft.com/office/powerpoint/2010/main" val="40585863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A4EEACB-F2F1-0603-AD16-A7A7ED2A073D}"/>
              </a:ext>
            </a:extLst>
          </p:cNvPr>
          <p:cNvSpPr>
            <a:spLocks noGrp="1"/>
          </p:cNvSpPr>
          <p:nvPr>
            <p:ph type="body" idx="1"/>
          </p:nvPr>
        </p:nvSpPr>
        <p:spPr/>
        <p:txBody>
          <a:bodyPr>
            <a:normAutofit/>
          </a:bodyPr>
          <a:lstStyle/>
          <a:p>
            <a:pPr marL="186262" indent="0">
              <a:lnSpc>
                <a:spcPct val="150000"/>
              </a:lnSpc>
              <a:buNone/>
            </a:pPr>
            <a:r>
              <a:rPr lang="en-US" sz="2200" dirty="0"/>
              <a:t>In a competitive retail landscape, understanding customer loyalty and transaction behavior is crucial. This project leverages SQL-based analysis on raw transactional data to uncover actionable patterns in customer engagement ,payment trends, and product performance. The goal is to deliver meaningful insights that support smarter, data-driven retail strategies.</a:t>
            </a:r>
            <a:endParaRPr lang="en-IN" sz="2200" dirty="0"/>
          </a:p>
        </p:txBody>
      </p:sp>
      <p:sp>
        <p:nvSpPr>
          <p:cNvPr id="3" name="Title 2">
            <a:extLst>
              <a:ext uri="{FF2B5EF4-FFF2-40B4-BE49-F238E27FC236}">
                <a16:creationId xmlns:a16="http://schemas.microsoft.com/office/drawing/2014/main" id="{A0BA94DE-3039-B1C1-78EC-D03E9E061770}"/>
              </a:ext>
            </a:extLst>
          </p:cNvPr>
          <p:cNvSpPr>
            <a:spLocks noGrp="1"/>
          </p:cNvSpPr>
          <p:nvPr>
            <p:ph type="title"/>
          </p:nvPr>
        </p:nvSpPr>
        <p:spPr>
          <a:xfrm>
            <a:off x="403197" y="0"/>
            <a:ext cx="10675200" cy="1754372"/>
          </a:xfrm>
        </p:spPr>
        <p:txBody>
          <a:bodyPr/>
          <a:lstStyle/>
          <a:p>
            <a:pPr algn="ctr"/>
            <a:r>
              <a:rPr lang="en-US" sz="4000" dirty="0"/>
              <a:t>Introduction</a:t>
            </a:r>
            <a:endParaRPr lang="en-IN" sz="4000" dirty="0"/>
          </a:p>
        </p:txBody>
      </p:sp>
    </p:spTree>
    <p:extLst>
      <p:ext uri="{BB962C8B-B14F-4D97-AF65-F5344CB8AC3E}">
        <p14:creationId xmlns:p14="http://schemas.microsoft.com/office/powerpoint/2010/main" val="3733247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7FDDD97-33E4-4DCC-897B-13D28A4478F6}"/>
              </a:ext>
            </a:extLst>
          </p:cNvPr>
          <p:cNvSpPr>
            <a:spLocks noGrp="1"/>
          </p:cNvSpPr>
          <p:nvPr>
            <p:ph type="body" idx="1"/>
          </p:nvPr>
        </p:nvSpPr>
        <p:spPr>
          <a:xfrm>
            <a:off x="838200" y="2115879"/>
            <a:ext cx="10515600" cy="3863166"/>
          </a:xfrm>
        </p:spPr>
        <p:txBody>
          <a:bodyPr>
            <a:normAutofit/>
          </a:bodyPr>
          <a:lstStyle/>
          <a:p>
            <a:pPr marL="186262" indent="0">
              <a:lnSpc>
                <a:spcPct val="150000"/>
              </a:lnSpc>
              <a:buNone/>
            </a:pPr>
            <a:r>
              <a:rPr lang="en-US" sz="2200" dirty="0"/>
              <a:t>The client is a large Indian retail chain aiming to better understand customer behavior, product performance, and payment patterns across multiple locations, This project focuses on transforming raw transactional and review data into reliable insights using SQL. The goal is to support business strategies in customer engagement, marketing, and inventory optimization through data- driven decision-making.</a:t>
            </a:r>
          </a:p>
        </p:txBody>
      </p:sp>
      <p:sp>
        <p:nvSpPr>
          <p:cNvPr id="3" name="Title 2">
            <a:extLst>
              <a:ext uri="{FF2B5EF4-FFF2-40B4-BE49-F238E27FC236}">
                <a16:creationId xmlns:a16="http://schemas.microsoft.com/office/drawing/2014/main" id="{AAFB6610-8343-DF7A-A17B-FE6F0EBDC8FD}"/>
              </a:ext>
            </a:extLst>
          </p:cNvPr>
          <p:cNvSpPr>
            <a:spLocks noGrp="1"/>
          </p:cNvSpPr>
          <p:nvPr>
            <p:ph type="title"/>
          </p:nvPr>
        </p:nvSpPr>
        <p:spPr>
          <a:xfrm>
            <a:off x="403197" y="0"/>
            <a:ext cx="10675200" cy="1743740"/>
          </a:xfrm>
        </p:spPr>
        <p:txBody>
          <a:bodyPr/>
          <a:lstStyle/>
          <a:p>
            <a:pPr algn="ctr"/>
            <a:r>
              <a:rPr lang="en-US" sz="4000" dirty="0"/>
              <a:t>Business</a:t>
            </a:r>
            <a:r>
              <a:rPr lang="en-US" dirty="0"/>
              <a:t> </a:t>
            </a:r>
            <a:r>
              <a:rPr lang="en-US" sz="4000" dirty="0"/>
              <a:t>Context</a:t>
            </a:r>
            <a:endParaRPr lang="en-IN" sz="4000" dirty="0"/>
          </a:p>
        </p:txBody>
      </p:sp>
    </p:spTree>
    <p:extLst>
      <p:ext uri="{BB962C8B-B14F-4D97-AF65-F5344CB8AC3E}">
        <p14:creationId xmlns:p14="http://schemas.microsoft.com/office/powerpoint/2010/main" val="6406250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EA582B9-B990-F606-6672-F5BE1B242EB4}"/>
              </a:ext>
            </a:extLst>
          </p:cNvPr>
          <p:cNvSpPr>
            <a:spLocks noGrp="1"/>
          </p:cNvSpPr>
          <p:nvPr>
            <p:ph type="body" idx="1"/>
          </p:nvPr>
        </p:nvSpPr>
        <p:spPr>
          <a:xfrm>
            <a:off x="838200" y="2126512"/>
            <a:ext cx="10515600" cy="3852533"/>
          </a:xfrm>
        </p:spPr>
        <p:txBody>
          <a:bodyPr>
            <a:normAutofit/>
          </a:bodyPr>
          <a:lstStyle/>
          <a:p>
            <a:pPr>
              <a:lnSpc>
                <a:spcPct val="150000"/>
              </a:lnSpc>
            </a:pPr>
            <a:r>
              <a:rPr lang="en-US" sz="2200" dirty="0"/>
              <a:t>Clean and validate raw customer, order and payment data</a:t>
            </a:r>
          </a:p>
          <a:p>
            <a:pPr>
              <a:lnSpc>
                <a:spcPct val="150000"/>
              </a:lnSpc>
            </a:pPr>
            <a:r>
              <a:rPr lang="en-US" sz="2200" dirty="0"/>
              <a:t>Analyze customer loyalty, satisfaction and purchasing behavior</a:t>
            </a:r>
          </a:p>
          <a:p>
            <a:pPr>
              <a:lnSpc>
                <a:spcPct val="150000"/>
              </a:lnSpc>
            </a:pPr>
            <a:r>
              <a:rPr lang="en-US" sz="2200" dirty="0"/>
              <a:t>Uncover key transaction trends using SQL-driven analysis</a:t>
            </a:r>
          </a:p>
          <a:p>
            <a:pPr>
              <a:lnSpc>
                <a:spcPct val="150000"/>
              </a:lnSpc>
            </a:pPr>
            <a:r>
              <a:rPr lang="en-US" sz="2200" dirty="0"/>
              <a:t>Support strategic decisions with actionable metrics and insights</a:t>
            </a:r>
          </a:p>
        </p:txBody>
      </p:sp>
      <p:sp>
        <p:nvSpPr>
          <p:cNvPr id="3" name="Title 2">
            <a:extLst>
              <a:ext uri="{FF2B5EF4-FFF2-40B4-BE49-F238E27FC236}">
                <a16:creationId xmlns:a16="http://schemas.microsoft.com/office/drawing/2014/main" id="{AC3BDFF3-91EB-2827-6E5F-08F1BB4FB48F}"/>
              </a:ext>
            </a:extLst>
          </p:cNvPr>
          <p:cNvSpPr>
            <a:spLocks noGrp="1"/>
          </p:cNvSpPr>
          <p:nvPr>
            <p:ph type="title"/>
          </p:nvPr>
        </p:nvSpPr>
        <p:spPr>
          <a:xfrm>
            <a:off x="403197" y="-1"/>
            <a:ext cx="10675200" cy="1765005"/>
          </a:xfrm>
        </p:spPr>
        <p:txBody>
          <a:bodyPr/>
          <a:lstStyle/>
          <a:p>
            <a:pPr algn="ctr"/>
            <a:r>
              <a:rPr lang="en-US" sz="4000" dirty="0"/>
              <a:t>Problem Statement</a:t>
            </a:r>
            <a:endParaRPr lang="en-IN" sz="4000" dirty="0"/>
          </a:p>
        </p:txBody>
      </p:sp>
    </p:spTree>
    <p:extLst>
      <p:ext uri="{BB962C8B-B14F-4D97-AF65-F5344CB8AC3E}">
        <p14:creationId xmlns:p14="http://schemas.microsoft.com/office/powerpoint/2010/main" val="16429549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D8F8B-92C6-04F0-348B-A6C330C101D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0020985-0167-903C-4097-7CC06AB112EB}"/>
              </a:ext>
            </a:extLst>
          </p:cNvPr>
          <p:cNvSpPr>
            <a:spLocks noGrp="1"/>
          </p:cNvSpPr>
          <p:nvPr>
            <p:ph type="body" idx="1"/>
          </p:nvPr>
        </p:nvSpPr>
        <p:spPr>
          <a:xfrm>
            <a:off x="838200" y="2126512"/>
            <a:ext cx="10515600" cy="3852533"/>
          </a:xfrm>
        </p:spPr>
        <p:txBody>
          <a:bodyPr>
            <a:normAutofit/>
          </a:bodyPr>
          <a:lstStyle/>
          <a:p>
            <a:pPr marL="186262" indent="0">
              <a:lnSpc>
                <a:spcPct val="150000"/>
              </a:lnSpc>
              <a:buNone/>
            </a:pPr>
            <a:endParaRPr lang="en-US" sz="2400" i="1" dirty="0"/>
          </a:p>
        </p:txBody>
      </p:sp>
      <p:sp>
        <p:nvSpPr>
          <p:cNvPr id="3" name="Title 2">
            <a:extLst>
              <a:ext uri="{FF2B5EF4-FFF2-40B4-BE49-F238E27FC236}">
                <a16:creationId xmlns:a16="http://schemas.microsoft.com/office/drawing/2014/main" id="{C37FE3E0-83D0-2C8C-06A5-F1F481CBF56E}"/>
              </a:ext>
            </a:extLst>
          </p:cNvPr>
          <p:cNvSpPr>
            <a:spLocks noGrp="1"/>
          </p:cNvSpPr>
          <p:nvPr>
            <p:ph type="title"/>
          </p:nvPr>
        </p:nvSpPr>
        <p:spPr>
          <a:xfrm>
            <a:off x="403197" y="-1"/>
            <a:ext cx="10675200" cy="1765005"/>
          </a:xfrm>
        </p:spPr>
        <p:txBody>
          <a:bodyPr/>
          <a:lstStyle/>
          <a:p>
            <a:pPr algn="ctr"/>
            <a:r>
              <a:rPr lang="en-US" sz="4000" dirty="0"/>
              <a:t>Technology Stack</a:t>
            </a:r>
            <a:endParaRPr lang="en-IN" sz="4000" dirty="0"/>
          </a:p>
        </p:txBody>
      </p:sp>
      <p:graphicFrame>
        <p:nvGraphicFramePr>
          <p:cNvPr id="4" name="Table 3">
            <a:extLst>
              <a:ext uri="{FF2B5EF4-FFF2-40B4-BE49-F238E27FC236}">
                <a16:creationId xmlns:a16="http://schemas.microsoft.com/office/drawing/2014/main" id="{BE7542CE-48B6-3216-5D43-4E81A2DA8DFB}"/>
              </a:ext>
            </a:extLst>
          </p:cNvPr>
          <p:cNvGraphicFramePr>
            <a:graphicFrameLocks noGrp="1"/>
          </p:cNvGraphicFramePr>
          <p:nvPr>
            <p:extLst>
              <p:ext uri="{D42A27DB-BD31-4B8C-83A1-F6EECF244321}">
                <p14:modId xmlns:p14="http://schemas.microsoft.com/office/powerpoint/2010/main" val="1619549842"/>
              </p:ext>
            </p:extLst>
          </p:nvPr>
        </p:nvGraphicFramePr>
        <p:xfrm>
          <a:off x="838200" y="2126512"/>
          <a:ext cx="10515600" cy="3291840"/>
        </p:xfrm>
        <a:graphic>
          <a:graphicData uri="http://schemas.openxmlformats.org/drawingml/2006/table">
            <a:tbl>
              <a:tblPr firstRow="1" bandRow="1">
                <a:tableStyleId>{073A0DAA-6AF3-43AB-8588-CEC1D06C72B9}</a:tableStyleId>
              </a:tblPr>
              <a:tblGrid>
                <a:gridCol w="2311400">
                  <a:extLst>
                    <a:ext uri="{9D8B030D-6E8A-4147-A177-3AD203B41FA5}">
                      <a16:colId xmlns:a16="http://schemas.microsoft.com/office/drawing/2014/main" val="3932142899"/>
                    </a:ext>
                  </a:extLst>
                </a:gridCol>
                <a:gridCol w="8204200">
                  <a:extLst>
                    <a:ext uri="{9D8B030D-6E8A-4147-A177-3AD203B41FA5}">
                      <a16:colId xmlns:a16="http://schemas.microsoft.com/office/drawing/2014/main" val="1918376758"/>
                    </a:ext>
                  </a:extLst>
                </a:gridCol>
              </a:tblGrid>
              <a:tr h="548640">
                <a:tc>
                  <a:txBody>
                    <a:bodyPr/>
                    <a:lstStyle/>
                    <a:p>
                      <a:r>
                        <a:rPr lang="en-US" dirty="0"/>
                        <a:t>Tools</a:t>
                      </a:r>
                      <a:endParaRPr lang="en-IN" dirty="0"/>
                    </a:p>
                  </a:txBody>
                  <a:tcPr/>
                </a:tc>
                <a:tc>
                  <a:txBody>
                    <a:bodyPr/>
                    <a:lstStyle/>
                    <a:p>
                      <a:r>
                        <a:rPr lang="en-US" dirty="0"/>
                        <a:t>Purpose</a:t>
                      </a:r>
                      <a:endParaRPr lang="en-IN" dirty="0"/>
                    </a:p>
                  </a:txBody>
                  <a:tcPr/>
                </a:tc>
                <a:extLst>
                  <a:ext uri="{0D108BD9-81ED-4DB2-BD59-A6C34878D82A}">
                    <a16:rowId xmlns:a16="http://schemas.microsoft.com/office/drawing/2014/main" val="2359071040"/>
                  </a:ext>
                </a:extLst>
              </a:tr>
              <a:tr h="5486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70" i="0" dirty="0"/>
                        <a:t>CSV files, Excel </a:t>
                      </a:r>
                      <a:endParaRPr lang="en-US" sz="1870" b="1" i="0" dirty="0"/>
                    </a:p>
                  </a:txBody>
                  <a:tcPr/>
                </a:tc>
                <a:tc>
                  <a:txBody>
                    <a:bodyPr/>
                    <a:lstStyle/>
                    <a:p>
                      <a:r>
                        <a:rPr lang="en-US" sz="1870" b="0" dirty="0"/>
                        <a:t>Data Storage </a:t>
                      </a:r>
                      <a:endParaRPr lang="en-IN" sz="1870" b="0" dirty="0"/>
                    </a:p>
                  </a:txBody>
                  <a:tcPr/>
                </a:tc>
                <a:extLst>
                  <a:ext uri="{0D108BD9-81ED-4DB2-BD59-A6C34878D82A}">
                    <a16:rowId xmlns:a16="http://schemas.microsoft.com/office/drawing/2014/main" val="3331434968"/>
                  </a:ext>
                </a:extLst>
              </a:tr>
              <a:tr h="5486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70" i="0" dirty="0"/>
                        <a:t>SSMS</a:t>
                      </a:r>
                    </a:p>
                  </a:txBody>
                  <a:tcPr/>
                </a:tc>
                <a:tc>
                  <a:txBody>
                    <a:bodyPr/>
                    <a:lstStyle/>
                    <a:p>
                      <a:r>
                        <a:rPr lang="en-US" sz="1870" b="0" dirty="0"/>
                        <a:t>Data Processing </a:t>
                      </a:r>
                      <a:endParaRPr lang="en-IN" sz="1870" b="0" dirty="0"/>
                    </a:p>
                  </a:txBody>
                  <a:tcPr/>
                </a:tc>
                <a:extLst>
                  <a:ext uri="{0D108BD9-81ED-4DB2-BD59-A6C34878D82A}">
                    <a16:rowId xmlns:a16="http://schemas.microsoft.com/office/drawing/2014/main" val="3086826581"/>
                  </a:ext>
                </a:extLst>
              </a:tr>
              <a:tr h="5486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70" i="0" dirty="0"/>
                        <a:t>SQL Queries</a:t>
                      </a:r>
                      <a:endParaRPr lang="en-US" sz="1870" b="1" i="0" dirty="0"/>
                    </a:p>
                  </a:txBody>
                  <a:tcPr/>
                </a:tc>
                <a:tc>
                  <a:txBody>
                    <a:bodyPr/>
                    <a:lstStyle/>
                    <a:p>
                      <a:r>
                        <a:rPr lang="en-US" sz="1870" b="0" dirty="0"/>
                        <a:t>Analysis </a:t>
                      </a:r>
                      <a:endParaRPr lang="en-IN" sz="1870" b="0" dirty="0"/>
                    </a:p>
                  </a:txBody>
                  <a:tcPr/>
                </a:tc>
                <a:extLst>
                  <a:ext uri="{0D108BD9-81ED-4DB2-BD59-A6C34878D82A}">
                    <a16:rowId xmlns:a16="http://schemas.microsoft.com/office/drawing/2014/main" val="747181595"/>
                  </a:ext>
                </a:extLst>
              </a:tr>
              <a:tr h="5486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70" i="0" dirty="0"/>
                        <a:t>Power BI</a:t>
                      </a:r>
                      <a:endParaRPr lang="en-US" sz="1870" b="1" i="0" dirty="0"/>
                    </a:p>
                  </a:txBody>
                  <a:tcPr/>
                </a:tc>
                <a:tc>
                  <a:txBody>
                    <a:bodyPr/>
                    <a:lstStyle/>
                    <a:p>
                      <a:r>
                        <a:rPr lang="en-US" sz="1870" b="0" dirty="0"/>
                        <a:t>Visualization</a:t>
                      </a:r>
                      <a:endParaRPr lang="en-IN" sz="1870" b="0" dirty="0"/>
                    </a:p>
                  </a:txBody>
                  <a:tcPr/>
                </a:tc>
                <a:extLst>
                  <a:ext uri="{0D108BD9-81ED-4DB2-BD59-A6C34878D82A}">
                    <a16:rowId xmlns:a16="http://schemas.microsoft.com/office/drawing/2014/main" val="2416466313"/>
                  </a:ext>
                </a:extLst>
              </a:tr>
              <a:tr h="548640">
                <a:tc>
                  <a:txBody>
                    <a:bodyPr/>
                    <a:lstStyle/>
                    <a:p>
                      <a:r>
                        <a:rPr lang="en-US" sz="1870" i="0" dirty="0"/>
                        <a:t>Windows OS</a:t>
                      </a:r>
                      <a:endParaRPr lang="en-IN" sz="1870" i="0" dirty="0"/>
                    </a:p>
                  </a:txBody>
                  <a:tcPr/>
                </a:tc>
                <a:tc>
                  <a:txBody>
                    <a:bodyPr/>
                    <a:lstStyle/>
                    <a:p>
                      <a:r>
                        <a:rPr lang="en-US" sz="1870" b="0" dirty="0"/>
                        <a:t>Environment </a:t>
                      </a:r>
                      <a:endParaRPr lang="en-IN" sz="1870" b="0" dirty="0"/>
                    </a:p>
                  </a:txBody>
                  <a:tcPr/>
                </a:tc>
                <a:extLst>
                  <a:ext uri="{0D108BD9-81ED-4DB2-BD59-A6C34878D82A}">
                    <a16:rowId xmlns:a16="http://schemas.microsoft.com/office/drawing/2014/main" val="892472291"/>
                  </a:ext>
                </a:extLst>
              </a:tr>
            </a:tbl>
          </a:graphicData>
        </a:graphic>
      </p:graphicFrame>
    </p:spTree>
    <p:extLst>
      <p:ext uri="{BB962C8B-B14F-4D97-AF65-F5344CB8AC3E}">
        <p14:creationId xmlns:p14="http://schemas.microsoft.com/office/powerpoint/2010/main" val="11463003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8FB5EA2-7188-6D11-FC6D-714879330A16}"/>
              </a:ext>
            </a:extLst>
          </p:cNvPr>
          <p:cNvSpPr>
            <a:spLocks noGrp="1"/>
          </p:cNvSpPr>
          <p:nvPr>
            <p:ph type="body" idx="1"/>
          </p:nvPr>
        </p:nvSpPr>
        <p:spPr/>
        <p:txBody>
          <a:bodyPr/>
          <a:lstStyle/>
          <a:p>
            <a:endParaRPr lang="en-IN" dirty="0"/>
          </a:p>
        </p:txBody>
      </p:sp>
      <p:sp>
        <p:nvSpPr>
          <p:cNvPr id="3" name="Title 2">
            <a:extLst>
              <a:ext uri="{FF2B5EF4-FFF2-40B4-BE49-F238E27FC236}">
                <a16:creationId xmlns:a16="http://schemas.microsoft.com/office/drawing/2014/main" id="{A898D2F6-5C2C-8B42-23C3-E3DA247D3FFD}"/>
              </a:ext>
            </a:extLst>
          </p:cNvPr>
          <p:cNvSpPr>
            <a:spLocks noGrp="1"/>
          </p:cNvSpPr>
          <p:nvPr>
            <p:ph type="title"/>
          </p:nvPr>
        </p:nvSpPr>
        <p:spPr/>
        <p:txBody>
          <a:bodyPr/>
          <a:lstStyle/>
          <a:p>
            <a:pPr algn="ctr"/>
            <a:r>
              <a:rPr lang="en-US" sz="4000" dirty="0"/>
              <a:t>Customer Table Overview</a:t>
            </a:r>
            <a:endParaRPr lang="en-IN" sz="4000" dirty="0"/>
          </a:p>
        </p:txBody>
      </p:sp>
      <p:graphicFrame>
        <p:nvGraphicFramePr>
          <p:cNvPr id="7" name="Table 6">
            <a:extLst>
              <a:ext uri="{FF2B5EF4-FFF2-40B4-BE49-F238E27FC236}">
                <a16:creationId xmlns:a16="http://schemas.microsoft.com/office/drawing/2014/main" id="{C6A5D2EF-7D04-B9B3-672A-F388477B2932}"/>
              </a:ext>
            </a:extLst>
          </p:cNvPr>
          <p:cNvGraphicFramePr>
            <a:graphicFrameLocks noGrp="1"/>
          </p:cNvGraphicFramePr>
          <p:nvPr>
            <p:extLst>
              <p:ext uri="{D42A27DB-BD31-4B8C-83A1-F6EECF244321}">
                <p14:modId xmlns:p14="http://schemas.microsoft.com/office/powerpoint/2010/main" val="542085491"/>
              </p:ext>
            </p:extLst>
          </p:nvPr>
        </p:nvGraphicFramePr>
        <p:xfrm>
          <a:off x="838199" y="2023409"/>
          <a:ext cx="10515600" cy="3119820"/>
        </p:xfrm>
        <a:graphic>
          <a:graphicData uri="http://schemas.openxmlformats.org/drawingml/2006/table">
            <a:tbl>
              <a:tblPr firstRow="1" bandRow="1">
                <a:tableStyleId>{073A0DAA-6AF3-43AB-8588-CEC1D06C72B9}</a:tableStyleId>
              </a:tblPr>
              <a:tblGrid>
                <a:gridCol w="2260601">
                  <a:extLst>
                    <a:ext uri="{9D8B030D-6E8A-4147-A177-3AD203B41FA5}">
                      <a16:colId xmlns:a16="http://schemas.microsoft.com/office/drawing/2014/main" val="3694052197"/>
                    </a:ext>
                  </a:extLst>
                </a:gridCol>
                <a:gridCol w="2042160">
                  <a:extLst>
                    <a:ext uri="{9D8B030D-6E8A-4147-A177-3AD203B41FA5}">
                      <a16:colId xmlns:a16="http://schemas.microsoft.com/office/drawing/2014/main" val="2384425593"/>
                    </a:ext>
                  </a:extLst>
                </a:gridCol>
                <a:gridCol w="6212839">
                  <a:extLst>
                    <a:ext uri="{9D8B030D-6E8A-4147-A177-3AD203B41FA5}">
                      <a16:colId xmlns:a16="http://schemas.microsoft.com/office/drawing/2014/main" val="1309128023"/>
                    </a:ext>
                  </a:extLst>
                </a:gridCol>
              </a:tblGrid>
              <a:tr h="548640">
                <a:tc>
                  <a:txBody>
                    <a:bodyPr/>
                    <a:lstStyle/>
                    <a:p>
                      <a:pPr algn="ctr"/>
                      <a:r>
                        <a:rPr lang="en-US" dirty="0"/>
                        <a:t>Key Columns</a:t>
                      </a:r>
                      <a:endParaRPr lang="en-IN" dirty="0"/>
                    </a:p>
                  </a:txBody>
                  <a:tcPr/>
                </a:tc>
                <a:tc>
                  <a:txBody>
                    <a:bodyPr/>
                    <a:lstStyle/>
                    <a:p>
                      <a:pPr algn="ctr"/>
                      <a:r>
                        <a:rPr lang="en-US" dirty="0"/>
                        <a:t>Data Types</a:t>
                      </a:r>
                      <a:endParaRPr lang="en-IN" dirty="0"/>
                    </a:p>
                  </a:txBody>
                  <a:tcPr/>
                </a:tc>
                <a:tc>
                  <a:txBody>
                    <a:bodyPr/>
                    <a:lstStyle/>
                    <a:p>
                      <a:pPr algn="ctr"/>
                      <a:r>
                        <a:rPr lang="en-US" dirty="0"/>
                        <a:t>Description</a:t>
                      </a:r>
                      <a:endParaRPr lang="en-IN" dirty="0"/>
                    </a:p>
                  </a:txBody>
                  <a:tcPr/>
                </a:tc>
                <a:extLst>
                  <a:ext uri="{0D108BD9-81ED-4DB2-BD59-A6C34878D82A}">
                    <a16:rowId xmlns:a16="http://schemas.microsoft.com/office/drawing/2014/main" val="3789329335"/>
                  </a:ext>
                </a:extLst>
              </a:tr>
              <a:tr h="548640">
                <a:tc>
                  <a:txBody>
                    <a:bodyPr/>
                    <a:lstStyle/>
                    <a:p>
                      <a:pPr algn="ctr"/>
                      <a:r>
                        <a:rPr lang="en-US" dirty="0" err="1"/>
                        <a:t>Cust_id</a:t>
                      </a:r>
                      <a:endParaRPr lang="en-IN" dirty="0"/>
                    </a:p>
                  </a:txBody>
                  <a:tcPr/>
                </a:tc>
                <a:tc>
                  <a:txBody>
                    <a:bodyPr/>
                    <a:lstStyle/>
                    <a:p>
                      <a:pPr algn="ctr"/>
                      <a:r>
                        <a:rPr lang="en-US" dirty="0"/>
                        <a:t>Int</a:t>
                      </a:r>
                      <a:endParaRPr lang="en-IN" dirty="0"/>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870" dirty="0"/>
                        <a:t>Unique ID of customer</a:t>
                      </a:r>
                    </a:p>
                    <a:p>
                      <a:pPr algn="ctr"/>
                      <a:endParaRPr lang="en-IN" dirty="0"/>
                    </a:p>
                  </a:txBody>
                  <a:tcPr/>
                </a:tc>
                <a:extLst>
                  <a:ext uri="{0D108BD9-81ED-4DB2-BD59-A6C34878D82A}">
                    <a16:rowId xmlns:a16="http://schemas.microsoft.com/office/drawing/2014/main" val="855419202"/>
                  </a:ext>
                </a:extLst>
              </a:tr>
              <a:tr h="548640">
                <a:tc>
                  <a:txBody>
                    <a:bodyPr/>
                    <a:lstStyle/>
                    <a:p>
                      <a:pPr algn="ctr"/>
                      <a:r>
                        <a:rPr lang="en-US" dirty="0" err="1"/>
                        <a:t>Customer_city</a:t>
                      </a:r>
                      <a:endParaRPr lang="en-US" dirty="0"/>
                    </a:p>
                    <a:p>
                      <a:pPr algn="ctr"/>
                      <a:endParaRPr lang="en-IN" dirty="0"/>
                    </a:p>
                  </a:txBody>
                  <a:tcPr/>
                </a:tc>
                <a:tc>
                  <a:txBody>
                    <a:bodyPr/>
                    <a:lstStyle/>
                    <a:p>
                      <a:pPr algn="ctr"/>
                      <a:r>
                        <a:rPr lang="en-US" dirty="0"/>
                        <a:t>Varchar</a:t>
                      </a:r>
                      <a:endParaRPr lang="en-IN" dirty="0"/>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2000" dirty="0"/>
                        <a:t>City from where customer belong</a:t>
                      </a:r>
                    </a:p>
                    <a:p>
                      <a:pPr algn="ctr"/>
                      <a:endParaRPr lang="en-IN" dirty="0"/>
                    </a:p>
                  </a:txBody>
                  <a:tcPr/>
                </a:tc>
                <a:extLst>
                  <a:ext uri="{0D108BD9-81ED-4DB2-BD59-A6C34878D82A}">
                    <a16:rowId xmlns:a16="http://schemas.microsoft.com/office/drawing/2014/main" val="1712221699"/>
                  </a:ext>
                </a:extLst>
              </a:tr>
              <a:tr h="548640">
                <a:tc>
                  <a:txBody>
                    <a:bodyPr/>
                    <a:lstStyle/>
                    <a:p>
                      <a:pPr algn="ctr"/>
                      <a:r>
                        <a:rPr lang="en-US" dirty="0" err="1"/>
                        <a:t>Customer_state</a:t>
                      </a:r>
                      <a:endParaRPr lang="en-IN" dirty="0"/>
                    </a:p>
                  </a:txBody>
                  <a:tcPr/>
                </a:tc>
                <a:tc>
                  <a:txBody>
                    <a:bodyPr/>
                    <a:lstStyle/>
                    <a:p>
                      <a:pPr algn="ctr"/>
                      <a:r>
                        <a:rPr lang="en-US" dirty="0"/>
                        <a:t>Varchar</a:t>
                      </a:r>
                      <a:endParaRPr lang="en-IN" dirty="0"/>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2000" dirty="0"/>
                        <a:t>State from where customer belong</a:t>
                      </a:r>
                    </a:p>
                    <a:p>
                      <a:pPr algn="ctr"/>
                      <a:endParaRPr lang="en-IN" dirty="0"/>
                    </a:p>
                  </a:txBody>
                  <a:tcPr/>
                </a:tc>
                <a:extLst>
                  <a:ext uri="{0D108BD9-81ED-4DB2-BD59-A6C34878D82A}">
                    <a16:rowId xmlns:a16="http://schemas.microsoft.com/office/drawing/2014/main" val="897061084"/>
                  </a:ext>
                </a:extLst>
              </a:tr>
              <a:tr h="548640">
                <a:tc>
                  <a:txBody>
                    <a:bodyPr/>
                    <a:lstStyle/>
                    <a:p>
                      <a:pPr algn="ctr"/>
                      <a:r>
                        <a:rPr lang="en-US" dirty="0"/>
                        <a:t>Gender</a:t>
                      </a:r>
                      <a:endParaRPr lang="en-IN" dirty="0"/>
                    </a:p>
                  </a:txBody>
                  <a:tcPr/>
                </a:tc>
                <a:tc>
                  <a:txBody>
                    <a:bodyPr/>
                    <a:lstStyle/>
                    <a:p>
                      <a:pPr algn="ctr"/>
                      <a:r>
                        <a:rPr lang="en-US" dirty="0"/>
                        <a:t>Varchar</a:t>
                      </a:r>
                      <a:endParaRPr lang="en-IN" dirty="0"/>
                    </a:p>
                  </a:txBody>
                  <a:tcPr/>
                </a:tc>
                <a:tc>
                  <a:txBody>
                    <a:bodyPr/>
                    <a:lstStyle/>
                    <a:p>
                      <a:pPr algn="ctr"/>
                      <a:r>
                        <a:rPr lang="en-IN" sz="2000" dirty="0"/>
                        <a:t>Gender of customer</a:t>
                      </a:r>
                      <a:endParaRPr lang="en-IN" dirty="0"/>
                    </a:p>
                  </a:txBody>
                  <a:tcPr/>
                </a:tc>
                <a:extLst>
                  <a:ext uri="{0D108BD9-81ED-4DB2-BD59-A6C34878D82A}">
                    <a16:rowId xmlns:a16="http://schemas.microsoft.com/office/drawing/2014/main" val="385771715"/>
                  </a:ext>
                </a:extLst>
              </a:tr>
            </a:tbl>
          </a:graphicData>
        </a:graphic>
      </p:graphicFrame>
    </p:spTree>
    <p:extLst>
      <p:ext uri="{BB962C8B-B14F-4D97-AF65-F5344CB8AC3E}">
        <p14:creationId xmlns:p14="http://schemas.microsoft.com/office/powerpoint/2010/main" val="27634870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708BC8-7A96-C57D-A595-B0D0330E96D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C20708C-6A93-910C-974B-A5552481564F}"/>
              </a:ext>
            </a:extLst>
          </p:cNvPr>
          <p:cNvSpPr>
            <a:spLocks noGrp="1"/>
          </p:cNvSpPr>
          <p:nvPr>
            <p:ph type="body" idx="1"/>
          </p:nvPr>
        </p:nvSpPr>
        <p:spPr/>
        <p:txBody>
          <a:bodyPr/>
          <a:lstStyle/>
          <a:p>
            <a:endParaRPr lang="en-IN" dirty="0"/>
          </a:p>
        </p:txBody>
      </p:sp>
      <p:sp>
        <p:nvSpPr>
          <p:cNvPr id="3" name="Title 2">
            <a:extLst>
              <a:ext uri="{FF2B5EF4-FFF2-40B4-BE49-F238E27FC236}">
                <a16:creationId xmlns:a16="http://schemas.microsoft.com/office/drawing/2014/main" id="{E5199DA3-AEB4-D496-8544-9CFF32C099F3}"/>
              </a:ext>
            </a:extLst>
          </p:cNvPr>
          <p:cNvSpPr>
            <a:spLocks noGrp="1"/>
          </p:cNvSpPr>
          <p:nvPr>
            <p:ph type="title"/>
          </p:nvPr>
        </p:nvSpPr>
        <p:spPr/>
        <p:txBody>
          <a:bodyPr/>
          <a:lstStyle/>
          <a:p>
            <a:pPr algn="ctr"/>
            <a:r>
              <a:rPr lang="en-US" sz="4000" dirty="0"/>
              <a:t>Orders Table Overview(1/2)</a:t>
            </a:r>
            <a:endParaRPr lang="en-IN" sz="4000" dirty="0"/>
          </a:p>
        </p:txBody>
      </p:sp>
      <p:graphicFrame>
        <p:nvGraphicFramePr>
          <p:cNvPr id="7" name="Table 6">
            <a:extLst>
              <a:ext uri="{FF2B5EF4-FFF2-40B4-BE49-F238E27FC236}">
                <a16:creationId xmlns:a16="http://schemas.microsoft.com/office/drawing/2014/main" id="{2267422D-C7C4-C53D-96C4-C1F746D9B726}"/>
              </a:ext>
            </a:extLst>
          </p:cNvPr>
          <p:cNvGraphicFramePr>
            <a:graphicFrameLocks noGrp="1"/>
          </p:cNvGraphicFramePr>
          <p:nvPr>
            <p:extLst>
              <p:ext uri="{D42A27DB-BD31-4B8C-83A1-F6EECF244321}">
                <p14:modId xmlns:p14="http://schemas.microsoft.com/office/powerpoint/2010/main" val="824692619"/>
              </p:ext>
            </p:extLst>
          </p:nvPr>
        </p:nvGraphicFramePr>
        <p:xfrm>
          <a:off x="838200" y="2023409"/>
          <a:ext cx="10515600" cy="3840480"/>
        </p:xfrm>
        <a:graphic>
          <a:graphicData uri="http://schemas.openxmlformats.org/drawingml/2006/table">
            <a:tbl>
              <a:tblPr firstRow="1" bandRow="1">
                <a:tableStyleId>{073A0DAA-6AF3-43AB-8588-CEC1D06C72B9}</a:tableStyleId>
              </a:tblPr>
              <a:tblGrid>
                <a:gridCol w="2332703">
                  <a:extLst>
                    <a:ext uri="{9D8B030D-6E8A-4147-A177-3AD203B41FA5}">
                      <a16:colId xmlns:a16="http://schemas.microsoft.com/office/drawing/2014/main" val="3694052197"/>
                    </a:ext>
                  </a:extLst>
                </a:gridCol>
                <a:gridCol w="2041177">
                  <a:extLst>
                    <a:ext uri="{9D8B030D-6E8A-4147-A177-3AD203B41FA5}">
                      <a16:colId xmlns:a16="http://schemas.microsoft.com/office/drawing/2014/main" val="2384425593"/>
                    </a:ext>
                  </a:extLst>
                </a:gridCol>
                <a:gridCol w="6141720">
                  <a:extLst>
                    <a:ext uri="{9D8B030D-6E8A-4147-A177-3AD203B41FA5}">
                      <a16:colId xmlns:a16="http://schemas.microsoft.com/office/drawing/2014/main" val="3874597801"/>
                    </a:ext>
                  </a:extLst>
                </a:gridCol>
              </a:tblGrid>
              <a:tr h="548640">
                <a:tc>
                  <a:txBody>
                    <a:bodyPr/>
                    <a:lstStyle/>
                    <a:p>
                      <a:pPr algn="ctr"/>
                      <a:r>
                        <a:rPr lang="en-US" dirty="0"/>
                        <a:t>Key Columns</a:t>
                      </a:r>
                      <a:endParaRPr lang="en-IN" dirty="0"/>
                    </a:p>
                  </a:txBody>
                  <a:tcPr/>
                </a:tc>
                <a:tc>
                  <a:txBody>
                    <a:bodyPr/>
                    <a:lstStyle/>
                    <a:p>
                      <a:pPr algn="ctr"/>
                      <a:r>
                        <a:rPr lang="en-US" dirty="0"/>
                        <a:t>Data Types</a:t>
                      </a:r>
                      <a:endParaRPr lang="en-IN" dirty="0"/>
                    </a:p>
                  </a:txBody>
                  <a:tcPr/>
                </a:tc>
                <a:tc>
                  <a:txBody>
                    <a:bodyPr/>
                    <a:lstStyle/>
                    <a:p>
                      <a:pPr algn="ctr"/>
                      <a:r>
                        <a:rPr lang="en-US" dirty="0"/>
                        <a:t>Description</a:t>
                      </a:r>
                      <a:endParaRPr lang="en-IN" dirty="0"/>
                    </a:p>
                  </a:txBody>
                  <a:tcPr/>
                </a:tc>
                <a:extLst>
                  <a:ext uri="{0D108BD9-81ED-4DB2-BD59-A6C34878D82A}">
                    <a16:rowId xmlns:a16="http://schemas.microsoft.com/office/drawing/2014/main" val="3789329335"/>
                  </a:ext>
                </a:extLst>
              </a:tr>
              <a:tr h="548640">
                <a:tc>
                  <a:txBody>
                    <a:bodyPr/>
                    <a:lstStyle/>
                    <a:p>
                      <a:pPr algn="ctr"/>
                      <a:r>
                        <a:rPr lang="en-US" dirty="0"/>
                        <a:t>Order id</a:t>
                      </a:r>
                      <a:endParaRPr lang="en-IN" dirty="0"/>
                    </a:p>
                  </a:txBody>
                  <a:tcPr/>
                </a:tc>
                <a:tc>
                  <a:txBody>
                    <a:bodyPr/>
                    <a:lstStyle/>
                    <a:p>
                      <a:pPr algn="ctr"/>
                      <a:r>
                        <a:rPr lang="en-US" dirty="0"/>
                        <a:t>Varchar</a:t>
                      </a:r>
                      <a:endParaRPr lang="en-IN" dirty="0"/>
                    </a:p>
                  </a:txBody>
                  <a:tcPr/>
                </a:tc>
                <a:tc>
                  <a:txBody>
                    <a:bodyPr/>
                    <a:lstStyle/>
                    <a:p>
                      <a:pPr algn="ctr"/>
                      <a:r>
                        <a:rPr lang="en-US" dirty="0"/>
                        <a:t>Unique identifier for orders</a:t>
                      </a:r>
                      <a:endParaRPr lang="en-IN" dirty="0"/>
                    </a:p>
                  </a:txBody>
                  <a:tcPr/>
                </a:tc>
                <a:extLst>
                  <a:ext uri="{0D108BD9-81ED-4DB2-BD59-A6C34878D82A}">
                    <a16:rowId xmlns:a16="http://schemas.microsoft.com/office/drawing/2014/main" val="855419202"/>
                  </a:ext>
                </a:extLst>
              </a:tr>
              <a:tr h="548640">
                <a:tc>
                  <a:txBody>
                    <a:bodyPr/>
                    <a:lstStyle/>
                    <a:p>
                      <a:pPr algn="ctr"/>
                      <a:r>
                        <a:rPr lang="en-US" dirty="0"/>
                        <a:t>Customer id</a:t>
                      </a:r>
                      <a:endParaRPr lang="en-IN" dirty="0"/>
                    </a:p>
                  </a:txBody>
                  <a:tcPr/>
                </a:tc>
                <a:tc>
                  <a:txBody>
                    <a:bodyPr/>
                    <a:lstStyle/>
                    <a:p>
                      <a:pPr algn="ctr"/>
                      <a:r>
                        <a:rPr lang="en-US" dirty="0"/>
                        <a:t>Int</a:t>
                      </a:r>
                      <a:endParaRPr lang="en-IN" dirty="0"/>
                    </a:p>
                  </a:txBody>
                  <a:tcPr/>
                </a:tc>
                <a:tc>
                  <a:txBody>
                    <a:bodyPr/>
                    <a:lstStyle/>
                    <a:p>
                      <a:pPr algn="ctr"/>
                      <a:r>
                        <a:rPr lang="en-US" dirty="0"/>
                        <a:t>Id of customer who placed order</a:t>
                      </a:r>
                      <a:endParaRPr lang="en-IN" dirty="0"/>
                    </a:p>
                  </a:txBody>
                  <a:tcPr/>
                </a:tc>
                <a:extLst>
                  <a:ext uri="{0D108BD9-81ED-4DB2-BD59-A6C34878D82A}">
                    <a16:rowId xmlns:a16="http://schemas.microsoft.com/office/drawing/2014/main" val="1712221699"/>
                  </a:ext>
                </a:extLst>
              </a:tr>
              <a:tr h="548640">
                <a:tc>
                  <a:txBody>
                    <a:bodyPr/>
                    <a:lstStyle/>
                    <a:p>
                      <a:pPr algn="ctr"/>
                      <a:r>
                        <a:rPr lang="en-US" dirty="0"/>
                        <a:t>Product id</a:t>
                      </a:r>
                      <a:endParaRPr lang="en-IN" dirty="0"/>
                    </a:p>
                  </a:txBody>
                  <a:tcPr/>
                </a:tc>
                <a:tc>
                  <a:txBody>
                    <a:bodyPr/>
                    <a:lstStyle/>
                    <a:p>
                      <a:pPr algn="ctr"/>
                      <a:r>
                        <a:rPr lang="en-US" dirty="0"/>
                        <a:t>Varchar</a:t>
                      </a:r>
                      <a:endParaRPr lang="en-IN" dirty="0"/>
                    </a:p>
                  </a:txBody>
                  <a:tcPr/>
                </a:tc>
                <a:tc>
                  <a:txBody>
                    <a:bodyPr/>
                    <a:lstStyle/>
                    <a:p>
                      <a:pPr algn="ctr"/>
                      <a:r>
                        <a:rPr lang="en-US" dirty="0"/>
                        <a:t>Id of product which is ordered</a:t>
                      </a:r>
                      <a:endParaRPr lang="en-IN" dirty="0"/>
                    </a:p>
                  </a:txBody>
                  <a:tcPr/>
                </a:tc>
                <a:extLst>
                  <a:ext uri="{0D108BD9-81ED-4DB2-BD59-A6C34878D82A}">
                    <a16:rowId xmlns:a16="http://schemas.microsoft.com/office/drawing/2014/main" val="897061084"/>
                  </a:ext>
                </a:extLst>
              </a:tr>
              <a:tr h="548640">
                <a:tc>
                  <a:txBody>
                    <a:bodyPr/>
                    <a:lstStyle/>
                    <a:p>
                      <a:pPr algn="ctr"/>
                      <a:r>
                        <a:rPr lang="en-US" dirty="0"/>
                        <a:t>Channel</a:t>
                      </a:r>
                      <a:endParaRPr lang="en-IN" dirty="0"/>
                    </a:p>
                  </a:txBody>
                  <a:tcPr/>
                </a:tc>
                <a:tc>
                  <a:txBody>
                    <a:bodyPr/>
                    <a:lstStyle/>
                    <a:p>
                      <a:pPr algn="ctr"/>
                      <a:r>
                        <a:rPr lang="en-US" dirty="0"/>
                        <a:t>Varchar</a:t>
                      </a:r>
                      <a:endParaRPr lang="en-IN" dirty="0"/>
                    </a:p>
                  </a:txBody>
                  <a:tcPr/>
                </a:tc>
                <a:tc>
                  <a:txBody>
                    <a:bodyPr/>
                    <a:lstStyle/>
                    <a:p>
                      <a:pPr algn="ctr"/>
                      <a:r>
                        <a:rPr lang="en-US" dirty="0"/>
                        <a:t>Channel by which order is placed</a:t>
                      </a:r>
                      <a:endParaRPr lang="en-IN" dirty="0"/>
                    </a:p>
                  </a:txBody>
                  <a:tcPr/>
                </a:tc>
                <a:extLst>
                  <a:ext uri="{0D108BD9-81ED-4DB2-BD59-A6C34878D82A}">
                    <a16:rowId xmlns:a16="http://schemas.microsoft.com/office/drawing/2014/main" val="385771715"/>
                  </a:ext>
                </a:extLst>
              </a:tr>
              <a:tr h="548640">
                <a:tc>
                  <a:txBody>
                    <a:bodyPr/>
                    <a:lstStyle/>
                    <a:p>
                      <a:pPr algn="ctr"/>
                      <a:r>
                        <a:rPr lang="en-US" dirty="0"/>
                        <a:t>Delivered </a:t>
                      </a:r>
                      <a:r>
                        <a:rPr lang="en-US" dirty="0" err="1"/>
                        <a:t>StoreID</a:t>
                      </a:r>
                      <a:endParaRPr lang="en-IN" dirty="0"/>
                    </a:p>
                  </a:txBody>
                  <a:tcPr/>
                </a:tc>
                <a:tc>
                  <a:txBody>
                    <a:bodyPr/>
                    <a:lstStyle/>
                    <a:p>
                      <a:pPr algn="ctr"/>
                      <a:r>
                        <a:rPr lang="en-US" dirty="0"/>
                        <a:t>Varchar</a:t>
                      </a:r>
                      <a:endParaRPr lang="en-IN" dirty="0"/>
                    </a:p>
                  </a:txBody>
                  <a:tcPr/>
                </a:tc>
                <a:tc>
                  <a:txBody>
                    <a:bodyPr/>
                    <a:lstStyle/>
                    <a:p>
                      <a:pPr algn="ctr"/>
                      <a:r>
                        <a:rPr lang="en-US" dirty="0"/>
                        <a:t>ID of store at which order is placed</a:t>
                      </a:r>
                      <a:endParaRPr lang="en-IN" dirty="0"/>
                    </a:p>
                  </a:txBody>
                  <a:tcPr/>
                </a:tc>
                <a:extLst>
                  <a:ext uri="{0D108BD9-81ED-4DB2-BD59-A6C34878D82A}">
                    <a16:rowId xmlns:a16="http://schemas.microsoft.com/office/drawing/2014/main" val="2393883975"/>
                  </a:ext>
                </a:extLst>
              </a:tr>
              <a:tr h="548640">
                <a:tc>
                  <a:txBody>
                    <a:bodyPr/>
                    <a:lstStyle/>
                    <a:p>
                      <a:pPr algn="ctr"/>
                      <a:r>
                        <a:rPr lang="en-US" dirty="0" err="1"/>
                        <a:t>Bill_date_timestamp</a:t>
                      </a:r>
                      <a:endParaRPr lang="en-IN" dirty="0"/>
                    </a:p>
                  </a:txBody>
                  <a:tcPr/>
                </a:tc>
                <a:tc>
                  <a:txBody>
                    <a:bodyPr/>
                    <a:lstStyle/>
                    <a:p>
                      <a:pPr algn="ctr"/>
                      <a:r>
                        <a:rPr lang="en-US" dirty="0"/>
                        <a:t>datetime</a:t>
                      </a:r>
                      <a:endParaRPr lang="en-IN" dirty="0"/>
                    </a:p>
                  </a:txBody>
                  <a:tcPr/>
                </a:tc>
                <a:tc>
                  <a:txBody>
                    <a:bodyPr/>
                    <a:lstStyle/>
                    <a:p>
                      <a:pPr algn="ctr"/>
                      <a:r>
                        <a:rPr lang="en-US" dirty="0"/>
                        <a:t>Date timestamp of order</a:t>
                      </a:r>
                      <a:endParaRPr lang="en-IN" dirty="0"/>
                    </a:p>
                  </a:txBody>
                  <a:tcPr/>
                </a:tc>
                <a:extLst>
                  <a:ext uri="{0D108BD9-81ED-4DB2-BD59-A6C34878D82A}">
                    <a16:rowId xmlns:a16="http://schemas.microsoft.com/office/drawing/2014/main" val="3310065695"/>
                  </a:ext>
                </a:extLst>
              </a:tr>
            </a:tbl>
          </a:graphicData>
        </a:graphic>
      </p:graphicFrame>
    </p:spTree>
    <p:extLst>
      <p:ext uri="{BB962C8B-B14F-4D97-AF65-F5344CB8AC3E}">
        <p14:creationId xmlns:p14="http://schemas.microsoft.com/office/powerpoint/2010/main" val="32640343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02F41A-9107-EC1C-6243-377B434C6F88}"/>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C7086F5-C2BD-AD7C-16EC-4BD0384E7EB7}"/>
              </a:ext>
            </a:extLst>
          </p:cNvPr>
          <p:cNvSpPr>
            <a:spLocks noGrp="1"/>
          </p:cNvSpPr>
          <p:nvPr>
            <p:ph type="body" idx="1"/>
          </p:nvPr>
        </p:nvSpPr>
        <p:spPr/>
        <p:txBody>
          <a:bodyPr/>
          <a:lstStyle/>
          <a:p>
            <a:endParaRPr lang="en-IN" dirty="0"/>
          </a:p>
        </p:txBody>
      </p:sp>
      <p:sp>
        <p:nvSpPr>
          <p:cNvPr id="3" name="Title 2">
            <a:extLst>
              <a:ext uri="{FF2B5EF4-FFF2-40B4-BE49-F238E27FC236}">
                <a16:creationId xmlns:a16="http://schemas.microsoft.com/office/drawing/2014/main" id="{E6AFD4EC-A4CE-2A64-C85E-550792A40489}"/>
              </a:ext>
            </a:extLst>
          </p:cNvPr>
          <p:cNvSpPr>
            <a:spLocks noGrp="1"/>
          </p:cNvSpPr>
          <p:nvPr>
            <p:ph type="title"/>
          </p:nvPr>
        </p:nvSpPr>
        <p:spPr/>
        <p:txBody>
          <a:bodyPr/>
          <a:lstStyle/>
          <a:p>
            <a:pPr algn="ctr"/>
            <a:r>
              <a:rPr lang="en-US" sz="4000" dirty="0"/>
              <a:t>Orders Table Overview(2/2)</a:t>
            </a:r>
            <a:endParaRPr lang="en-IN" sz="4000" dirty="0"/>
          </a:p>
        </p:txBody>
      </p:sp>
      <p:graphicFrame>
        <p:nvGraphicFramePr>
          <p:cNvPr id="7" name="Table 6">
            <a:extLst>
              <a:ext uri="{FF2B5EF4-FFF2-40B4-BE49-F238E27FC236}">
                <a16:creationId xmlns:a16="http://schemas.microsoft.com/office/drawing/2014/main" id="{B7B87B8C-C285-BDF6-9C80-3B85909061C7}"/>
              </a:ext>
            </a:extLst>
          </p:cNvPr>
          <p:cNvGraphicFramePr>
            <a:graphicFrameLocks noGrp="1"/>
          </p:cNvGraphicFramePr>
          <p:nvPr>
            <p:extLst>
              <p:ext uri="{D42A27DB-BD31-4B8C-83A1-F6EECF244321}">
                <p14:modId xmlns:p14="http://schemas.microsoft.com/office/powerpoint/2010/main" val="4174342750"/>
              </p:ext>
            </p:extLst>
          </p:nvPr>
        </p:nvGraphicFramePr>
        <p:xfrm>
          <a:off x="838200" y="2023409"/>
          <a:ext cx="10515600" cy="3291840"/>
        </p:xfrm>
        <a:graphic>
          <a:graphicData uri="http://schemas.openxmlformats.org/drawingml/2006/table">
            <a:tbl>
              <a:tblPr firstRow="1" bandRow="1">
                <a:tableStyleId>{073A0DAA-6AF3-43AB-8588-CEC1D06C72B9}</a:tableStyleId>
              </a:tblPr>
              <a:tblGrid>
                <a:gridCol w="2037080">
                  <a:extLst>
                    <a:ext uri="{9D8B030D-6E8A-4147-A177-3AD203B41FA5}">
                      <a16:colId xmlns:a16="http://schemas.microsoft.com/office/drawing/2014/main" val="3694052197"/>
                    </a:ext>
                  </a:extLst>
                </a:gridCol>
                <a:gridCol w="2336800">
                  <a:extLst>
                    <a:ext uri="{9D8B030D-6E8A-4147-A177-3AD203B41FA5}">
                      <a16:colId xmlns:a16="http://schemas.microsoft.com/office/drawing/2014/main" val="2384425593"/>
                    </a:ext>
                  </a:extLst>
                </a:gridCol>
                <a:gridCol w="6141720">
                  <a:extLst>
                    <a:ext uri="{9D8B030D-6E8A-4147-A177-3AD203B41FA5}">
                      <a16:colId xmlns:a16="http://schemas.microsoft.com/office/drawing/2014/main" val="3874597801"/>
                    </a:ext>
                  </a:extLst>
                </a:gridCol>
              </a:tblGrid>
              <a:tr h="548640">
                <a:tc>
                  <a:txBody>
                    <a:bodyPr/>
                    <a:lstStyle/>
                    <a:p>
                      <a:pPr algn="ctr"/>
                      <a:r>
                        <a:rPr lang="en-US" dirty="0"/>
                        <a:t>Key Columns</a:t>
                      </a:r>
                      <a:endParaRPr lang="en-IN" dirty="0"/>
                    </a:p>
                  </a:txBody>
                  <a:tcPr/>
                </a:tc>
                <a:tc>
                  <a:txBody>
                    <a:bodyPr/>
                    <a:lstStyle/>
                    <a:p>
                      <a:pPr algn="ctr"/>
                      <a:r>
                        <a:rPr lang="en-US" dirty="0"/>
                        <a:t>Data Types</a:t>
                      </a:r>
                      <a:endParaRPr lang="en-IN" dirty="0"/>
                    </a:p>
                  </a:txBody>
                  <a:tcPr/>
                </a:tc>
                <a:tc>
                  <a:txBody>
                    <a:bodyPr/>
                    <a:lstStyle/>
                    <a:p>
                      <a:pPr algn="ctr"/>
                      <a:r>
                        <a:rPr lang="en-US" dirty="0"/>
                        <a:t>Description</a:t>
                      </a:r>
                      <a:endParaRPr lang="en-IN" dirty="0"/>
                    </a:p>
                  </a:txBody>
                  <a:tcPr/>
                </a:tc>
                <a:extLst>
                  <a:ext uri="{0D108BD9-81ED-4DB2-BD59-A6C34878D82A}">
                    <a16:rowId xmlns:a16="http://schemas.microsoft.com/office/drawing/2014/main" val="3789329335"/>
                  </a:ext>
                </a:extLst>
              </a:tr>
              <a:tr h="548640">
                <a:tc>
                  <a:txBody>
                    <a:bodyPr/>
                    <a:lstStyle/>
                    <a:p>
                      <a:pPr algn="ctr"/>
                      <a:r>
                        <a:rPr lang="en-US" dirty="0"/>
                        <a:t>Quantity</a:t>
                      </a:r>
                      <a:endParaRPr lang="en-IN" dirty="0"/>
                    </a:p>
                  </a:txBody>
                  <a:tcPr/>
                </a:tc>
                <a:tc>
                  <a:txBody>
                    <a:bodyPr/>
                    <a:lstStyle/>
                    <a:p>
                      <a:pPr algn="ctr"/>
                      <a:r>
                        <a:rPr lang="en-US" dirty="0"/>
                        <a:t>Int</a:t>
                      </a:r>
                      <a:endParaRPr lang="en-IN" dirty="0"/>
                    </a:p>
                  </a:txBody>
                  <a:tcPr/>
                </a:tc>
                <a:tc>
                  <a:txBody>
                    <a:bodyPr/>
                    <a:lstStyle/>
                    <a:p>
                      <a:pPr algn="ctr"/>
                      <a:r>
                        <a:rPr lang="en-US" dirty="0"/>
                        <a:t>Quantity of product which is ordered</a:t>
                      </a:r>
                      <a:endParaRPr lang="en-IN" dirty="0"/>
                    </a:p>
                  </a:txBody>
                  <a:tcPr/>
                </a:tc>
                <a:extLst>
                  <a:ext uri="{0D108BD9-81ED-4DB2-BD59-A6C34878D82A}">
                    <a16:rowId xmlns:a16="http://schemas.microsoft.com/office/drawing/2014/main" val="855419202"/>
                  </a:ext>
                </a:extLst>
              </a:tr>
              <a:tr h="548640">
                <a:tc>
                  <a:txBody>
                    <a:bodyPr/>
                    <a:lstStyle/>
                    <a:p>
                      <a:pPr algn="ctr"/>
                      <a:r>
                        <a:rPr lang="en-US" dirty="0" err="1"/>
                        <a:t>Cost_Per_Unit</a:t>
                      </a:r>
                      <a:endParaRPr lang="en-IN" dirty="0"/>
                    </a:p>
                  </a:txBody>
                  <a:tcPr/>
                </a:tc>
                <a:tc>
                  <a:txBody>
                    <a:bodyPr/>
                    <a:lstStyle/>
                    <a:p>
                      <a:pPr algn="ctr"/>
                      <a:r>
                        <a:rPr lang="en-US" dirty="0"/>
                        <a:t>Float</a:t>
                      </a:r>
                      <a:endParaRPr lang="en-IN" dirty="0"/>
                    </a:p>
                  </a:txBody>
                  <a:tcPr/>
                </a:tc>
                <a:tc>
                  <a:txBody>
                    <a:bodyPr/>
                    <a:lstStyle/>
                    <a:p>
                      <a:pPr algn="ctr"/>
                      <a:r>
                        <a:rPr lang="en-US" dirty="0"/>
                        <a:t>Cost of per unit product</a:t>
                      </a:r>
                      <a:endParaRPr lang="en-IN" dirty="0"/>
                    </a:p>
                  </a:txBody>
                  <a:tcPr/>
                </a:tc>
                <a:extLst>
                  <a:ext uri="{0D108BD9-81ED-4DB2-BD59-A6C34878D82A}">
                    <a16:rowId xmlns:a16="http://schemas.microsoft.com/office/drawing/2014/main" val="1712221699"/>
                  </a:ext>
                </a:extLst>
              </a:tr>
              <a:tr h="548640">
                <a:tc>
                  <a:txBody>
                    <a:bodyPr/>
                    <a:lstStyle/>
                    <a:p>
                      <a:pPr algn="ctr"/>
                      <a:r>
                        <a:rPr lang="en-US" dirty="0"/>
                        <a:t>MRP</a:t>
                      </a:r>
                      <a:endParaRPr lang="en-IN" dirty="0"/>
                    </a:p>
                  </a:txBody>
                  <a:tcPr/>
                </a:tc>
                <a:tc>
                  <a:txBody>
                    <a:bodyPr/>
                    <a:lstStyle/>
                    <a:p>
                      <a:pPr algn="ctr"/>
                      <a:r>
                        <a:rPr lang="en-US" dirty="0"/>
                        <a:t>Float</a:t>
                      </a:r>
                      <a:endParaRPr lang="en-IN" dirty="0"/>
                    </a:p>
                  </a:txBody>
                  <a:tcPr/>
                </a:tc>
                <a:tc>
                  <a:txBody>
                    <a:bodyPr/>
                    <a:lstStyle/>
                    <a:p>
                      <a:pPr algn="ctr"/>
                      <a:r>
                        <a:rPr lang="en-US" dirty="0"/>
                        <a:t>Maximum Retail Price of product</a:t>
                      </a:r>
                      <a:endParaRPr lang="en-IN" dirty="0"/>
                    </a:p>
                  </a:txBody>
                  <a:tcPr/>
                </a:tc>
                <a:extLst>
                  <a:ext uri="{0D108BD9-81ED-4DB2-BD59-A6C34878D82A}">
                    <a16:rowId xmlns:a16="http://schemas.microsoft.com/office/drawing/2014/main" val="897061084"/>
                  </a:ext>
                </a:extLst>
              </a:tr>
              <a:tr h="548640">
                <a:tc>
                  <a:txBody>
                    <a:bodyPr/>
                    <a:lstStyle/>
                    <a:p>
                      <a:pPr algn="ctr"/>
                      <a:r>
                        <a:rPr lang="en-US" dirty="0"/>
                        <a:t>Discount</a:t>
                      </a:r>
                      <a:endParaRPr lang="en-IN" dirty="0"/>
                    </a:p>
                  </a:txBody>
                  <a:tcPr/>
                </a:tc>
                <a:tc>
                  <a:txBody>
                    <a:bodyPr/>
                    <a:lstStyle/>
                    <a:p>
                      <a:pPr algn="ctr"/>
                      <a:r>
                        <a:rPr lang="en-US" dirty="0"/>
                        <a:t>Int</a:t>
                      </a:r>
                      <a:endParaRPr lang="en-IN" dirty="0"/>
                    </a:p>
                  </a:txBody>
                  <a:tcPr/>
                </a:tc>
                <a:tc>
                  <a:txBody>
                    <a:bodyPr/>
                    <a:lstStyle/>
                    <a:p>
                      <a:pPr algn="ctr"/>
                      <a:r>
                        <a:rPr lang="en-US" dirty="0"/>
                        <a:t>Discount Per Unit applied for order </a:t>
                      </a:r>
                      <a:endParaRPr lang="en-IN" dirty="0"/>
                    </a:p>
                  </a:txBody>
                  <a:tcPr/>
                </a:tc>
                <a:extLst>
                  <a:ext uri="{0D108BD9-81ED-4DB2-BD59-A6C34878D82A}">
                    <a16:rowId xmlns:a16="http://schemas.microsoft.com/office/drawing/2014/main" val="385771715"/>
                  </a:ext>
                </a:extLst>
              </a:tr>
              <a:tr h="548640">
                <a:tc>
                  <a:txBody>
                    <a:bodyPr/>
                    <a:lstStyle/>
                    <a:p>
                      <a:pPr algn="ctr"/>
                      <a:r>
                        <a:rPr lang="en-US" dirty="0" err="1"/>
                        <a:t>Total_Amount</a:t>
                      </a:r>
                      <a:endParaRPr lang="en-IN" dirty="0"/>
                    </a:p>
                  </a:txBody>
                  <a:tcPr/>
                </a:tc>
                <a:tc>
                  <a:txBody>
                    <a:bodyPr/>
                    <a:lstStyle/>
                    <a:p>
                      <a:pPr algn="ctr"/>
                      <a:r>
                        <a:rPr lang="en-US" dirty="0"/>
                        <a:t>Float</a:t>
                      </a:r>
                      <a:endParaRPr lang="en-IN" dirty="0"/>
                    </a:p>
                  </a:txBody>
                  <a:tcPr/>
                </a:tc>
                <a:tc>
                  <a:txBody>
                    <a:bodyPr/>
                    <a:lstStyle/>
                    <a:p>
                      <a:pPr algn="ctr"/>
                      <a:r>
                        <a:rPr lang="en-US" dirty="0"/>
                        <a:t>Total payable amount</a:t>
                      </a:r>
                      <a:endParaRPr lang="en-IN" dirty="0"/>
                    </a:p>
                  </a:txBody>
                  <a:tcPr/>
                </a:tc>
                <a:extLst>
                  <a:ext uri="{0D108BD9-81ED-4DB2-BD59-A6C34878D82A}">
                    <a16:rowId xmlns:a16="http://schemas.microsoft.com/office/drawing/2014/main" val="2393883975"/>
                  </a:ext>
                </a:extLst>
              </a:tr>
            </a:tbl>
          </a:graphicData>
        </a:graphic>
      </p:graphicFrame>
    </p:spTree>
    <p:extLst>
      <p:ext uri="{BB962C8B-B14F-4D97-AF65-F5344CB8AC3E}">
        <p14:creationId xmlns:p14="http://schemas.microsoft.com/office/powerpoint/2010/main" val="20968819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2C5D0C-82BC-256A-165B-478D6B29F2E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9D27D74-FBBD-9187-F581-C450E6A6360D}"/>
              </a:ext>
            </a:extLst>
          </p:cNvPr>
          <p:cNvSpPr>
            <a:spLocks noGrp="1"/>
          </p:cNvSpPr>
          <p:nvPr>
            <p:ph type="body" idx="1"/>
          </p:nvPr>
        </p:nvSpPr>
        <p:spPr/>
        <p:txBody>
          <a:bodyPr/>
          <a:lstStyle/>
          <a:p>
            <a:endParaRPr lang="en-IN" dirty="0"/>
          </a:p>
        </p:txBody>
      </p:sp>
      <p:sp>
        <p:nvSpPr>
          <p:cNvPr id="3" name="Title 2">
            <a:extLst>
              <a:ext uri="{FF2B5EF4-FFF2-40B4-BE49-F238E27FC236}">
                <a16:creationId xmlns:a16="http://schemas.microsoft.com/office/drawing/2014/main" id="{75F9FAB2-FFF1-C68A-88BC-E549C10BB395}"/>
              </a:ext>
            </a:extLst>
          </p:cNvPr>
          <p:cNvSpPr>
            <a:spLocks noGrp="1"/>
          </p:cNvSpPr>
          <p:nvPr>
            <p:ph type="title"/>
          </p:nvPr>
        </p:nvSpPr>
        <p:spPr/>
        <p:txBody>
          <a:bodyPr/>
          <a:lstStyle/>
          <a:p>
            <a:pPr algn="ctr"/>
            <a:r>
              <a:rPr lang="en-US" sz="4000" dirty="0"/>
              <a:t>Product Table Overview(1/2)</a:t>
            </a:r>
            <a:endParaRPr lang="en-IN" sz="4000" dirty="0"/>
          </a:p>
        </p:txBody>
      </p:sp>
      <p:graphicFrame>
        <p:nvGraphicFramePr>
          <p:cNvPr id="7" name="Table 6">
            <a:extLst>
              <a:ext uri="{FF2B5EF4-FFF2-40B4-BE49-F238E27FC236}">
                <a16:creationId xmlns:a16="http://schemas.microsoft.com/office/drawing/2014/main" id="{D1460072-485C-AF54-7AE3-3019F58EBA43}"/>
              </a:ext>
            </a:extLst>
          </p:cNvPr>
          <p:cNvGraphicFramePr>
            <a:graphicFrameLocks noGrp="1"/>
          </p:cNvGraphicFramePr>
          <p:nvPr>
            <p:extLst>
              <p:ext uri="{D42A27DB-BD31-4B8C-83A1-F6EECF244321}">
                <p14:modId xmlns:p14="http://schemas.microsoft.com/office/powerpoint/2010/main" val="2823086758"/>
              </p:ext>
            </p:extLst>
          </p:nvPr>
        </p:nvGraphicFramePr>
        <p:xfrm>
          <a:off x="838200" y="2023409"/>
          <a:ext cx="10515600" cy="3840480"/>
        </p:xfrm>
        <a:graphic>
          <a:graphicData uri="http://schemas.openxmlformats.org/drawingml/2006/table">
            <a:tbl>
              <a:tblPr firstRow="1" bandRow="1">
                <a:tableStyleId>{073A0DAA-6AF3-43AB-8588-CEC1D06C72B9}</a:tableStyleId>
              </a:tblPr>
              <a:tblGrid>
                <a:gridCol w="3040626">
                  <a:extLst>
                    <a:ext uri="{9D8B030D-6E8A-4147-A177-3AD203B41FA5}">
                      <a16:colId xmlns:a16="http://schemas.microsoft.com/office/drawing/2014/main" val="3694052197"/>
                    </a:ext>
                  </a:extLst>
                </a:gridCol>
                <a:gridCol w="1902542">
                  <a:extLst>
                    <a:ext uri="{9D8B030D-6E8A-4147-A177-3AD203B41FA5}">
                      <a16:colId xmlns:a16="http://schemas.microsoft.com/office/drawing/2014/main" val="2384425593"/>
                    </a:ext>
                  </a:extLst>
                </a:gridCol>
                <a:gridCol w="5572432">
                  <a:extLst>
                    <a:ext uri="{9D8B030D-6E8A-4147-A177-3AD203B41FA5}">
                      <a16:colId xmlns:a16="http://schemas.microsoft.com/office/drawing/2014/main" val="3874597801"/>
                    </a:ext>
                  </a:extLst>
                </a:gridCol>
              </a:tblGrid>
              <a:tr h="548640">
                <a:tc>
                  <a:txBody>
                    <a:bodyPr/>
                    <a:lstStyle/>
                    <a:p>
                      <a:pPr algn="ctr"/>
                      <a:r>
                        <a:rPr lang="en-US" dirty="0"/>
                        <a:t>Key Columns</a:t>
                      </a:r>
                      <a:endParaRPr lang="en-IN" dirty="0"/>
                    </a:p>
                  </a:txBody>
                  <a:tcPr/>
                </a:tc>
                <a:tc>
                  <a:txBody>
                    <a:bodyPr/>
                    <a:lstStyle/>
                    <a:p>
                      <a:pPr algn="ctr"/>
                      <a:r>
                        <a:rPr lang="en-US" dirty="0"/>
                        <a:t>Data Types</a:t>
                      </a:r>
                      <a:endParaRPr lang="en-IN" dirty="0"/>
                    </a:p>
                  </a:txBody>
                  <a:tcPr/>
                </a:tc>
                <a:tc>
                  <a:txBody>
                    <a:bodyPr/>
                    <a:lstStyle/>
                    <a:p>
                      <a:pPr algn="ctr"/>
                      <a:r>
                        <a:rPr lang="en-US" dirty="0"/>
                        <a:t>Description</a:t>
                      </a:r>
                      <a:endParaRPr lang="en-IN" dirty="0"/>
                    </a:p>
                  </a:txBody>
                  <a:tcPr/>
                </a:tc>
                <a:extLst>
                  <a:ext uri="{0D108BD9-81ED-4DB2-BD59-A6C34878D82A}">
                    <a16:rowId xmlns:a16="http://schemas.microsoft.com/office/drawing/2014/main" val="3789329335"/>
                  </a:ext>
                </a:extLst>
              </a:tr>
              <a:tr h="548640">
                <a:tc>
                  <a:txBody>
                    <a:bodyPr/>
                    <a:lstStyle/>
                    <a:p>
                      <a:pPr algn="ctr"/>
                      <a:r>
                        <a:rPr lang="en-US" dirty="0" err="1"/>
                        <a:t>Product_id</a:t>
                      </a:r>
                      <a:endParaRPr lang="en-IN" dirty="0"/>
                    </a:p>
                  </a:txBody>
                  <a:tcPr/>
                </a:tc>
                <a:tc>
                  <a:txBody>
                    <a:bodyPr/>
                    <a:lstStyle/>
                    <a:p>
                      <a:pPr algn="ctr"/>
                      <a:r>
                        <a:rPr lang="en-US" dirty="0"/>
                        <a:t>Varchar</a:t>
                      </a:r>
                      <a:endParaRPr lang="en-IN" dirty="0"/>
                    </a:p>
                  </a:txBody>
                  <a:tcPr/>
                </a:tc>
                <a:tc>
                  <a:txBody>
                    <a:bodyPr/>
                    <a:lstStyle/>
                    <a:p>
                      <a:pPr algn="ctr"/>
                      <a:r>
                        <a:rPr lang="en-US" dirty="0"/>
                        <a:t>Unique identifier of Product</a:t>
                      </a:r>
                      <a:endParaRPr lang="en-IN" dirty="0"/>
                    </a:p>
                  </a:txBody>
                  <a:tcPr/>
                </a:tc>
                <a:extLst>
                  <a:ext uri="{0D108BD9-81ED-4DB2-BD59-A6C34878D82A}">
                    <a16:rowId xmlns:a16="http://schemas.microsoft.com/office/drawing/2014/main" val="855419202"/>
                  </a:ext>
                </a:extLst>
              </a:tr>
              <a:tr h="548640">
                <a:tc>
                  <a:txBody>
                    <a:bodyPr/>
                    <a:lstStyle/>
                    <a:p>
                      <a:pPr algn="ctr"/>
                      <a:r>
                        <a:rPr lang="en-US" dirty="0"/>
                        <a:t>Category</a:t>
                      </a:r>
                      <a:endParaRPr lang="en-IN" dirty="0"/>
                    </a:p>
                  </a:txBody>
                  <a:tcPr/>
                </a:tc>
                <a:tc>
                  <a:txBody>
                    <a:bodyPr/>
                    <a:lstStyle/>
                    <a:p>
                      <a:pPr algn="ctr"/>
                      <a:r>
                        <a:rPr lang="en-US" dirty="0"/>
                        <a:t>Varchar</a:t>
                      </a:r>
                      <a:endParaRPr lang="en-IN" dirty="0"/>
                    </a:p>
                  </a:txBody>
                  <a:tcPr/>
                </a:tc>
                <a:tc>
                  <a:txBody>
                    <a:bodyPr/>
                    <a:lstStyle/>
                    <a:p>
                      <a:pPr algn="ctr"/>
                      <a:r>
                        <a:rPr lang="en-US" dirty="0"/>
                        <a:t>Category of Product</a:t>
                      </a:r>
                      <a:endParaRPr lang="en-IN" dirty="0"/>
                    </a:p>
                  </a:txBody>
                  <a:tcPr/>
                </a:tc>
                <a:extLst>
                  <a:ext uri="{0D108BD9-81ED-4DB2-BD59-A6C34878D82A}">
                    <a16:rowId xmlns:a16="http://schemas.microsoft.com/office/drawing/2014/main" val="1712221699"/>
                  </a:ext>
                </a:extLst>
              </a:tr>
              <a:tr h="548640">
                <a:tc>
                  <a:txBody>
                    <a:bodyPr/>
                    <a:lstStyle/>
                    <a:p>
                      <a:pPr algn="ctr"/>
                      <a:r>
                        <a:rPr lang="en-US" dirty="0" err="1"/>
                        <a:t>Product_name_length</a:t>
                      </a:r>
                      <a:endParaRPr lang="en-IN" dirty="0"/>
                    </a:p>
                  </a:txBody>
                  <a:tcPr/>
                </a:tc>
                <a:tc>
                  <a:txBody>
                    <a:bodyPr/>
                    <a:lstStyle/>
                    <a:p>
                      <a:pPr algn="ctr"/>
                      <a:r>
                        <a:rPr lang="en-US" dirty="0"/>
                        <a:t>Int</a:t>
                      </a:r>
                      <a:endParaRPr lang="en-IN" dirty="0"/>
                    </a:p>
                  </a:txBody>
                  <a:tcPr/>
                </a:tc>
                <a:tc>
                  <a:txBody>
                    <a:bodyPr/>
                    <a:lstStyle/>
                    <a:p>
                      <a:pPr algn="ctr"/>
                      <a:r>
                        <a:rPr lang="en-US" dirty="0"/>
                        <a:t>Total space occupied by name of product</a:t>
                      </a:r>
                      <a:endParaRPr lang="en-IN" dirty="0"/>
                    </a:p>
                  </a:txBody>
                  <a:tcPr/>
                </a:tc>
                <a:extLst>
                  <a:ext uri="{0D108BD9-81ED-4DB2-BD59-A6C34878D82A}">
                    <a16:rowId xmlns:a16="http://schemas.microsoft.com/office/drawing/2014/main" val="897061084"/>
                  </a:ext>
                </a:extLst>
              </a:tr>
              <a:tr h="548640">
                <a:tc>
                  <a:txBody>
                    <a:bodyPr/>
                    <a:lstStyle/>
                    <a:p>
                      <a:pPr algn="ctr"/>
                      <a:r>
                        <a:rPr lang="en-US" dirty="0" err="1"/>
                        <a:t>Prduct_description_length</a:t>
                      </a:r>
                      <a:endParaRPr lang="en-IN" dirty="0"/>
                    </a:p>
                  </a:txBody>
                  <a:tcPr/>
                </a:tc>
                <a:tc>
                  <a:txBody>
                    <a:bodyPr/>
                    <a:lstStyle/>
                    <a:p>
                      <a:pPr algn="ctr"/>
                      <a:r>
                        <a:rPr lang="en-US" dirty="0"/>
                        <a:t>Int</a:t>
                      </a:r>
                      <a:endParaRPr lang="en-IN" dirty="0"/>
                    </a:p>
                  </a:txBody>
                  <a:tcPr/>
                </a:tc>
                <a:tc>
                  <a:txBody>
                    <a:bodyPr/>
                    <a:lstStyle/>
                    <a:p>
                      <a:pPr algn="ctr"/>
                      <a:r>
                        <a:rPr lang="en-US" dirty="0"/>
                        <a:t>Total space occupied by product description</a:t>
                      </a:r>
                      <a:endParaRPr lang="en-IN" dirty="0"/>
                    </a:p>
                  </a:txBody>
                  <a:tcPr/>
                </a:tc>
                <a:extLst>
                  <a:ext uri="{0D108BD9-81ED-4DB2-BD59-A6C34878D82A}">
                    <a16:rowId xmlns:a16="http://schemas.microsoft.com/office/drawing/2014/main" val="385771715"/>
                  </a:ext>
                </a:extLst>
              </a:tr>
              <a:tr h="548640">
                <a:tc>
                  <a:txBody>
                    <a:bodyPr/>
                    <a:lstStyle/>
                    <a:p>
                      <a:pPr algn="ctr"/>
                      <a:r>
                        <a:rPr lang="en-US" dirty="0" err="1"/>
                        <a:t>Product_photos_qty</a:t>
                      </a:r>
                      <a:endParaRPr lang="en-IN" dirty="0"/>
                    </a:p>
                  </a:txBody>
                  <a:tcPr/>
                </a:tc>
                <a:tc>
                  <a:txBody>
                    <a:bodyPr/>
                    <a:lstStyle/>
                    <a:p>
                      <a:pPr algn="ctr"/>
                      <a:r>
                        <a:rPr lang="en-US" dirty="0"/>
                        <a:t>Int</a:t>
                      </a:r>
                      <a:endParaRPr lang="en-IN" dirty="0"/>
                    </a:p>
                  </a:txBody>
                  <a:tcPr/>
                </a:tc>
                <a:tc>
                  <a:txBody>
                    <a:bodyPr/>
                    <a:lstStyle/>
                    <a:p>
                      <a:pPr algn="ctr"/>
                      <a:r>
                        <a:rPr lang="en-US" dirty="0"/>
                        <a:t>Count of Product’s photo’s</a:t>
                      </a:r>
                      <a:endParaRPr lang="en-IN" dirty="0"/>
                    </a:p>
                  </a:txBody>
                  <a:tcPr/>
                </a:tc>
                <a:extLst>
                  <a:ext uri="{0D108BD9-81ED-4DB2-BD59-A6C34878D82A}">
                    <a16:rowId xmlns:a16="http://schemas.microsoft.com/office/drawing/2014/main" val="2393883975"/>
                  </a:ext>
                </a:extLst>
              </a:tr>
              <a:tr h="548640">
                <a:tc>
                  <a:txBody>
                    <a:bodyPr/>
                    <a:lstStyle/>
                    <a:p>
                      <a:pPr algn="ctr"/>
                      <a:r>
                        <a:rPr lang="en-US" dirty="0" err="1"/>
                        <a:t>Product_weight_g</a:t>
                      </a:r>
                      <a:endParaRPr lang="en-IN" dirty="0"/>
                    </a:p>
                  </a:txBody>
                  <a:tcPr/>
                </a:tc>
                <a:tc>
                  <a:txBody>
                    <a:bodyPr/>
                    <a:lstStyle/>
                    <a:p>
                      <a:pPr algn="ctr"/>
                      <a:r>
                        <a:rPr lang="en-US" dirty="0"/>
                        <a:t>Int</a:t>
                      </a:r>
                      <a:endParaRPr lang="en-IN" dirty="0"/>
                    </a:p>
                  </a:txBody>
                  <a:tcPr/>
                </a:tc>
                <a:tc>
                  <a:txBody>
                    <a:bodyPr/>
                    <a:lstStyle/>
                    <a:p>
                      <a:pPr algn="ctr"/>
                      <a:r>
                        <a:rPr lang="en-US" dirty="0"/>
                        <a:t>Weight of Product</a:t>
                      </a:r>
                      <a:endParaRPr lang="en-IN" dirty="0"/>
                    </a:p>
                  </a:txBody>
                  <a:tcPr/>
                </a:tc>
                <a:extLst>
                  <a:ext uri="{0D108BD9-81ED-4DB2-BD59-A6C34878D82A}">
                    <a16:rowId xmlns:a16="http://schemas.microsoft.com/office/drawing/2014/main" val="3310065695"/>
                  </a:ext>
                </a:extLst>
              </a:tr>
            </a:tbl>
          </a:graphicData>
        </a:graphic>
      </p:graphicFrame>
    </p:spTree>
    <p:extLst>
      <p:ext uri="{BB962C8B-B14F-4D97-AF65-F5344CB8AC3E}">
        <p14:creationId xmlns:p14="http://schemas.microsoft.com/office/powerpoint/2010/main" val="18277170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848071-DCFC-D929-D158-B05BA8CC213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F3751F3-CD5C-55E5-4991-09E9A3A6FFA1}"/>
              </a:ext>
            </a:extLst>
          </p:cNvPr>
          <p:cNvSpPr>
            <a:spLocks noGrp="1"/>
          </p:cNvSpPr>
          <p:nvPr>
            <p:ph type="body" idx="1"/>
          </p:nvPr>
        </p:nvSpPr>
        <p:spPr/>
        <p:txBody>
          <a:bodyPr/>
          <a:lstStyle/>
          <a:p>
            <a:endParaRPr lang="en-IN" dirty="0"/>
          </a:p>
        </p:txBody>
      </p:sp>
      <p:sp>
        <p:nvSpPr>
          <p:cNvPr id="3" name="Title 2">
            <a:extLst>
              <a:ext uri="{FF2B5EF4-FFF2-40B4-BE49-F238E27FC236}">
                <a16:creationId xmlns:a16="http://schemas.microsoft.com/office/drawing/2014/main" id="{83F0AE85-A710-65EE-A450-088E59A06427}"/>
              </a:ext>
            </a:extLst>
          </p:cNvPr>
          <p:cNvSpPr>
            <a:spLocks noGrp="1"/>
          </p:cNvSpPr>
          <p:nvPr>
            <p:ph type="title"/>
          </p:nvPr>
        </p:nvSpPr>
        <p:spPr/>
        <p:txBody>
          <a:bodyPr/>
          <a:lstStyle/>
          <a:p>
            <a:pPr algn="ctr"/>
            <a:r>
              <a:rPr lang="en-US" sz="4000" dirty="0"/>
              <a:t>Product Table Overview(2/2)</a:t>
            </a:r>
            <a:endParaRPr lang="en-IN" sz="4000" dirty="0"/>
          </a:p>
        </p:txBody>
      </p:sp>
      <p:graphicFrame>
        <p:nvGraphicFramePr>
          <p:cNvPr id="7" name="Table 6">
            <a:extLst>
              <a:ext uri="{FF2B5EF4-FFF2-40B4-BE49-F238E27FC236}">
                <a16:creationId xmlns:a16="http://schemas.microsoft.com/office/drawing/2014/main" id="{89D76605-DDF0-95E2-697A-1A1C06B9136E}"/>
              </a:ext>
            </a:extLst>
          </p:cNvPr>
          <p:cNvGraphicFramePr>
            <a:graphicFrameLocks noGrp="1"/>
          </p:cNvGraphicFramePr>
          <p:nvPr>
            <p:extLst>
              <p:ext uri="{D42A27DB-BD31-4B8C-83A1-F6EECF244321}">
                <p14:modId xmlns:p14="http://schemas.microsoft.com/office/powerpoint/2010/main" val="1898804654"/>
              </p:ext>
            </p:extLst>
          </p:nvPr>
        </p:nvGraphicFramePr>
        <p:xfrm>
          <a:off x="838200" y="2023409"/>
          <a:ext cx="10515600" cy="2194560"/>
        </p:xfrm>
        <a:graphic>
          <a:graphicData uri="http://schemas.openxmlformats.org/drawingml/2006/table">
            <a:tbl>
              <a:tblPr firstRow="1" bandRow="1">
                <a:tableStyleId>{073A0DAA-6AF3-43AB-8588-CEC1D06C72B9}</a:tableStyleId>
              </a:tblPr>
              <a:tblGrid>
                <a:gridCol w="2332703">
                  <a:extLst>
                    <a:ext uri="{9D8B030D-6E8A-4147-A177-3AD203B41FA5}">
                      <a16:colId xmlns:a16="http://schemas.microsoft.com/office/drawing/2014/main" val="3694052197"/>
                    </a:ext>
                  </a:extLst>
                </a:gridCol>
                <a:gridCol w="2041177">
                  <a:extLst>
                    <a:ext uri="{9D8B030D-6E8A-4147-A177-3AD203B41FA5}">
                      <a16:colId xmlns:a16="http://schemas.microsoft.com/office/drawing/2014/main" val="2384425593"/>
                    </a:ext>
                  </a:extLst>
                </a:gridCol>
                <a:gridCol w="6141720">
                  <a:extLst>
                    <a:ext uri="{9D8B030D-6E8A-4147-A177-3AD203B41FA5}">
                      <a16:colId xmlns:a16="http://schemas.microsoft.com/office/drawing/2014/main" val="3874597801"/>
                    </a:ext>
                  </a:extLst>
                </a:gridCol>
              </a:tblGrid>
              <a:tr h="548640">
                <a:tc>
                  <a:txBody>
                    <a:bodyPr/>
                    <a:lstStyle/>
                    <a:p>
                      <a:pPr algn="ctr"/>
                      <a:r>
                        <a:rPr lang="en-US" dirty="0"/>
                        <a:t>Key Columns</a:t>
                      </a:r>
                      <a:endParaRPr lang="en-IN" dirty="0"/>
                    </a:p>
                  </a:txBody>
                  <a:tcPr/>
                </a:tc>
                <a:tc>
                  <a:txBody>
                    <a:bodyPr/>
                    <a:lstStyle/>
                    <a:p>
                      <a:pPr algn="ctr"/>
                      <a:r>
                        <a:rPr lang="en-US" dirty="0"/>
                        <a:t>Data Types</a:t>
                      </a:r>
                      <a:endParaRPr lang="en-IN" dirty="0"/>
                    </a:p>
                  </a:txBody>
                  <a:tcPr/>
                </a:tc>
                <a:tc>
                  <a:txBody>
                    <a:bodyPr/>
                    <a:lstStyle/>
                    <a:p>
                      <a:pPr algn="ctr"/>
                      <a:r>
                        <a:rPr lang="en-US" dirty="0"/>
                        <a:t>Description</a:t>
                      </a:r>
                      <a:endParaRPr lang="en-IN" dirty="0"/>
                    </a:p>
                  </a:txBody>
                  <a:tcPr/>
                </a:tc>
                <a:extLst>
                  <a:ext uri="{0D108BD9-81ED-4DB2-BD59-A6C34878D82A}">
                    <a16:rowId xmlns:a16="http://schemas.microsoft.com/office/drawing/2014/main" val="3789329335"/>
                  </a:ext>
                </a:extLst>
              </a:tr>
              <a:tr h="548640">
                <a:tc>
                  <a:txBody>
                    <a:bodyPr/>
                    <a:lstStyle/>
                    <a:p>
                      <a:pPr algn="ctr"/>
                      <a:r>
                        <a:rPr lang="en-US" dirty="0" err="1"/>
                        <a:t>Product_length_cm</a:t>
                      </a:r>
                      <a:endParaRPr lang="en-IN" dirty="0"/>
                    </a:p>
                  </a:txBody>
                  <a:tcPr/>
                </a:tc>
                <a:tc>
                  <a:txBody>
                    <a:bodyPr/>
                    <a:lstStyle/>
                    <a:p>
                      <a:pPr algn="ctr"/>
                      <a:r>
                        <a:rPr lang="en-US" dirty="0"/>
                        <a:t>Int</a:t>
                      </a:r>
                      <a:endParaRPr lang="en-IN" dirty="0"/>
                    </a:p>
                  </a:txBody>
                  <a:tcPr/>
                </a:tc>
                <a:tc>
                  <a:txBody>
                    <a:bodyPr/>
                    <a:lstStyle/>
                    <a:p>
                      <a:pPr algn="ctr"/>
                      <a:r>
                        <a:rPr lang="en-US" dirty="0"/>
                        <a:t>Dimensional length of product in centimeter</a:t>
                      </a:r>
                      <a:endParaRPr lang="en-IN" dirty="0"/>
                    </a:p>
                  </a:txBody>
                  <a:tcPr/>
                </a:tc>
                <a:extLst>
                  <a:ext uri="{0D108BD9-81ED-4DB2-BD59-A6C34878D82A}">
                    <a16:rowId xmlns:a16="http://schemas.microsoft.com/office/drawing/2014/main" val="855419202"/>
                  </a:ext>
                </a:extLst>
              </a:tr>
              <a:tr h="548640">
                <a:tc>
                  <a:txBody>
                    <a:bodyPr/>
                    <a:lstStyle/>
                    <a:p>
                      <a:pPr algn="ctr"/>
                      <a:r>
                        <a:rPr lang="en-US" dirty="0" err="1"/>
                        <a:t>Product_height_cm</a:t>
                      </a:r>
                      <a:endParaRPr lang="en-IN" dirty="0"/>
                    </a:p>
                  </a:txBody>
                  <a:tcPr/>
                </a:tc>
                <a:tc>
                  <a:txBody>
                    <a:bodyPr/>
                    <a:lstStyle/>
                    <a:p>
                      <a:pPr algn="ctr"/>
                      <a:r>
                        <a:rPr lang="en-US" dirty="0"/>
                        <a:t>Int</a:t>
                      </a:r>
                      <a:endParaRPr lang="en-IN" dirty="0"/>
                    </a:p>
                  </a:txBody>
                  <a:tcPr/>
                </a:tc>
                <a:tc>
                  <a:txBody>
                    <a:bodyPr/>
                    <a:lstStyle/>
                    <a:p>
                      <a:pPr algn="ctr"/>
                      <a:r>
                        <a:rPr lang="en-US" dirty="0"/>
                        <a:t>Dimensional height of product in centimeter</a:t>
                      </a:r>
                      <a:endParaRPr lang="en-IN" dirty="0"/>
                    </a:p>
                  </a:txBody>
                  <a:tcPr/>
                </a:tc>
                <a:extLst>
                  <a:ext uri="{0D108BD9-81ED-4DB2-BD59-A6C34878D82A}">
                    <a16:rowId xmlns:a16="http://schemas.microsoft.com/office/drawing/2014/main" val="1712221699"/>
                  </a:ext>
                </a:extLst>
              </a:tr>
              <a:tr h="548640">
                <a:tc>
                  <a:txBody>
                    <a:bodyPr/>
                    <a:lstStyle/>
                    <a:p>
                      <a:pPr algn="ctr"/>
                      <a:r>
                        <a:rPr lang="en-US" dirty="0" err="1"/>
                        <a:t>Product_width_cm</a:t>
                      </a:r>
                      <a:endParaRPr lang="en-IN" dirty="0"/>
                    </a:p>
                  </a:txBody>
                  <a:tcPr/>
                </a:tc>
                <a:tc>
                  <a:txBody>
                    <a:bodyPr/>
                    <a:lstStyle/>
                    <a:p>
                      <a:pPr algn="ctr"/>
                      <a:r>
                        <a:rPr lang="en-US" dirty="0"/>
                        <a:t>Int</a:t>
                      </a:r>
                      <a:endParaRPr lang="en-IN" dirty="0"/>
                    </a:p>
                  </a:txBody>
                  <a:tcPr/>
                </a:tc>
                <a:tc>
                  <a:txBody>
                    <a:bodyPr/>
                    <a:lstStyle/>
                    <a:p>
                      <a:pPr algn="ctr"/>
                      <a:r>
                        <a:rPr lang="en-US" dirty="0"/>
                        <a:t>Dimensional width of product in centimeter</a:t>
                      </a:r>
                      <a:endParaRPr lang="en-IN" dirty="0"/>
                    </a:p>
                  </a:txBody>
                  <a:tcPr/>
                </a:tc>
                <a:extLst>
                  <a:ext uri="{0D108BD9-81ED-4DB2-BD59-A6C34878D82A}">
                    <a16:rowId xmlns:a16="http://schemas.microsoft.com/office/drawing/2014/main" val="897061084"/>
                  </a:ext>
                </a:extLst>
              </a:tr>
            </a:tbl>
          </a:graphicData>
        </a:graphic>
      </p:graphicFrame>
    </p:spTree>
    <p:extLst>
      <p:ext uri="{BB962C8B-B14F-4D97-AF65-F5344CB8AC3E}">
        <p14:creationId xmlns:p14="http://schemas.microsoft.com/office/powerpoint/2010/main" val="24773030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CF724C-7E0A-3D51-EC27-FD84E7AB623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AA57B1E-DF74-921E-4DA5-7628A9DBA449}"/>
              </a:ext>
            </a:extLst>
          </p:cNvPr>
          <p:cNvSpPr>
            <a:spLocks noGrp="1"/>
          </p:cNvSpPr>
          <p:nvPr>
            <p:ph type="body" idx="1"/>
          </p:nvPr>
        </p:nvSpPr>
        <p:spPr/>
        <p:txBody>
          <a:bodyPr/>
          <a:lstStyle/>
          <a:p>
            <a:endParaRPr lang="en-IN" dirty="0"/>
          </a:p>
        </p:txBody>
      </p:sp>
      <p:sp>
        <p:nvSpPr>
          <p:cNvPr id="3" name="Title 2">
            <a:extLst>
              <a:ext uri="{FF2B5EF4-FFF2-40B4-BE49-F238E27FC236}">
                <a16:creationId xmlns:a16="http://schemas.microsoft.com/office/drawing/2014/main" id="{34896236-1345-1715-EB5B-B3CE94ACD17F}"/>
              </a:ext>
            </a:extLst>
          </p:cNvPr>
          <p:cNvSpPr>
            <a:spLocks noGrp="1"/>
          </p:cNvSpPr>
          <p:nvPr>
            <p:ph type="title"/>
          </p:nvPr>
        </p:nvSpPr>
        <p:spPr/>
        <p:txBody>
          <a:bodyPr/>
          <a:lstStyle/>
          <a:p>
            <a:pPr algn="ctr"/>
            <a:r>
              <a:rPr lang="en-US" sz="4000" dirty="0"/>
              <a:t>Store Table Overview</a:t>
            </a:r>
            <a:endParaRPr lang="en-IN" sz="4000" dirty="0"/>
          </a:p>
        </p:txBody>
      </p:sp>
      <p:graphicFrame>
        <p:nvGraphicFramePr>
          <p:cNvPr id="7" name="Table 6">
            <a:extLst>
              <a:ext uri="{FF2B5EF4-FFF2-40B4-BE49-F238E27FC236}">
                <a16:creationId xmlns:a16="http://schemas.microsoft.com/office/drawing/2014/main" id="{C8E18F67-3C75-39E0-ACB7-0C3DE1A84C45}"/>
              </a:ext>
            </a:extLst>
          </p:cNvPr>
          <p:cNvGraphicFramePr>
            <a:graphicFrameLocks noGrp="1"/>
          </p:cNvGraphicFramePr>
          <p:nvPr>
            <p:extLst>
              <p:ext uri="{D42A27DB-BD31-4B8C-83A1-F6EECF244321}">
                <p14:modId xmlns:p14="http://schemas.microsoft.com/office/powerpoint/2010/main" val="2219550602"/>
              </p:ext>
            </p:extLst>
          </p:nvPr>
        </p:nvGraphicFramePr>
        <p:xfrm>
          <a:off x="838199" y="2023409"/>
          <a:ext cx="10515600" cy="2743200"/>
        </p:xfrm>
        <a:graphic>
          <a:graphicData uri="http://schemas.openxmlformats.org/drawingml/2006/table">
            <a:tbl>
              <a:tblPr firstRow="1" bandRow="1">
                <a:tableStyleId>{073A0DAA-6AF3-43AB-8588-CEC1D06C72B9}</a:tableStyleId>
              </a:tblPr>
              <a:tblGrid>
                <a:gridCol w="2303207">
                  <a:extLst>
                    <a:ext uri="{9D8B030D-6E8A-4147-A177-3AD203B41FA5}">
                      <a16:colId xmlns:a16="http://schemas.microsoft.com/office/drawing/2014/main" val="3694052197"/>
                    </a:ext>
                  </a:extLst>
                </a:gridCol>
                <a:gridCol w="1976284">
                  <a:extLst>
                    <a:ext uri="{9D8B030D-6E8A-4147-A177-3AD203B41FA5}">
                      <a16:colId xmlns:a16="http://schemas.microsoft.com/office/drawing/2014/main" val="2384425593"/>
                    </a:ext>
                  </a:extLst>
                </a:gridCol>
                <a:gridCol w="6236109">
                  <a:extLst>
                    <a:ext uri="{9D8B030D-6E8A-4147-A177-3AD203B41FA5}">
                      <a16:colId xmlns:a16="http://schemas.microsoft.com/office/drawing/2014/main" val="2515828640"/>
                    </a:ext>
                  </a:extLst>
                </a:gridCol>
              </a:tblGrid>
              <a:tr h="548640">
                <a:tc>
                  <a:txBody>
                    <a:bodyPr/>
                    <a:lstStyle/>
                    <a:p>
                      <a:pPr algn="ctr"/>
                      <a:r>
                        <a:rPr lang="en-US" dirty="0"/>
                        <a:t>Key Columns</a:t>
                      </a:r>
                      <a:endParaRPr lang="en-IN" dirty="0"/>
                    </a:p>
                  </a:txBody>
                  <a:tcPr/>
                </a:tc>
                <a:tc>
                  <a:txBody>
                    <a:bodyPr/>
                    <a:lstStyle/>
                    <a:p>
                      <a:pPr algn="ctr"/>
                      <a:r>
                        <a:rPr lang="en-US" dirty="0"/>
                        <a:t>Data Types</a:t>
                      </a:r>
                      <a:endParaRPr lang="en-IN" dirty="0"/>
                    </a:p>
                  </a:txBody>
                  <a:tcPr/>
                </a:tc>
                <a:tc>
                  <a:txBody>
                    <a:bodyPr/>
                    <a:lstStyle/>
                    <a:p>
                      <a:pPr algn="ctr"/>
                      <a:r>
                        <a:rPr lang="en-US" dirty="0"/>
                        <a:t>Description</a:t>
                      </a:r>
                      <a:endParaRPr lang="en-IN" dirty="0"/>
                    </a:p>
                  </a:txBody>
                  <a:tcPr/>
                </a:tc>
                <a:extLst>
                  <a:ext uri="{0D108BD9-81ED-4DB2-BD59-A6C34878D82A}">
                    <a16:rowId xmlns:a16="http://schemas.microsoft.com/office/drawing/2014/main" val="3789329335"/>
                  </a:ext>
                </a:extLst>
              </a:tr>
              <a:tr h="548640">
                <a:tc>
                  <a:txBody>
                    <a:bodyPr/>
                    <a:lstStyle/>
                    <a:p>
                      <a:pPr algn="ctr"/>
                      <a:r>
                        <a:rPr lang="en-US" dirty="0"/>
                        <a:t>Store ID</a:t>
                      </a:r>
                      <a:endParaRPr lang="en-IN" dirty="0"/>
                    </a:p>
                  </a:txBody>
                  <a:tcPr/>
                </a:tc>
                <a:tc>
                  <a:txBody>
                    <a:bodyPr/>
                    <a:lstStyle/>
                    <a:p>
                      <a:pPr algn="ctr"/>
                      <a:r>
                        <a:rPr lang="en-US" dirty="0"/>
                        <a:t>Varchar</a:t>
                      </a:r>
                      <a:endParaRPr lang="en-IN" dirty="0"/>
                    </a:p>
                  </a:txBody>
                  <a:tcPr/>
                </a:tc>
                <a:tc>
                  <a:txBody>
                    <a:bodyPr/>
                    <a:lstStyle/>
                    <a:p>
                      <a:pPr algn="ctr"/>
                      <a:r>
                        <a:rPr lang="en-US" dirty="0"/>
                        <a:t>Unique ID linked to Store</a:t>
                      </a:r>
                      <a:endParaRPr lang="en-IN" dirty="0"/>
                    </a:p>
                  </a:txBody>
                  <a:tcPr/>
                </a:tc>
                <a:extLst>
                  <a:ext uri="{0D108BD9-81ED-4DB2-BD59-A6C34878D82A}">
                    <a16:rowId xmlns:a16="http://schemas.microsoft.com/office/drawing/2014/main" val="855419202"/>
                  </a:ext>
                </a:extLst>
              </a:tr>
              <a:tr h="548640">
                <a:tc>
                  <a:txBody>
                    <a:bodyPr/>
                    <a:lstStyle/>
                    <a:p>
                      <a:pPr algn="ctr"/>
                      <a:r>
                        <a:rPr lang="en-US" dirty="0"/>
                        <a:t>Seller City</a:t>
                      </a:r>
                      <a:endParaRPr lang="en-IN" dirty="0"/>
                    </a:p>
                  </a:txBody>
                  <a:tcPr/>
                </a:tc>
                <a:tc>
                  <a:txBody>
                    <a:bodyPr/>
                    <a:lstStyle/>
                    <a:p>
                      <a:pPr algn="ctr"/>
                      <a:r>
                        <a:rPr lang="en-US" dirty="0"/>
                        <a:t>Varchar</a:t>
                      </a:r>
                      <a:endParaRPr lang="en-IN" dirty="0"/>
                    </a:p>
                  </a:txBody>
                  <a:tcPr/>
                </a:tc>
                <a:tc>
                  <a:txBody>
                    <a:bodyPr/>
                    <a:lstStyle/>
                    <a:p>
                      <a:pPr algn="ctr"/>
                      <a:r>
                        <a:rPr lang="en-US" dirty="0"/>
                        <a:t>Store’s City</a:t>
                      </a:r>
                      <a:endParaRPr lang="en-IN" dirty="0"/>
                    </a:p>
                  </a:txBody>
                  <a:tcPr/>
                </a:tc>
                <a:extLst>
                  <a:ext uri="{0D108BD9-81ED-4DB2-BD59-A6C34878D82A}">
                    <a16:rowId xmlns:a16="http://schemas.microsoft.com/office/drawing/2014/main" val="1712221699"/>
                  </a:ext>
                </a:extLst>
              </a:tr>
              <a:tr h="548640">
                <a:tc>
                  <a:txBody>
                    <a:bodyPr/>
                    <a:lstStyle/>
                    <a:p>
                      <a:pPr algn="ctr"/>
                      <a:r>
                        <a:rPr lang="en-US" dirty="0"/>
                        <a:t>Seller State</a:t>
                      </a:r>
                      <a:endParaRPr lang="en-IN" dirty="0"/>
                    </a:p>
                  </a:txBody>
                  <a:tcPr/>
                </a:tc>
                <a:tc>
                  <a:txBody>
                    <a:bodyPr/>
                    <a:lstStyle/>
                    <a:p>
                      <a:pPr algn="ctr"/>
                      <a:r>
                        <a:rPr lang="en-US" dirty="0"/>
                        <a:t>Varchar</a:t>
                      </a:r>
                      <a:endParaRPr lang="en-IN" dirty="0"/>
                    </a:p>
                  </a:txBody>
                  <a:tcPr/>
                </a:tc>
                <a:tc>
                  <a:txBody>
                    <a:bodyPr/>
                    <a:lstStyle/>
                    <a:p>
                      <a:pPr algn="ctr"/>
                      <a:r>
                        <a:rPr lang="en-US" dirty="0"/>
                        <a:t>Store’s State</a:t>
                      </a:r>
                      <a:endParaRPr lang="en-IN" dirty="0"/>
                    </a:p>
                  </a:txBody>
                  <a:tcPr/>
                </a:tc>
                <a:extLst>
                  <a:ext uri="{0D108BD9-81ED-4DB2-BD59-A6C34878D82A}">
                    <a16:rowId xmlns:a16="http://schemas.microsoft.com/office/drawing/2014/main" val="897061084"/>
                  </a:ext>
                </a:extLst>
              </a:tr>
              <a:tr h="548640">
                <a:tc>
                  <a:txBody>
                    <a:bodyPr/>
                    <a:lstStyle/>
                    <a:p>
                      <a:pPr algn="ctr"/>
                      <a:r>
                        <a:rPr lang="en-US" dirty="0"/>
                        <a:t>Region</a:t>
                      </a:r>
                      <a:endParaRPr lang="en-IN" dirty="0"/>
                    </a:p>
                  </a:txBody>
                  <a:tcPr/>
                </a:tc>
                <a:tc>
                  <a:txBody>
                    <a:bodyPr/>
                    <a:lstStyle/>
                    <a:p>
                      <a:pPr algn="ctr"/>
                      <a:r>
                        <a:rPr lang="en-US" dirty="0"/>
                        <a:t>Varchar</a:t>
                      </a:r>
                      <a:endParaRPr lang="en-IN" dirty="0"/>
                    </a:p>
                  </a:txBody>
                  <a:tcPr/>
                </a:tc>
                <a:tc>
                  <a:txBody>
                    <a:bodyPr/>
                    <a:lstStyle/>
                    <a:p>
                      <a:pPr algn="ctr"/>
                      <a:r>
                        <a:rPr lang="en-US" dirty="0"/>
                        <a:t>Store’s Region</a:t>
                      </a:r>
                      <a:endParaRPr lang="en-IN" dirty="0"/>
                    </a:p>
                  </a:txBody>
                  <a:tcPr/>
                </a:tc>
                <a:extLst>
                  <a:ext uri="{0D108BD9-81ED-4DB2-BD59-A6C34878D82A}">
                    <a16:rowId xmlns:a16="http://schemas.microsoft.com/office/drawing/2014/main" val="385771715"/>
                  </a:ext>
                </a:extLst>
              </a:tr>
            </a:tbl>
          </a:graphicData>
        </a:graphic>
      </p:graphicFrame>
    </p:spTree>
    <p:extLst>
      <p:ext uri="{BB962C8B-B14F-4D97-AF65-F5344CB8AC3E}">
        <p14:creationId xmlns:p14="http://schemas.microsoft.com/office/powerpoint/2010/main" val="38783254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AD8E82F-248B-279D-9FE6-EEF9799D30E4}"/>
              </a:ext>
            </a:extLst>
          </p:cNvPr>
          <p:cNvSpPr>
            <a:spLocks noGrp="1"/>
          </p:cNvSpPr>
          <p:nvPr>
            <p:ph type="body" idx="1"/>
          </p:nvPr>
        </p:nvSpPr>
        <p:spPr>
          <a:xfrm>
            <a:off x="838200" y="2023409"/>
            <a:ext cx="10515600" cy="2381442"/>
          </a:xfrm>
        </p:spPr>
        <p:txBody>
          <a:bodyPr/>
          <a:lstStyle/>
          <a:p>
            <a:endParaRPr lang="en-IN" dirty="0"/>
          </a:p>
        </p:txBody>
      </p:sp>
      <p:sp>
        <p:nvSpPr>
          <p:cNvPr id="3" name="Title 2">
            <a:extLst>
              <a:ext uri="{FF2B5EF4-FFF2-40B4-BE49-F238E27FC236}">
                <a16:creationId xmlns:a16="http://schemas.microsoft.com/office/drawing/2014/main" id="{1B64CE61-73A9-4438-C213-2E8FAF5F3D1B}"/>
              </a:ext>
            </a:extLst>
          </p:cNvPr>
          <p:cNvSpPr>
            <a:spLocks noGrp="1"/>
          </p:cNvSpPr>
          <p:nvPr>
            <p:ph type="title"/>
          </p:nvPr>
        </p:nvSpPr>
        <p:spPr/>
        <p:txBody>
          <a:bodyPr/>
          <a:lstStyle/>
          <a:p>
            <a:pPr algn="ctr"/>
            <a:r>
              <a:rPr lang="en-US" sz="4000" dirty="0"/>
              <a:t>Orders Review Table Overview</a:t>
            </a:r>
            <a:endParaRPr lang="en-IN" sz="4000" dirty="0"/>
          </a:p>
        </p:txBody>
      </p:sp>
      <p:graphicFrame>
        <p:nvGraphicFramePr>
          <p:cNvPr id="4" name="Table 3">
            <a:extLst>
              <a:ext uri="{FF2B5EF4-FFF2-40B4-BE49-F238E27FC236}">
                <a16:creationId xmlns:a16="http://schemas.microsoft.com/office/drawing/2014/main" id="{D59788D2-DFF4-148F-7EC0-2581DF413E7C}"/>
              </a:ext>
            </a:extLst>
          </p:cNvPr>
          <p:cNvGraphicFramePr>
            <a:graphicFrameLocks noGrp="1"/>
          </p:cNvGraphicFramePr>
          <p:nvPr>
            <p:extLst>
              <p:ext uri="{D42A27DB-BD31-4B8C-83A1-F6EECF244321}">
                <p14:modId xmlns:p14="http://schemas.microsoft.com/office/powerpoint/2010/main" val="1676231005"/>
              </p:ext>
            </p:extLst>
          </p:nvPr>
        </p:nvGraphicFramePr>
        <p:xfrm>
          <a:off x="838198" y="2023409"/>
          <a:ext cx="10515600" cy="1645920"/>
        </p:xfrm>
        <a:graphic>
          <a:graphicData uri="http://schemas.openxmlformats.org/drawingml/2006/table">
            <a:tbl>
              <a:tblPr firstRow="1" bandRow="1">
                <a:tableStyleId>{073A0DAA-6AF3-43AB-8588-CEC1D06C72B9}</a:tableStyleId>
              </a:tblPr>
              <a:tblGrid>
                <a:gridCol w="3276602">
                  <a:extLst>
                    <a:ext uri="{9D8B030D-6E8A-4147-A177-3AD203B41FA5}">
                      <a16:colId xmlns:a16="http://schemas.microsoft.com/office/drawing/2014/main" val="755532198"/>
                    </a:ext>
                  </a:extLst>
                </a:gridCol>
                <a:gridCol w="1799303">
                  <a:extLst>
                    <a:ext uri="{9D8B030D-6E8A-4147-A177-3AD203B41FA5}">
                      <a16:colId xmlns:a16="http://schemas.microsoft.com/office/drawing/2014/main" val="1156790577"/>
                    </a:ext>
                  </a:extLst>
                </a:gridCol>
                <a:gridCol w="5439695">
                  <a:extLst>
                    <a:ext uri="{9D8B030D-6E8A-4147-A177-3AD203B41FA5}">
                      <a16:colId xmlns:a16="http://schemas.microsoft.com/office/drawing/2014/main" val="2507403977"/>
                    </a:ext>
                  </a:extLst>
                </a:gridCol>
              </a:tblGrid>
              <a:tr h="548640">
                <a:tc>
                  <a:txBody>
                    <a:bodyPr/>
                    <a:lstStyle/>
                    <a:p>
                      <a:pPr algn="ctr"/>
                      <a:r>
                        <a:rPr lang="en-US" dirty="0"/>
                        <a:t>Key Columns</a:t>
                      </a:r>
                      <a:endParaRPr lang="en-IN" dirty="0"/>
                    </a:p>
                  </a:txBody>
                  <a:tcPr/>
                </a:tc>
                <a:tc>
                  <a:txBody>
                    <a:bodyPr/>
                    <a:lstStyle/>
                    <a:p>
                      <a:pPr algn="ctr"/>
                      <a:r>
                        <a:rPr lang="en-US" dirty="0"/>
                        <a:t>Data Types</a:t>
                      </a:r>
                      <a:endParaRPr lang="en-IN" dirty="0"/>
                    </a:p>
                  </a:txBody>
                  <a:tcPr/>
                </a:tc>
                <a:tc>
                  <a:txBody>
                    <a:bodyPr/>
                    <a:lstStyle/>
                    <a:p>
                      <a:pPr algn="ctr"/>
                      <a:r>
                        <a:rPr lang="en-US" dirty="0"/>
                        <a:t>Description</a:t>
                      </a:r>
                      <a:endParaRPr lang="en-IN" dirty="0"/>
                    </a:p>
                  </a:txBody>
                  <a:tcPr/>
                </a:tc>
                <a:extLst>
                  <a:ext uri="{0D108BD9-81ED-4DB2-BD59-A6C34878D82A}">
                    <a16:rowId xmlns:a16="http://schemas.microsoft.com/office/drawing/2014/main" val="714049169"/>
                  </a:ext>
                </a:extLst>
              </a:tr>
              <a:tr h="548640">
                <a:tc>
                  <a:txBody>
                    <a:bodyPr/>
                    <a:lstStyle/>
                    <a:p>
                      <a:pPr algn="ctr"/>
                      <a:r>
                        <a:rPr lang="en-US" dirty="0"/>
                        <a:t>Order id</a:t>
                      </a:r>
                      <a:endParaRPr lang="en-IN" dirty="0"/>
                    </a:p>
                  </a:txBody>
                  <a:tcPr/>
                </a:tc>
                <a:tc>
                  <a:txBody>
                    <a:bodyPr/>
                    <a:lstStyle/>
                    <a:p>
                      <a:pPr algn="ctr"/>
                      <a:r>
                        <a:rPr lang="en-US" dirty="0"/>
                        <a:t>Varchar</a:t>
                      </a:r>
                      <a:endParaRPr lang="en-IN" dirty="0"/>
                    </a:p>
                  </a:txBody>
                  <a:tcPr/>
                </a:tc>
                <a:tc>
                  <a:txBody>
                    <a:bodyPr/>
                    <a:lstStyle/>
                    <a:p>
                      <a:pPr algn="ctr"/>
                      <a:r>
                        <a:rPr lang="en-US" dirty="0"/>
                        <a:t>Link to Orders table</a:t>
                      </a:r>
                      <a:endParaRPr lang="en-IN" dirty="0"/>
                    </a:p>
                  </a:txBody>
                  <a:tcPr/>
                </a:tc>
                <a:extLst>
                  <a:ext uri="{0D108BD9-81ED-4DB2-BD59-A6C34878D82A}">
                    <a16:rowId xmlns:a16="http://schemas.microsoft.com/office/drawing/2014/main" val="2716097196"/>
                  </a:ext>
                </a:extLst>
              </a:tr>
              <a:tr h="548640">
                <a:tc>
                  <a:txBody>
                    <a:bodyPr/>
                    <a:lstStyle/>
                    <a:p>
                      <a:pPr algn="ctr"/>
                      <a:r>
                        <a:rPr lang="en-US" dirty="0"/>
                        <a:t>Customer Satisfaction Score</a:t>
                      </a:r>
                      <a:endParaRPr lang="en-IN" dirty="0"/>
                    </a:p>
                  </a:txBody>
                  <a:tcPr/>
                </a:tc>
                <a:tc>
                  <a:txBody>
                    <a:bodyPr/>
                    <a:lstStyle/>
                    <a:p>
                      <a:pPr algn="ctr"/>
                      <a:r>
                        <a:rPr lang="en-US" dirty="0"/>
                        <a:t>Int</a:t>
                      </a:r>
                      <a:endParaRPr lang="en-IN" dirty="0"/>
                    </a:p>
                  </a:txBody>
                  <a:tcPr/>
                </a:tc>
                <a:tc>
                  <a:txBody>
                    <a:bodyPr/>
                    <a:lstStyle/>
                    <a:p>
                      <a:pPr algn="ctr"/>
                      <a:r>
                        <a:rPr lang="en-US" dirty="0"/>
                        <a:t>Feedback score of specific order</a:t>
                      </a:r>
                      <a:endParaRPr lang="en-IN" dirty="0"/>
                    </a:p>
                  </a:txBody>
                  <a:tcPr/>
                </a:tc>
                <a:extLst>
                  <a:ext uri="{0D108BD9-81ED-4DB2-BD59-A6C34878D82A}">
                    <a16:rowId xmlns:a16="http://schemas.microsoft.com/office/drawing/2014/main" val="1769476703"/>
                  </a:ext>
                </a:extLst>
              </a:tr>
            </a:tbl>
          </a:graphicData>
        </a:graphic>
      </p:graphicFrame>
    </p:spTree>
    <p:extLst>
      <p:ext uri="{BB962C8B-B14F-4D97-AF65-F5344CB8AC3E}">
        <p14:creationId xmlns:p14="http://schemas.microsoft.com/office/powerpoint/2010/main" val="37919781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4292A-FBD0-F945-3736-DD85124FAB3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53D1F38-48F0-B816-3F4D-696A70A0DEB6}"/>
              </a:ext>
            </a:extLst>
          </p:cNvPr>
          <p:cNvSpPr>
            <a:spLocks noGrp="1"/>
          </p:cNvSpPr>
          <p:nvPr>
            <p:ph type="body" idx="1"/>
          </p:nvPr>
        </p:nvSpPr>
        <p:spPr>
          <a:xfrm>
            <a:off x="838200" y="2023409"/>
            <a:ext cx="10515600" cy="2381442"/>
          </a:xfrm>
        </p:spPr>
        <p:txBody>
          <a:bodyPr/>
          <a:lstStyle/>
          <a:p>
            <a:endParaRPr lang="en-IN" dirty="0"/>
          </a:p>
        </p:txBody>
      </p:sp>
      <p:sp>
        <p:nvSpPr>
          <p:cNvPr id="3" name="Title 2">
            <a:extLst>
              <a:ext uri="{FF2B5EF4-FFF2-40B4-BE49-F238E27FC236}">
                <a16:creationId xmlns:a16="http://schemas.microsoft.com/office/drawing/2014/main" id="{ADA47584-6319-BDDE-9A49-CBAFAC7C298C}"/>
              </a:ext>
            </a:extLst>
          </p:cNvPr>
          <p:cNvSpPr>
            <a:spLocks noGrp="1"/>
          </p:cNvSpPr>
          <p:nvPr>
            <p:ph type="title"/>
          </p:nvPr>
        </p:nvSpPr>
        <p:spPr/>
        <p:txBody>
          <a:bodyPr/>
          <a:lstStyle/>
          <a:p>
            <a:pPr algn="ctr"/>
            <a:r>
              <a:rPr lang="en-US" sz="4000" dirty="0"/>
              <a:t>Orders Payment Table Overview</a:t>
            </a:r>
            <a:endParaRPr lang="en-IN" sz="4000" dirty="0"/>
          </a:p>
        </p:txBody>
      </p:sp>
      <p:graphicFrame>
        <p:nvGraphicFramePr>
          <p:cNvPr id="4" name="Table 3">
            <a:extLst>
              <a:ext uri="{FF2B5EF4-FFF2-40B4-BE49-F238E27FC236}">
                <a16:creationId xmlns:a16="http://schemas.microsoft.com/office/drawing/2014/main" id="{EFE7A13B-326B-A6A0-40F1-749DDE182426}"/>
              </a:ext>
            </a:extLst>
          </p:cNvPr>
          <p:cNvGraphicFramePr>
            <a:graphicFrameLocks noGrp="1"/>
          </p:cNvGraphicFramePr>
          <p:nvPr>
            <p:extLst>
              <p:ext uri="{D42A27DB-BD31-4B8C-83A1-F6EECF244321}">
                <p14:modId xmlns:p14="http://schemas.microsoft.com/office/powerpoint/2010/main" val="265136077"/>
              </p:ext>
            </p:extLst>
          </p:nvPr>
        </p:nvGraphicFramePr>
        <p:xfrm>
          <a:off x="838199" y="2023409"/>
          <a:ext cx="10515600" cy="2194560"/>
        </p:xfrm>
        <a:graphic>
          <a:graphicData uri="http://schemas.openxmlformats.org/drawingml/2006/table">
            <a:tbl>
              <a:tblPr firstRow="1" bandRow="1">
                <a:tableStyleId>{073A0DAA-6AF3-43AB-8588-CEC1D06C72B9}</a:tableStyleId>
              </a:tblPr>
              <a:tblGrid>
                <a:gridCol w="2686666">
                  <a:extLst>
                    <a:ext uri="{9D8B030D-6E8A-4147-A177-3AD203B41FA5}">
                      <a16:colId xmlns:a16="http://schemas.microsoft.com/office/drawing/2014/main" val="755532198"/>
                    </a:ext>
                  </a:extLst>
                </a:gridCol>
                <a:gridCol w="2890683">
                  <a:extLst>
                    <a:ext uri="{9D8B030D-6E8A-4147-A177-3AD203B41FA5}">
                      <a16:colId xmlns:a16="http://schemas.microsoft.com/office/drawing/2014/main" val="1156790577"/>
                    </a:ext>
                  </a:extLst>
                </a:gridCol>
                <a:gridCol w="4938251">
                  <a:extLst>
                    <a:ext uri="{9D8B030D-6E8A-4147-A177-3AD203B41FA5}">
                      <a16:colId xmlns:a16="http://schemas.microsoft.com/office/drawing/2014/main" val="3826066216"/>
                    </a:ext>
                  </a:extLst>
                </a:gridCol>
              </a:tblGrid>
              <a:tr h="548640">
                <a:tc>
                  <a:txBody>
                    <a:bodyPr/>
                    <a:lstStyle/>
                    <a:p>
                      <a:pPr algn="ctr"/>
                      <a:r>
                        <a:rPr lang="en-US" dirty="0"/>
                        <a:t>Key Columns</a:t>
                      </a:r>
                      <a:endParaRPr lang="en-IN" dirty="0"/>
                    </a:p>
                  </a:txBody>
                  <a:tcPr/>
                </a:tc>
                <a:tc>
                  <a:txBody>
                    <a:bodyPr/>
                    <a:lstStyle/>
                    <a:p>
                      <a:pPr algn="ctr"/>
                      <a:r>
                        <a:rPr lang="en-US" dirty="0"/>
                        <a:t>Data Types</a:t>
                      </a:r>
                      <a:endParaRPr lang="en-IN" dirty="0"/>
                    </a:p>
                  </a:txBody>
                  <a:tcPr/>
                </a:tc>
                <a:tc>
                  <a:txBody>
                    <a:bodyPr/>
                    <a:lstStyle/>
                    <a:p>
                      <a:pPr algn="ctr"/>
                      <a:r>
                        <a:rPr lang="en-US" dirty="0"/>
                        <a:t>Description</a:t>
                      </a:r>
                      <a:endParaRPr lang="en-IN" dirty="0"/>
                    </a:p>
                  </a:txBody>
                  <a:tcPr/>
                </a:tc>
                <a:extLst>
                  <a:ext uri="{0D108BD9-81ED-4DB2-BD59-A6C34878D82A}">
                    <a16:rowId xmlns:a16="http://schemas.microsoft.com/office/drawing/2014/main" val="714049169"/>
                  </a:ext>
                </a:extLst>
              </a:tr>
              <a:tr h="548640">
                <a:tc>
                  <a:txBody>
                    <a:bodyPr/>
                    <a:lstStyle/>
                    <a:p>
                      <a:pPr algn="ctr"/>
                      <a:r>
                        <a:rPr lang="en-US" dirty="0"/>
                        <a:t>Order id</a:t>
                      </a:r>
                      <a:endParaRPr lang="en-IN" dirty="0"/>
                    </a:p>
                  </a:txBody>
                  <a:tcPr/>
                </a:tc>
                <a:tc>
                  <a:txBody>
                    <a:bodyPr/>
                    <a:lstStyle/>
                    <a:p>
                      <a:pPr algn="ctr"/>
                      <a:r>
                        <a:rPr lang="en-US" dirty="0"/>
                        <a:t>Varchar</a:t>
                      </a:r>
                      <a:endParaRPr lang="en-IN" dirty="0"/>
                    </a:p>
                  </a:txBody>
                  <a:tcPr/>
                </a:tc>
                <a:tc>
                  <a:txBody>
                    <a:bodyPr/>
                    <a:lstStyle/>
                    <a:p>
                      <a:pPr algn="ctr"/>
                      <a:r>
                        <a:rPr lang="en-US" dirty="0"/>
                        <a:t>Link to Orders table</a:t>
                      </a:r>
                      <a:endParaRPr lang="en-IN" dirty="0"/>
                    </a:p>
                  </a:txBody>
                  <a:tcPr/>
                </a:tc>
                <a:extLst>
                  <a:ext uri="{0D108BD9-81ED-4DB2-BD59-A6C34878D82A}">
                    <a16:rowId xmlns:a16="http://schemas.microsoft.com/office/drawing/2014/main" val="2716097196"/>
                  </a:ext>
                </a:extLst>
              </a:tr>
              <a:tr h="548640">
                <a:tc>
                  <a:txBody>
                    <a:bodyPr/>
                    <a:lstStyle/>
                    <a:p>
                      <a:pPr algn="ctr"/>
                      <a:r>
                        <a:rPr lang="en-US" dirty="0"/>
                        <a:t>Payment type</a:t>
                      </a:r>
                      <a:endParaRPr lang="en-IN" dirty="0"/>
                    </a:p>
                  </a:txBody>
                  <a:tcPr/>
                </a:tc>
                <a:tc>
                  <a:txBody>
                    <a:bodyPr/>
                    <a:lstStyle/>
                    <a:p>
                      <a:pPr algn="ctr"/>
                      <a:r>
                        <a:rPr lang="en-US" dirty="0"/>
                        <a:t>Varchar</a:t>
                      </a:r>
                      <a:endParaRPr lang="en-IN" dirty="0"/>
                    </a:p>
                  </a:txBody>
                  <a:tcPr/>
                </a:tc>
                <a:tc>
                  <a:txBody>
                    <a:bodyPr/>
                    <a:lstStyle/>
                    <a:p>
                      <a:pPr algn="ctr"/>
                      <a:r>
                        <a:rPr lang="en-US" dirty="0"/>
                        <a:t>Payment Method</a:t>
                      </a:r>
                      <a:endParaRPr lang="en-IN" dirty="0"/>
                    </a:p>
                  </a:txBody>
                  <a:tcPr/>
                </a:tc>
                <a:extLst>
                  <a:ext uri="{0D108BD9-81ED-4DB2-BD59-A6C34878D82A}">
                    <a16:rowId xmlns:a16="http://schemas.microsoft.com/office/drawing/2014/main" val="1769476703"/>
                  </a:ext>
                </a:extLst>
              </a:tr>
              <a:tr h="548640">
                <a:tc>
                  <a:txBody>
                    <a:bodyPr/>
                    <a:lstStyle/>
                    <a:p>
                      <a:pPr algn="ctr"/>
                      <a:r>
                        <a:rPr lang="en-US" dirty="0"/>
                        <a:t>Payment amount</a:t>
                      </a:r>
                      <a:endParaRPr lang="en-IN" dirty="0"/>
                    </a:p>
                  </a:txBody>
                  <a:tcPr/>
                </a:tc>
                <a:tc>
                  <a:txBody>
                    <a:bodyPr/>
                    <a:lstStyle/>
                    <a:p>
                      <a:pPr algn="ctr"/>
                      <a:r>
                        <a:rPr lang="en-US" dirty="0"/>
                        <a:t>Float</a:t>
                      </a:r>
                      <a:endParaRPr lang="en-IN" dirty="0"/>
                    </a:p>
                  </a:txBody>
                  <a:tcPr/>
                </a:tc>
                <a:tc>
                  <a:txBody>
                    <a:bodyPr/>
                    <a:lstStyle/>
                    <a:p>
                      <a:pPr algn="ctr"/>
                      <a:r>
                        <a:rPr lang="en-US" dirty="0"/>
                        <a:t>Amount Paid </a:t>
                      </a:r>
                      <a:endParaRPr lang="en-IN" dirty="0"/>
                    </a:p>
                  </a:txBody>
                  <a:tcPr/>
                </a:tc>
                <a:extLst>
                  <a:ext uri="{0D108BD9-81ED-4DB2-BD59-A6C34878D82A}">
                    <a16:rowId xmlns:a16="http://schemas.microsoft.com/office/drawing/2014/main" val="4173845559"/>
                  </a:ext>
                </a:extLst>
              </a:tr>
            </a:tbl>
          </a:graphicData>
        </a:graphic>
      </p:graphicFrame>
    </p:spTree>
    <p:extLst>
      <p:ext uri="{BB962C8B-B14F-4D97-AF65-F5344CB8AC3E}">
        <p14:creationId xmlns:p14="http://schemas.microsoft.com/office/powerpoint/2010/main" val="6431414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D1576C7-0F69-479F-1B0B-238DC0810E8C}"/>
              </a:ext>
            </a:extLst>
          </p:cNvPr>
          <p:cNvSpPr>
            <a:spLocks noGrp="1"/>
          </p:cNvSpPr>
          <p:nvPr>
            <p:ph type="body" idx="1"/>
          </p:nvPr>
        </p:nvSpPr>
        <p:spPr/>
        <p:txBody>
          <a:bodyPr/>
          <a:lstStyle/>
          <a:p>
            <a:pPr marL="186262" indent="0">
              <a:buNone/>
            </a:pPr>
            <a:endParaRPr lang="en-IN" dirty="0"/>
          </a:p>
        </p:txBody>
      </p:sp>
      <p:sp>
        <p:nvSpPr>
          <p:cNvPr id="3" name="Title 2">
            <a:extLst>
              <a:ext uri="{FF2B5EF4-FFF2-40B4-BE49-F238E27FC236}">
                <a16:creationId xmlns:a16="http://schemas.microsoft.com/office/drawing/2014/main" id="{6F26909D-87F9-95C3-DBEC-94CB71B50C25}"/>
              </a:ext>
            </a:extLst>
          </p:cNvPr>
          <p:cNvSpPr>
            <a:spLocks noGrp="1"/>
          </p:cNvSpPr>
          <p:nvPr>
            <p:ph type="title"/>
          </p:nvPr>
        </p:nvSpPr>
        <p:spPr/>
        <p:txBody>
          <a:bodyPr/>
          <a:lstStyle/>
          <a:p>
            <a:pPr algn="ctr"/>
            <a:r>
              <a:rPr lang="en-US" sz="4000" dirty="0"/>
              <a:t>Meta Data(1/2)</a:t>
            </a:r>
            <a:endParaRPr lang="en-IN" sz="4000" dirty="0"/>
          </a:p>
        </p:txBody>
      </p:sp>
      <p:graphicFrame>
        <p:nvGraphicFramePr>
          <p:cNvPr id="4" name="Table 3">
            <a:extLst>
              <a:ext uri="{FF2B5EF4-FFF2-40B4-BE49-F238E27FC236}">
                <a16:creationId xmlns:a16="http://schemas.microsoft.com/office/drawing/2014/main" id="{B065DB4D-214D-F84E-B278-64EB44135F74}"/>
              </a:ext>
            </a:extLst>
          </p:cNvPr>
          <p:cNvGraphicFramePr>
            <a:graphicFrameLocks noGrp="1"/>
          </p:cNvGraphicFramePr>
          <p:nvPr>
            <p:extLst>
              <p:ext uri="{D42A27DB-BD31-4B8C-83A1-F6EECF244321}">
                <p14:modId xmlns:p14="http://schemas.microsoft.com/office/powerpoint/2010/main" val="3876347035"/>
              </p:ext>
            </p:extLst>
          </p:nvPr>
        </p:nvGraphicFramePr>
        <p:xfrm>
          <a:off x="838199" y="2023407"/>
          <a:ext cx="10515600" cy="4196341"/>
        </p:xfrm>
        <a:graphic>
          <a:graphicData uri="http://schemas.openxmlformats.org/drawingml/2006/table">
            <a:tbl>
              <a:tblPr firstRow="1" bandRow="1">
                <a:tableStyleId>{073A0DAA-6AF3-43AB-8588-CEC1D06C72B9}</a:tableStyleId>
              </a:tblPr>
              <a:tblGrid>
                <a:gridCol w="1752600">
                  <a:extLst>
                    <a:ext uri="{9D8B030D-6E8A-4147-A177-3AD203B41FA5}">
                      <a16:colId xmlns:a16="http://schemas.microsoft.com/office/drawing/2014/main" val="183895607"/>
                    </a:ext>
                  </a:extLst>
                </a:gridCol>
                <a:gridCol w="1752600">
                  <a:extLst>
                    <a:ext uri="{9D8B030D-6E8A-4147-A177-3AD203B41FA5}">
                      <a16:colId xmlns:a16="http://schemas.microsoft.com/office/drawing/2014/main" val="3258163353"/>
                    </a:ext>
                  </a:extLst>
                </a:gridCol>
                <a:gridCol w="1752600">
                  <a:extLst>
                    <a:ext uri="{9D8B030D-6E8A-4147-A177-3AD203B41FA5}">
                      <a16:colId xmlns:a16="http://schemas.microsoft.com/office/drawing/2014/main" val="25580331"/>
                    </a:ext>
                  </a:extLst>
                </a:gridCol>
                <a:gridCol w="1752600">
                  <a:extLst>
                    <a:ext uri="{9D8B030D-6E8A-4147-A177-3AD203B41FA5}">
                      <a16:colId xmlns:a16="http://schemas.microsoft.com/office/drawing/2014/main" val="2489437644"/>
                    </a:ext>
                  </a:extLst>
                </a:gridCol>
                <a:gridCol w="1752600">
                  <a:extLst>
                    <a:ext uri="{9D8B030D-6E8A-4147-A177-3AD203B41FA5}">
                      <a16:colId xmlns:a16="http://schemas.microsoft.com/office/drawing/2014/main" val="438262056"/>
                    </a:ext>
                  </a:extLst>
                </a:gridCol>
                <a:gridCol w="1752600">
                  <a:extLst>
                    <a:ext uri="{9D8B030D-6E8A-4147-A177-3AD203B41FA5}">
                      <a16:colId xmlns:a16="http://schemas.microsoft.com/office/drawing/2014/main" val="730993998"/>
                    </a:ext>
                  </a:extLst>
                </a:gridCol>
              </a:tblGrid>
              <a:tr h="988909">
                <a:tc>
                  <a:txBody>
                    <a:bodyPr/>
                    <a:lstStyle/>
                    <a:p>
                      <a:pPr algn="ctr"/>
                      <a:r>
                        <a:rPr lang="en-US" dirty="0">
                          <a:solidFill>
                            <a:schemeClr val="bg1"/>
                          </a:solidFill>
                        </a:rPr>
                        <a:t>S.No</a:t>
                      </a:r>
                      <a:endParaRPr lang="en-IN" dirty="0">
                        <a:solidFill>
                          <a:schemeClr val="bg1"/>
                        </a:solidFill>
                      </a:endParaRPr>
                    </a:p>
                  </a:txBody>
                  <a:tcPr/>
                </a:tc>
                <a:tc>
                  <a:txBody>
                    <a:bodyPr/>
                    <a:lstStyle/>
                    <a:p>
                      <a:pPr algn="ctr"/>
                      <a:r>
                        <a:rPr lang="en-US" dirty="0">
                          <a:solidFill>
                            <a:schemeClr val="bg1"/>
                          </a:solidFill>
                        </a:rPr>
                        <a:t>Table Name</a:t>
                      </a:r>
                      <a:endParaRPr lang="en-IN" dirty="0">
                        <a:solidFill>
                          <a:schemeClr val="bg1"/>
                        </a:solidFill>
                      </a:endParaRPr>
                    </a:p>
                  </a:txBody>
                  <a:tcPr/>
                </a:tc>
                <a:tc>
                  <a:txBody>
                    <a:bodyPr/>
                    <a:lstStyle/>
                    <a:p>
                      <a:pPr algn="ctr"/>
                      <a:r>
                        <a:rPr lang="en-US" dirty="0">
                          <a:solidFill>
                            <a:schemeClr val="bg1"/>
                          </a:solidFill>
                        </a:rPr>
                        <a:t>Total Rows</a:t>
                      </a:r>
                      <a:endParaRPr lang="en-IN" dirty="0">
                        <a:solidFill>
                          <a:schemeClr val="bg1"/>
                        </a:solidFill>
                      </a:endParaRPr>
                    </a:p>
                  </a:txBody>
                  <a:tcPr/>
                </a:tc>
                <a:tc>
                  <a:txBody>
                    <a:bodyPr/>
                    <a:lstStyle/>
                    <a:p>
                      <a:pPr algn="ctr"/>
                      <a:r>
                        <a:rPr lang="en-US" dirty="0">
                          <a:solidFill>
                            <a:schemeClr val="bg1"/>
                          </a:solidFill>
                        </a:rPr>
                        <a:t>Total Columns</a:t>
                      </a:r>
                      <a:endParaRPr lang="en-IN" dirty="0">
                        <a:solidFill>
                          <a:schemeClr val="bg1"/>
                        </a:solidFill>
                      </a:endParaRPr>
                    </a:p>
                  </a:txBody>
                  <a:tcPr/>
                </a:tc>
                <a:tc>
                  <a:txBody>
                    <a:bodyPr/>
                    <a:lstStyle/>
                    <a:p>
                      <a:pPr algn="ctr"/>
                      <a:r>
                        <a:rPr lang="en-US" dirty="0">
                          <a:solidFill>
                            <a:schemeClr val="bg1"/>
                          </a:solidFill>
                        </a:rPr>
                        <a:t>Potential Primary Keys</a:t>
                      </a:r>
                      <a:endParaRPr lang="en-IN" dirty="0">
                        <a:solidFill>
                          <a:schemeClr val="bg1"/>
                        </a:solidFill>
                      </a:endParaRPr>
                    </a:p>
                  </a:txBody>
                  <a:tcPr/>
                </a:tc>
                <a:tc>
                  <a:txBody>
                    <a:bodyPr/>
                    <a:lstStyle/>
                    <a:p>
                      <a:pPr algn="ctr"/>
                      <a:r>
                        <a:rPr lang="en-US" dirty="0">
                          <a:solidFill>
                            <a:schemeClr val="bg1"/>
                          </a:solidFill>
                        </a:rPr>
                        <a:t>Potential Foreign Keys</a:t>
                      </a:r>
                      <a:endParaRPr lang="en-IN" dirty="0">
                        <a:solidFill>
                          <a:schemeClr val="bg1"/>
                        </a:solidFill>
                      </a:endParaRPr>
                    </a:p>
                  </a:txBody>
                  <a:tcPr/>
                </a:tc>
                <a:extLst>
                  <a:ext uri="{0D108BD9-81ED-4DB2-BD59-A6C34878D82A}">
                    <a16:rowId xmlns:a16="http://schemas.microsoft.com/office/drawing/2014/main" val="806469033"/>
                  </a:ext>
                </a:extLst>
              </a:tr>
              <a:tr h="988909">
                <a:tc>
                  <a:txBody>
                    <a:bodyPr/>
                    <a:lstStyle/>
                    <a:p>
                      <a:pPr algn="ctr"/>
                      <a:r>
                        <a:rPr lang="en-US" dirty="0"/>
                        <a:t>1.</a:t>
                      </a:r>
                      <a:endParaRPr lang="en-IN" dirty="0"/>
                    </a:p>
                  </a:txBody>
                  <a:tcPr/>
                </a:tc>
                <a:tc>
                  <a:txBody>
                    <a:bodyPr/>
                    <a:lstStyle/>
                    <a:p>
                      <a:pPr algn="ctr"/>
                      <a:r>
                        <a:rPr lang="en-US" dirty="0"/>
                        <a:t>Customer</a:t>
                      </a:r>
                      <a:endParaRPr lang="en-IN" dirty="0"/>
                    </a:p>
                  </a:txBody>
                  <a:tcPr/>
                </a:tc>
                <a:tc>
                  <a:txBody>
                    <a:bodyPr/>
                    <a:lstStyle/>
                    <a:p>
                      <a:pPr algn="ctr"/>
                      <a:r>
                        <a:rPr lang="en-US" dirty="0"/>
                        <a:t>99441</a:t>
                      </a:r>
                      <a:endParaRPr lang="en-IN" dirty="0"/>
                    </a:p>
                  </a:txBody>
                  <a:tcPr/>
                </a:tc>
                <a:tc>
                  <a:txBody>
                    <a:bodyPr/>
                    <a:lstStyle/>
                    <a:p>
                      <a:pPr algn="ctr"/>
                      <a:r>
                        <a:rPr lang="en-US" dirty="0"/>
                        <a:t>4</a:t>
                      </a:r>
                      <a:endParaRPr lang="en-IN" dirty="0"/>
                    </a:p>
                  </a:txBody>
                  <a:tcPr/>
                </a:tc>
                <a:tc>
                  <a:txBody>
                    <a:bodyPr/>
                    <a:lstStyle/>
                    <a:p>
                      <a:pPr algn="ctr"/>
                      <a:r>
                        <a:rPr lang="en-US" dirty="0"/>
                        <a:t>Customer id</a:t>
                      </a:r>
                      <a:endParaRPr lang="en-IN" dirty="0"/>
                    </a:p>
                  </a:txBody>
                  <a:tcPr/>
                </a:tc>
                <a:tc>
                  <a:txBody>
                    <a:bodyPr/>
                    <a:lstStyle/>
                    <a:p>
                      <a:pPr algn="ctr"/>
                      <a:r>
                        <a:rPr lang="en-US" dirty="0"/>
                        <a:t>NA</a:t>
                      </a:r>
                      <a:endParaRPr lang="en-IN" dirty="0"/>
                    </a:p>
                  </a:txBody>
                  <a:tcPr/>
                </a:tc>
                <a:extLst>
                  <a:ext uri="{0D108BD9-81ED-4DB2-BD59-A6C34878D82A}">
                    <a16:rowId xmlns:a16="http://schemas.microsoft.com/office/drawing/2014/main" val="378529189"/>
                  </a:ext>
                </a:extLst>
              </a:tr>
              <a:tr h="988909">
                <a:tc>
                  <a:txBody>
                    <a:bodyPr/>
                    <a:lstStyle/>
                    <a:p>
                      <a:pPr algn="ctr"/>
                      <a:r>
                        <a:rPr lang="en-US" dirty="0"/>
                        <a:t>2.</a:t>
                      </a:r>
                      <a:endParaRPr lang="en-IN" dirty="0"/>
                    </a:p>
                  </a:txBody>
                  <a:tcPr/>
                </a:tc>
                <a:tc>
                  <a:txBody>
                    <a:bodyPr/>
                    <a:lstStyle/>
                    <a:p>
                      <a:pPr algn="ctr"/>
                      <a:r>
                        <a:rPr lang="en-US" dirty="0"/>
                        <a:t>Orders</a:t>
                      </a:r>
                      <a:endParaRPr lang="en-IN" dirty="0"/>
                    </a:p>
                  </a:txBody>
                  <a:tcPr/>
                </a:tc>
                <a:tc>
                  <a:txBody>
                    <a:bodyPr/>
                    <a:lstStyle/>
                    <a:p>
                      <a:pPr algn="ctr"/>
                      <a:r>
                        <a:rPr lang="en-US" dirty="0"/>
                        <a:t>112650</a:t>
                      </a:r>
                      <a:endParaRPr lang="en-IN" dirty="0"/>
                    </a:p>
                  </a:txBody>
                  <a:tcPr/>
                </a:tc>
                <a:tc>
                  <a:txBody>
                    <a:bodyPr/>
                    <a:lstStyle/>
                    <a:p>
                      <a:pPr algn="ctr"/>
                      <a:r>
                        <a:rPr lang="en-US" dirty="0"/>
                        <a:t>11</a:t>
                      </a:r>
                      <a:endParaRPr lang="en-IN" dirty="0"/>
                    </a:p>
                  </a:txBody>
                  <a:tcPr/>
                </a:tc>
                <a:tc>
                  <a:txBody>
                    <a:bodyPr/>
                    <a:lstStyle/>
                    <a:p>
                      <a:pPr algn="ctr"/>
                      <a:r>
                        <a:rPr lang="en-US" dirty="0"/>
                        <a:t>Order id</a:t>
                      </a:r>
                      <a:endParaRPr lang="en-IN" dirty="0"/>
                    </a:p>
                  </a:txBody>
                  <a:tcPr/>
                </a:tc>
                <a:tc>
                  <a:txBody>
                    <a:bodyPr/>
                    <a:lstStyle/>
                    <a:p>
                      <a:pPr algn="ctr"/>
                      <a:r>
                        <a:rPr lang="en-US" dirty="0"/>
                        <a:t>Product id, Customer id, Delivered Store id</a:t>
                      </a:r>
                      <a:endParaRPr lang="en-IN" dirty="0"/>
                    </a:p>
                  </a:txBody>
                  <a:tcPr/>
                </a:tc>
                <a:extLst>
                  <a:ext uri="{0D108BD9-81ED-4DB2-BD59-A6C34878D82A}">
                    <a16:rowId xmlns:a16="http://schemas.microsoft.com/office/drawing/2014/main" val="1635376703"/>
                  </a:ext>
                </a:extLst>
              </a:tr>
              <a:tr h="988909">
                <a:tc>
                  <a:txBody>
                    <a:bodyPr/>
                    <a:lstStyle/>
                    <a:p>
                      <a:pPr algn="ctr"/>
                      <a:r>
                        <a:rPr lang="en-US" dirty="0"/>
                        <a:t>3.</a:t>
                      </a:r>
                      <a:endParaRPr lang="en-IN" dirty="0"/>
                    </a:p>
                  </a:txBody>
                  <a:tcPr/>
                </a:tc>
                <a:tc>
                  <a:txBody>
                    <a:bodyPr/>
                    <a:lstStyle/>
                    <a:p>
                      <a:pPr algn="ctr"/>
                      <a:r>
                        <a:rPr lang="en-US" dirty="0"/>
                        <a:t>Product</a:t>
                      </a:r>
                      <a:endParaRPr lang="en-IN" dirty="0"/>
                    </a:p>
                  </a:txBody>
                  <a:tcPr/>
                </a:tc>
                <a:tc>
                  <a:txBody>
                    <a:bodyPr/>
                    <a:lstStyle/>
                    <a:p>
                      <a:pPr algn="ctr"/>
                      <a:r>
                        <a:rPr lang="en-US" dirty="0"/>
                        <a:t>32951</a:t>
                      </a:r>
                      <a:endParaRPr lang="en-IN" dirty="0"/>
                    </a:p>
                  </a:txBody>
                  <a:tcPr/>
                </a:tc>
                <a:tc>
                  <a:txBody>
                    <a:bodyPr/>
                    <a:lstStyle/>
                    <a:p>
                      <a:pPr algn="ctr"/>
                      <a:r>
                        <a:rPr lang="en-US" dirty="0"/>
                        <a:t>9</a:t>
                      </a:r>
                      <a:endParaRPr lang="en-IN" dirty="0"/>
                    </a:p>
                  </a:txBody>
                  <a:tcPr/>
                </a:tc>
                <a:tc>
                  <a:txBody>
                    <a:bodyPr/>
                    <a:lstStyle/>
                    <a:p>
                      <a:pPr algn="ctr"/>
                      <a:r>
                        <a:rPr lang="en-US" dirty="0"/>
                        <a:t>Product id</a:t>
                      </a:r>
                      <a:endParaRPr lang="en-IN" dirty="0"/>
                    </a:p>
                  </a:txBody>
                  <a:tcPr/>
                </a:tc>
                <a:tc>
                  <a:txBody>
                    <a:bodyPr/>
                    <a:lstStyle/>
                    <a:p>
                      <a:pPr algn="ctr"/>
                      <a:r>
                        <a:rPr lang="en-US" dirty="0"/>
                        <a:t>Order id</a:t>
                      </a:r>
                      <a:endParaRPr lang="en-IN" dirty="0"/>
                    </a:p>
                  </a:txBody>
                  <a:tcPr/>
                </a:tc>
                <a:extLst>
                  <a:ext uri="{0D108BD9-81ED-4DB2-BD59-A6C34878D82A}">
                    <a16:rowId xmlns:a16="http://schemas.microsoft.com/office/drawing/2014/main" val="4088693315"/>
                  </a:ext>
                </a:extLst>
              </a:tr>
            </a:tbl>
          </a:graphicData>
        </a:graphic>
      </p:graphicFrame>
    </p:spTree>
    <p:extLst>
      <p:ext uri="{BB962C8B-B14F-4D97-AF65-F5344CB8AC3E}">
        <p14:creationId xmlns:p14="http://schemas.microsoft.com/office/powerpoint/2010/main" val="16143532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56412-1977-BD6B-BF41-0C034D11C20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3A2B85E-A642-9287-0BE8-900A8A8E9A7D}"/>
              </a:ext>
            </a:extLst>
          </p:cNvPr>
          <p:cNvSpPr>
            <a:spLocks noGrp="1"/>
          </p:cNvSpPr>
          <p:nvPr>
            <p:ph type="body" idx="1"/>
          </p:nvPr>
        </p:nvSpPr>
        <p:spPr/>
        <p:txBody>
          <a:bodyPr/>
          <a:lstStyle/>
          <a:p>
            <a:pPr marL="186262" indent="0">
              <a:buNone/>
            </a:pPr>
            <a:endParaRPr lang="en-IN" dirty="0"/>
          </a:p>
        </p:txBody>
      </p:sp>
      <p:sp>
        <p:nvSpPr>
          <p:cNvPr id="3" name="Title 2">
            <a:extLst>
              <a:ext uri="{FF2B5EF4-FFF2-40B4-BE49-F238E27FC236}">
                <a16:creationId xmlns:a16="http://schemas.microsoft.com/office/drawing/2014/main" id="{8CD0DCC8-CD62-739C-06C1-39496E173A09}"/>
              </a:ext>
            </a:extLst>
          </p:cNvPr>
          <p:cNvSpPr>
            <a:spLocks noGrp="1"/>
          </p:cNvSpPr>
          <p:nvPr>
            <p:ph type="title"/>
          </p:nvPr>
        </p:nvSpPr>
        <p:spPr/>
        <p:txBody>
          <a:bodyPr/>
          <a:lstStyle/>
          <a:p>
            <a:pPr algn="ctr"/>
            <a:r>
              <a:rPr lang="en-US" sz="4000" dirty="0"/>
              <a:t>Meta Data(2/2)</a:t>
            </a:r>
            <a:endParaRPr lang="en-IN" sz="4000" dirty="0"/>
          </a:p>
        </p:txBody>
      </p:sp>
      <p:graphicFrame>
        <p:nvGraphicFramePr>
          <p:cNvPr id="4" name="Table 3">
            <a:extLst>
              <a:ext uri="{FF2B5EF4-FFF2-40B4-BE49-F238E27FC236}">
                <a16:creationId xmlns:a16="http://schemas.microsoft.com/office/drawing/2014/main" id="{AAEBF615-8D7B-F2DF-3352-C4C9F9F9CDF3}"/>
              </a:ext>
            </a:extLst>
          </p:cNvPr>
          <p:cNvGraphicFramePr>
            <a:graphicFrameLocks noGrp="1"/>
          </p:cNvGraphicFramePr>
          <p:nvPr>
            <p:extLst>
              <p:ext uri="{D42A27DB-BD31-4B8C-83A1-F6EECF244321}">
                <p14:modId xmlns:p14="http://schemas.microsoft.com/office/powerpoint/2010/main" val="3578849625"/>
              </p:ext>
            </p:extLst>
          </p:nvPr>
        </p:nvGraphicFramePr>
        <p:xfrm>
          <a:off x="838199" y="2023407"/>
          <a:ext cx="10584544" cy="3955636"/>
        </p:xfrm>
        <a:graphic>
          <a:graphicData uri="http://schemas.openxmlformats.org/drawingml/2006/table">
            <a:tbl>
              <a:tblPr firstRow="1" bandRow="1">
                <a:tableStyleId>{073A0DAA-6AF3-43AB-8588-CEC1D06C72B9}</a:tableStyleId>
              </a:tblPr>
              <a:tblGrid>
                <a:gridCol w="1752600">
                  <a:extLst>
                    <a:ext uri="{9D8B030D-6E8A-4147-A177-3AD203B41FA5}">
                      <a16:colId xmlns:a16="http://schemas.microsoft.com/office/drawing/2014/main" val="183895607"/>
                    </a:ext>
                  </a:extLst>
                </a:gridCol>
                <a:gridCol w="1752600">
                  <a:extLst>
                    <a:ext uri="{9D8B030D-6E8A-4147-A177-3AD203B41FA5}">
                      <a16:colId xmlns:a16="http://schemas.microsoft.com/office/drawing/2014/main" val="3258163353"/>
                    </a:ext>
                  </a:extLst>
                </a:gridCol>
                <a:gridCol w="1752600">
                  <a:extLst>
                    <a:ext uri="{9D8B030D-6E8A-4147-A177-3AD203B41FA5}">
                      <a16:colId xmlns:a16="http://schemas.microsoft.com/office/drawing/2014/main" val="25580331"/>
                    </a:ext>
                  </a:extLst>
                </a:gridCol>
                <a:gridCol w="1752600">
                  <a:extLst>
                    <a:ext uri="{9D8B030D-6E8A-4147-A177-3AD203B41FA5}">
                      <a16:colId xmlns:a16="http://schemas.microsoft.com/office/drawing/2014/main" val="2489437644"/>
                    </a:ext>
                  </a:extLst>
                </a:gridCol>
                <a:gridCol w="1752600">
                  <a:extLst>
                    <a:ext uri="{9D8B030D-6E8A-4147-A177-3AD203B41FA5}">
                      <a16:colId xmlns:a16="http://schemas.microsoft.com/office/drawing/2014/main" val="438262056"/>
                    </a:ext>
                  </a:extLst>
                </a:gridCol>
                <a:gridCol w="1821544">
                  <a:extLst>
                    <a:ext uri="{9D8B030D-6E8A-4147-A177-3AD203B41FA5}">
                      <a16:colId xmlns:a16="http://schemas.microsoft.com/office/drawing/2014/main" val="730993998"/>
                    </a:ext>
                  </a:extLst>
                </a:gridCol>
              </a:tblGrid>
              <a:tr h="988909">
                <a:tc>
                  <a:txBody>
                    <a:bodyPr/>
                    <a:lstStyle/>
                    <a:p>
                      <a:pPr algn="ctr"/>
                      <a:r>
                        <a:rPr lang="en-US" dirty="0">
                          <a:solidFill>
                            <a:schemeClr val="bg1"/>
                          </a:solidFill>
                        </a:rPr>
                        <a:t>S.No</a:t>
                      </a:r>
                      <a:endParaRPr lang="en-IN" dirty="0">
                        <a:solidFill>
                          <a:schemeClr val="bg1"/>
                        </a:solidFill>
                      </a:endParaRPr>
                    </a:p>
                  </a:txBody>
                  <a:tcPr/>
                </a:tc>
                <a:tc>
                  <a:txBody>
                    <a:bodyPr/>
                    <a:lstStyle/>
                    <a:p>
                      <a:pPr algn="ctr"/>
                      <a:r>
                        <a:rPr lang="en-US" dirty="0">
                          <a:solidFill>
                            <a:schemeClr val="bg1"/>
                          </a:solidFill>
                        </a:rPr>
                        <a:t>Table Name</a:t>
                      </a:r>
                      <a:endParaRPr lang="en-IN" dirty="0">
                        <a:solidFill>
                          <a:schemeClr val="bg1"/>
                        </a:solidFill>
                      </a:endParaRPr>
                    </a:p>
                  </a:txBody>
                  <a:tcPr/>
                </a:tc>
                <a:tc>
                  <a:txBody>
                    <a:bodyPr/>
                    <a:lstStyle/>
                    <a:p>
                      <a:pPr algn="ctr"/>
                      <a:r>
                        <a:rPr lang="en-US" dirty="0">
                          <a:solidFill>
                            <a:schemeClr val="bg1"/>
                          </a:solidFill>
                        </a:rPr>
                        <a:t>Total Rows</a:t>
                      </a:r>
                      <a:endParaRPr lang="en-IN" dirty="0">
                        <a:solidFill>
                          <a:schemeClr val="bg1"/>
                        </a:solidFill>
                      </a:endParaRPr>
                    </a:p>
                  </a:txBody>
                  <a:tcPr/>
                </a:tc>
                <a:tc>
                  <a:txBody>
                    <a:bodyPr/>
                    <a:lstStyle/>
                    <a:p>
                      <a:pPr algn="ctr"/>
                      <a:r>
                        <a:rPr lang="en-US" dirty="0">
                          <a:solidFill>
                            <a:schemeClr val="bg1"/>
                          </a:solidFill>
                        </a:rPr>
                        <a:t>Total Columns</a:t>
                      </a:r>
                      <a:endParaRPr lang="en-IN" dirty="0">
                        <a:solidFill>
                          <a:schemeClr val="bg1"/>
                        </a:solidFill>
                      </a:endParaRPr>
                    </a:p>
                  </a:txBody>
                  <a:tcPr/>
                </a:tc>
                <a:tc>
                  <a:txBody>
                    <a:bodyPr/>
                    <a:lstStyle/>
                    <a:p>
                      <a:pPr algn="ctr"/>
                      <a:r>
                        <a:rPr lang="en-US" dirty="0">
                          <a:solidFill>
                            <a:schemeClr val="bg1"/>
                          </a:solidFill>
                        </a:rPr>
                        <a:t>Potential Primary Keys</a:t>
                      </a:r>
                      <a:endParaRPr lang="en-IN" dirty="0">
                        <a:solidFill>
                          <a:schemeClr val="bg1"/>
                        </a:solidFill>
                      </a:endParaRPr>
                    </a:p>
                  </a:txBody>
                  <a:tcPr/>
                </a:tc>
                <a:tc>
                  <a:txBody>
                    <a:bodyPr/>
                    <a:lstStyle/>
                    <a:p>
                      <a:pPr algn="ctr"/>
                      <a:r>
                        <a:rPr lang="en-US" dirty="0">
                          <a:solidFill>
                            <a:schemeClr val="bg1"/>
                          </a:solidFill>
                        </a:rPr>
                        <a:t>Potential Foreign Keys</a:t>
                      </a:r>
                      <a:endParaRPr lang="en-IN" dirty="0">
                        <a:solidFill>
                          <a:schemeClr val="bg1"/>
                        </a:solidFill>
                      </a:endParaRPr>
                    </a:p>
                  </a:txBody>
                  <a:tcPr/>
                </a:tc>
                <a:extLst>
                  <a:ext uri="{0D108BD9-81ED-4DB2-BD59-A6C34878D82A}">
                    <a16:rowId xmlns:a16="http://schemas.microsoft.com/office/drawing/2014/main" val="806469033"/>
                  </a:ext>
                </a:extLst>
              </a:tr>
              <a:tr h="988909">
                <a:tc>
                  <a:txBody>
                    <a:bodyPr/>
                    <a:lstStyle/>
                    <a:p>
                      <a:pPr algn="ctr"/>
                      <a:r>
                        <a:rPr lang="en-US" dirty="0"/>
                        <a:t>4.</a:t>
                      </a:r>
                      <a:endParaRPr lang="en-IN" dirty="0"/>
                    </a:p>
                  </a:txBody>
                  <a:tcPr/>
                </a:tc>
                <a:tc>
                  <a:txBody>
                    <a:bodyPr/>
                    <a:lstStyle/>
                    <a:p>
                      <a:pPr algn="ctr"/>
                      <a:r>
                        <a:rPr lang="en-US" dirty="0"/>
                        <a:t>Orders Payment</a:t>
                      </a:r>
                      <a:endParaRPr lang="en-IN" dirty="0"/>
                    </a:p>
                  </a:txBody>
                  <a:tcPr/>
                </a:tc>
                <a:tc>
                  <a:txBody>
                    <a:bodyPr/>
                    <a:lstStyle/>
                    <a:p>
                      <a:pPr algn="ctr"/>
                      <a:r>
                        <a:rPr lang="en-US" dirty="0"/>
                        <a:t>103886</a:t>
                      </a:r>
                      <a:endParaRPr lang="en-IN" dirty="0"/>
                    </a:p>
                  </a:txBody>
                  <a:tcPr/>
                </a:tc>
                <a:tc>
                  <a:txBody>
                    <a:bodyPr/>
                    <a:lstStyle/>
                    <a:p>
                      <a:pPr algn="ctr"/>
                      <a:r>
                        <a:rPr lang="en-US" dirty="0"/>
                        <a:t>3</a:t>
                      </a:r>
                      <a:endParaRPr lang="en-IN" dirty="0"/>
                    </a:p>
                  </a:txBody>
                  <a:tcPr/>
                </a:tc>
                <a:tc>
                  <a:txBody>
                    <a:bodyPr/>
                    <a:lstStyle/>
                    <a:p>
                      <a:pPr algn="ctr"/>
                      <a:r>
                        <a:rPr lang="en-US" dirty="0"/>
                        <a:t>NA</a:t>
                      </a:r>
                      <a:endParaRPr lang="en-IN" dirty="0"/>
                    </a:p>
                  </a:txBody>
                  <a:tcPr/>
                </a:tc>
                <a:tc>
                  <a:txBody>
                    <a:bodyPr/>
                    <a:lstStyle/>
                    <a:p>
                      <a:pPr algn="ctr"/>
                      <a:r>
                        <a:rPr lang="en-US" dirty="0"/>
                        <a:t>Order Id</a:t>
                      </a:r>
                      <a:endParaRPr lang="en-IN" dirty="0"/>
                    </a:p>
                  </a:txBody>
                  <a:tcPr/>
                </a:tc>
                <a:extLst>
                  <a:ext uri="{0D108BD9-81ED-4DB2-BD59-A6C34878D82A}">
                    <a16:rowId xmlns:a16="http://schemas.microsoft.com/office/drawing/2014/main" val="378529189"/>
                  </a:ext>
                </a:extLst>
              </a:tr>
              <a:tr h="988909">
                <a:tc>
                  <a:txBody>
                    <a:bodyPr/>
                    <a:lstStyle/>
                    <a:p>
                      <a:pPr algn="ctr"/>
                      <a:r>
                        <a:rPr lang="en-US" dirty="0"/>
                        <a:t>5.</a:t>
                      </a:r>
                      <a:endParaRPr lang="en-IN" dirty="0"/>
                    </a:p>
                  </a:txBody>
                  <a:tcPr/>
                </a:tc>
                <a:tc>
                  <a:txBody>
                    <a:bodyPr/>
                    <a:lstStyle/>
                    <a:p>
                      <a:pPr algn="ctr"/>
                      <a:r>
                        <a:rPr lang="en-US" dirty="0"/>
                        <a:t>Orders Reviews</a:t>
                      </a:r>
                      <a:endParaRPr lang="en-IN" dirty="0"/>
                    </a:p>
                  </a:txBody>
                  <a:tcPr/>
                </a:tc>
                <a:tc>
                  <a:txBody>
                    <a:bodyPr/>
                    <a:lstStyle/>
                    <a:p>
                      <a:pPr algn="ctr"/>
                      <a:r>
                        <a:rPr lang="en-US" dirty="0"/>
                        <a:t>100000</a:t>
                      </a:r>
                      <a:endParaRPr lang="en-IN" dirty="0"/>
                    </a:p>
                  </a:txBody>
                  <a:tcPr/>
                </a:tc>
                <a:tc>
                  <a:txBody>
                    <a:bodyPr/>
                    <a:lstStyle/>
                    <a:p>
                      <a:pPr algn="ctr"/>
                      <a:r>
                        <a:rPr lang="en-US" dirty="0"/>
                        <a:t>2</a:t>
                      </a:r>
                      <a:endParaRPr lang="en-IN" dirty="0"/>
                    </a:p>
                  </a:txBody>
                  <a:tcPr/>
                </a:tc>
                <a:tc>
                  <a:txBody>
                    <a:bodyPr/>
                    <a:lstStyle/>
                    <a:p>
                      <a:pPr algn="ctr"/>
                      <a:r>
                        <a:rPr lang="en-US" dirty="0"/>
                        <a:t>NA</a:t>
                      </a:r>
                      <a:endParaRPr lang="en-IN" dirty="0"/>
                    </a:p>
                  </a:txBody>
                  <a:tcPr/>
                </a:tc>
                <a:tc>
                  <a:txBody>
                    <a:bodyPr/>
                    <a:lstStyle/>
                    <a:p>
                      <a:pPr algn="ctr"/>
                      <a:r>
                        <a:rPr lang="en-US" dirty="0"/>
                        <a:t>Order id</a:t>
                      </a:r>
                      <a:endParaRPr lang="en-IN" dirty="0"/>
                    </a:p>
                  </a:txBody>
                  <a:tcPr/>
                </a:tc>
                <a:extLst>
                  <a:ext uri="{0D108BD9-81ED-4DB2-BD59-A6C34878D82A}">
                    <a16:rowId xmlns:a16="http://schemas.microsoft.com/office/drawing/2014/main" val="1635376703"/>
                  </a:ext>
                </a:extLst>
              </a:tr>
              <a:tr h="988909">
                <a:tc>
                  <a:txBody>
                    <a:bodyPr/>
                    <a:lstStyle/>
                    <a:p>
                      <a:pPr algn="ctr"/>
                      <a:r>
                        <a:rPr lang="en-US" dirty="0"/>
                        <a:t>6.</a:t>
                      </a:r>
                      <a:endParaRPr lang="en-IN" dirty="0"/>
                    </a:p>
                  </a:txBody>
                  <a:tcPr/>
                </a:tc>
                <a:tc>
                  <a:txBody>
                    <a:bodyPr/>
                    <a:lstStyle/>
                    <a:p>
                      <a:pPr algn="ctr"/>
                      <a:r>
                        <a:rPr lang="en-US" dirty="0"/>
                        <a:t>Store</a:t>
                      </a:r>
                      <a:endParaRPr lang="en-IN" dirty="0"/>
                    </a:p>
                  </a:txBody>
                  <a:tcPr/>
                </a:tc>
                <a:tc>
                  <a:txBody>
                    <a:bodyPr/>
                    <a:lstStyle/>
                    <a:p>
                      <a:pPr algn="ctr"/>
                      <a:r>
                        <a:rPr lang="en-US" dirty="0"/>
                        <a:t>535</a:t>
                      </a:r>
                      <a:endParaRPr lang="en-IN" dirty="0"/>
                    </a:p>
                  </a:txBody>
                  <a:tcPr/>
                </a:tc>
                <a:tc>
                  <a:txBody>
                    <a:bodyPr/>
                    <a:lstStyle/>
                    <a:p>
                      <a:pPr algn="ctr"/>
                      <a:r>
                        <a:rPr lang="en-US" dirty="0"/>
                        <a:t>4</a:t>
                      </a:r>
                      <a:endParaRPr lang="en-IN" dirty="0"/>
                    </a:p>
                  </a:txBody>
                  <a:tcPr/>
                </a:tc>
                <a:tc>
                  <a:txBody>
                    <a:bodyPr/>
                    <a:lstStyle/>
                    <a:p>
                      <a:pPr algn="ctr"/>
                      <a:r>
                        <a:rPr lang="en-US" dirty="0"/>
                        <a:t>Store ID</a:t>
                      </a:r>
                      <a:endParaRPr lang="en-IN" dirty="0"/>
                    </a:p>
                  </a:txBody>
                  <a:tcPr/>
                </a:tc>
                <a:tc>
                  <a:txBody>
                    <a:bodyPr/>
                    <a:lstStyle/>
                    <a:p>
                      <a:pPr algn="ctr"/>
                      <a:r>
                        <a:rPr lang="en-US" dirty="0"/>
                        <a:t>NA</a:t>
                      </a:r>
                      <a:endParaRPr lang="en-IN" dirty="0"/>
                    </a:p>
                  </a:txBody>
                  <a:tcPr/>
                </a:tc>
                <a:extLst>
                  <a:ext uri="{0D108BD9-81ED-4DB2-BD59-A6C34878D82A}">
                    <a16:rowId xmlns:a16="http://schemas.microsoft.com/office/drawing/2014/main" val="4088693315"/>
                  </a:ext>
                </a:extLst>
              </a:tr>
            </a:tbl>
          </a:graphicData>
        </a:graphic>
      </p:graphicFrame>
    </p:spTree>
    <p:extLst>
      <p:ext uri="{BB962C8B-B14F-4D97-AF65-F5344CB8AC3E}">
        <p14:creationId xmlns:p14="http://schemas.microsoft.com/office/powerpoint/2010/main" val="42704229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4C87990-D33C-7547-93BB-D27C108CE840}"/>
              </a:ext>
            </a:extLst>
          </p:cNvPr>
          <p:cNvSpPr>
            <a:spLocks noGrp="1"/>
          </p:cNvSpPr>
          <p:nvPr>
            <p:ph type="body" idx="1"/>
          </p:nvPr>
        </p:nvSpPr>
        <p:spPr/>
        <p:txBody>
          <a:bodyPr/>
          <a:lstStyle/>
          <a:p>
            <a:endParaRPr lang="en-IN" dirty="0"/>
          </a:p>
        </p:txBody>
      </p:sp>
      <p:sp>
        <p:nvSpPr>
          <p:cNvPr id="3" name="Title 2">
            <a:extLst>
              <a:ext uri="{FF2B5EF4-FFF2-40B4-BE49-F238E27FC236}">
                <a16:creationId xmlns:a16="http://schemas.microsoft.com/office/drawing/2014/main" id="{768D95B2-B2B6-4CCD-2703-ABB3D86162DA}"/>
              </a:ext>
            </a:extLst>
          </p:cNvPr>
          <p:cNvSpPr>
            <a:spLocks noGrp="1"/>
          </p:cNvSpPr>
          <p:nvPr>
            <p:ph type="title"/>
          </p:nvPr>
        </p:nvSpPr>
        <p:spPr>
          <a:xfrm>
            <a:off x="403197" y="0"/>
            <a:ext cx="10675200" cy="878956"/>
          </a:xfrm>
        </p:spPr>
        <p:txBody>
          <a:bodyPr/>
          <a:lstStyle/>
          <a:p>
            <a:pPr algn="ctr"/>
            <a:r>
              <a:rPr lang="en-US" sz="4000" dirty="0"/>
              <a:t>E-R Diagram</a:t>
            </a:r>
            <a:endParaRPr lang="en-IN" sz="4000" dirty="0"/>
          </a:p>
        </p:txBody>
      </p:sp>
      <p:pic>
        <p:nvPicPr>
          <p:cNvPr id="7" name="Picture 6">
            <a:extLst>
              <a:ext uri="{FF2B5EF4-FFF2-40B4-BE49-F238E27FC236}">
                <a16:creationId xmlns:a16="http://schemas.microsoft.com/office/drawing/2014/main" id="{7EE908E8-EC4A-22DF-E2A7-CFA2115396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52052"/>
            <a:ext cx="12192000" cy="5152104"/>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Tree>
    <p:extLst>
      <p:ext uri="{BB962C8B-B14F-4D97-AF65-F5344CB8AC3E}">
        <p14:creationId xmlns:p14="http://schemas.microsoft.com/office/powerpoint/2010/main" val="15696207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110E6F-4ADB-D8CF-0723-FFA3E59D1B5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89152180-E3C9-3AB3-ABFA-75C06E0E3107}"/>
              </a:ext>
            </a:extLst>
          </p:cNvPr>
          <p:cNvSpPr>
            <a:spLocks noGrp="1"/>
          </p:cNvSpPr>
          <p:nvPr>
            <p:ph type="body" idx="1"/>
          </p:nvPr>
        </p:nvSpPr>
        <p:spPr>
          <a:xfrm>
            <a:off x="838200" y="2023408"/>
            <a:ext cx="10515600" cy="4367560"/>
          </a:xfrm>
        </p:spPr>
        <p:txBody>
          <a:bodyPr numCol="2">
            <a:normAutofit/>
          </a:bodyPr>
          <a:lstStyle/>
          <a:p>
            <a:pPr>
              <a:lnSpc>
                <a:spcPct val="100000"/>
              </a:lnSpc>
              <a:buFont typeface="Wingdings" panose="05000000000000000000" pitchFamily="2" charset="2"/>
              <a:buChar char="q"/>
            </a:pPr>
            <a:r>
              <a:rPr lang="en-US" sz="2000" dirty="0"/>
              <a:t>Data type of </a:t>
            </a:r>
            <a:r>
              <a:rPr lang="en-US" sz="2000" dirty="0" err="1"/>
              <a:t>customer_id</a:t>
            </a:r>
            <a:r>
              <a:rPr lang="en-US" sz="2000" dirty="0"/>
              <a:t> in Customers and Orders table is Int which is prone to error.</a:t>
            </a:r>
          </a:p>
          <a:p>
            <a:pPr>
              <a:lnSpc>
                <a:spcPct val="100000"/>
              </a:lnSpc>
              <a:buFont typeface="Wingdings" panose="05000000000000000000" pitchFamily="2" charset="2"/>
              <a:buChar char="q"/>
            </a:pPr>
            <a:r>
              <a:rPr lang="en-US" sz="2000" dirty="0"/>
              <a:t>Date Type of </a:t>
            </a:r>
            <a:r>
              <a:rPr lang="en-US" sz="2000" dirty="0" err="1"/>
              <a:t>Bill_Date_TimeStamp</a:t>
            </a:r>
            <a:r>
              <a:rPr lang="en-US" sz="2000" dirty="0"/>
              <a:t> is inconsistent.</a:t>
            </a:r>
          </a:p>
          <a:p>
            <a:pPr>
              <a:buFont typeface="Wingdings" panose="05000000000000000000" pitchFamily="2" charset="2"/>
              <a:buChar char="q"/>
            </a:pPr>
            <a:r>
              <a:rPr lang="en-US" sz="2000" dirty="0"/>
              <a:t>10,000+ Records have redundancy with respect to quantity in Orders table.</a:t>
            </a:r>
          </a:p>
          <a:p>
            <a:pPr>
              <a:buFont typeface="Wingdings" panose="05000000000000000000" pitchFamily="2" charset="2"/>
              <a:buChar char="q"/>
            </a:pPr>
            <a:r>
              <a:rPr lang="en-US" sz="2000" dirty="0"/>
              <a:t>4 records are outside of out given scope of data.</a:t>
            </a:r>
          </a:p>
          <a:p>
            <a:endParaRPr lang="en-IN" dirty="0"/>
          </a:p>
        </p:txBody>
      </p:sp>
      <p:sp>
        <p:nvSpPr>
          <p:cNvPr id="3" name="Title 2">
            <a:extLst>
              <a:ext uri="{FF2B5EF4-FFF2-40B4-BE49-F238E27FC236}">
                <a16:creationId xmlns:a16="http://schemas.microsoft.com/office/drawing/2014/main" id="{B576B53C-5FC2-30A5-42D0-6B8CF7B0C370}"/>
              </a:ext>
            </a:extLst>
          </p:cNvPr>
          <p:cNvSpPr>
            <a:spLocks noGrp="1"/>
          </p:cNvSpPr>
          <p:nvPr>
            <p:ph type="title"/>
          </p:nvPr>
        </p:nvSpPr>
        <p:spPr>
          <a:xfrm>
            <a:off x="403197" y="-1"/>
            <a:ext cx="10675200" cy="2023409"/>
          </a:xfrm>
        </p:spPr>
        <p:txBody>
          <a:bodyPr/>
          <a:lstStyle/>
          <a:p>
            <a:pPr algn="ctr"/>
            <a:r>
              <a:rPr lang="en-US" sz="4000" dirty="0"/>
              <a:t>Inconsistencies &amp; Discrepancies in Data(1/5)</a:t>
            </a:r>
            <a:endParaRPr lang="en-IN" sz="4000" dirty="0"/>
          </a:p>
        </p:txBody>
      </p:sp>
      <p:pic>
        <p:nvPicPr>
          <p:cNvPr id="5" name="Picture 4">
            <a:extLst>
              <a:ext uri="{FF2B5EF4-FFF2-40B4-BE49-F238E27FC236}">
                <a16:creationId xmlns:a16="http://schemas.microsoft.com/office/drawing/2014/main" id="{F49DC016-E2CD-EADA-4BC6-638073CEBAE7}"/>
              </a:ext>
            </a:extLst>
          </p:cNvPr>
          <p:cNvPicPr>
            <a:picLocks noChangeAspect="1"/>
          </p:cNvPicPr>
          <p:nvPr/>
        </p:nvPicPr>
        <p:blipFill rotWithShape="1">
          <a:blip r:embed="rId2">
            <a:extLst>
              <a:ext uri="{28A0092B-C50C-407E-A947-70E740481C1C}">
                <a14:useLocalDpi xmlns:a14="http://schemas.microsoft.com/office/drawing/2010/main" val="0"/>
              </a:ext>
            </a:extLst>
          </a:blip>
          <a:srcRect l="-58766" t="321331" r="58766" b="-561131"/>
          <a:stretch>
            <a:fillRect/>
          </a:stretch>
        </p:blipFill>
        <p:spPr>
          <a:xfrm>
            <a:off x="838200" y="3136755"/>
            <a:ext cx="7227278" cy="1177338"/>
          </a:xfrm>
          <a:prstGeom prst="rect">
            <a:avLst/>
          </a:prstGeom>
        </p:spPr>
      </p:pic>
      <p:pic>
        <p:nvPicPr>
          <p:cNvPr id="9" name="Picture 8">
            <a:extLst>
              <a:ext uri="{FF2B5EF4-FFF2-40B4-BE49-F238E27FC236}">
                <a16:creationId xmlns:a16="http://schemas.microsoft.com/office/drawing/2014/main" id="{C1D61E72-9A62-9D56-C3C5-191A8242A65B}"/>
              </a:ext>
            </a:extLst>
          </p:cNvPr>
          <p:cNvPicPr>
            <a:picLocks noChangeAspect="1"/>
          </p:cNvPicPr>
          <p:nvPr/>
        </p:nvPicPr>
        <p:blipFill>
          <a:blip r:embed="rId3">
            <a:extLst>
              <a:ext uri="{28A0092B-C50C-407E-A947-70E740481C1C}">
                <a14:useLocalDpi xmlns:a14="http://schemas.microsoft.com/office/drawing/2010/main" val="0"/>
              </a:ext>
            </a:extLst>
          </a:blip>
          <a:srcRect l="-10728" t="-1" r="23115" b="-12337"/>
          <a:stretch>
            <a:fillRect/>
          </a:stretch>
        </p:blipFill>
        <p:spPr>
          <a:xfrm>
            <a:off x="6096000" y="3565130"/>
            <a:ext cx="5528680" cy="642057"/>
          </a:xfrm>
          <a:prstGeom prst="rect">
            <a:avLst/>
          </a:prstGeom>
        </p:spPr>
      </p:pic>
      <p:pic>
        <p:nvPicPr>
          <p:cNvPr id="11" name="Picture 10">
            <a:extLst>
              <a:ext uri="{FF2B5EF4-FFF2-40B4-BE49-F238E27FC236}">
                <a16:creationId xmlns:a16="http://schemas.microsoft.com/office/drawing/2014/main" id="{47D7F2CC-4330-C89E-2DA2-F85A5B993DD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24004" y="4594129"/>
            <a:ext cx="4629796" cy="704948"/>
          </a:xfrm>
          <a:prstGeom prst="rect">
            <a:avLst/>
          </a:prstGeom>
        </p:spPr>
      </p:pic>
    </p:spTree>
    <p:extLst>
      <p:ext uri="{BB962C8B-B14F-4D97-AF65-F5344CB8AC3E}">
        <p14:creationId xmlns:p14="http://schemas.microsoft.com/office/powerpoint/2010/main" val="17586320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9217150-C2DB-FCA5-1923-A96501ED8F87}"/>
              </a:ext>
            </a:extLst>
          </p:cNvPr>
          <p:cNvSpPr>
            <a:spLocks noGrp="1"/>
          </p:cNvSpPr>
          <p:nvPr>
            <p:ph type="body" idx="1"/>
          </p:nvPr>
        </p:nvSpPr>
        <p:spPr>
          <a:xfrm>
            <a:off x="838200" y="2023409"/>
            <a:ext cx="10515600" cy="4259404"/>
          </a:xfrm>
        </p:spPr>
        <p:txBody>
          <a:bodyPr numCol="2"/>
          <a:lstStyle/>
          <a:p>
            <a:pPr>
              <a:buFont typeface="Wingdings" panose="05000000000000000000" pitchFamily="2" charset="2"/>
              <a:buChar char="q"/>
            </a:pPr>
            <a:r>
              <a:rPr lang="en-US" sz="2000" dirty="0"/>
              <a:t>12 records are such that where </a:t>
            </a:r>
            <a:r>
              <a:rPr lang="en-US" sz="2000" dirty="0" err="1"/>
              <a:t>order_id</a:t>
            </a:r>
            <a:r>
              <a:rPr lang="en-US" sz="2000" dirty="0"/>
              <a:t> is linked with more than one </a:t>
            </a:r>
            <a:r>
              <a:rPr lang="en-US" sz="2000" dirty="0" err="1"/>
              <a:t>Customer_id</a:t>
            </a:r>
            <a:r>
              <a:rPr lang="en-US" sz="2000" dirty="0"/>
              <a:t>.</a:t>
            </a:r>
          </a:p>
          <a:p>
            <a:pPr>
              <a:buFont typeface="Wingdings" panose="05000000000000000000" pitchFamily="2" charset="2"/>
              <a:buChar char="q"/>
            </a:pPr>
            <a:r>
              <a:rPr lang="en-US" sz="2000" dirty="0"/>
              <a:t>840 records with same </a:t>
            </a:r>
            <a:r>
              <a:rPr lang="en-US" sz="2000" dirty="0" err="1"/>
              <a:t>order_id</a:t>
            </a:r>
            <a:r>
              <a:rPr lang="en-US" sz="2000" dirty="0"/>
              <a:t> but with different </a:t>
            </a:r>
            <a:r>
              <a:rPr lang="en-US" sz="2000" dirty="0" err="1"/>
              <a:t>bill_date_timestamp</a:t>
            </a:r>
            <a:r>
              <a:rPr lang="en-US" sz="2000" dirty="0"/>
              <a:t> in orders table.</a:t>
            </a:r>
          </a:p>
          <a:p>
            <a:pPr>
              <a:buFont typeface="Wingdings" panose="05000000000000000000" pitchFamily="2" charset="2"/>
              <a:buChar char="q"/>
            </a:pPr>
            <a:r>
              <a:rPr lang="en-US" sz="2000" dirty="0"/>
              <a:t>1391 records with same </a:t>
            </a:r>
            <a:r>
              <a:rPr lang="en-US" sz="2000" dirty="0" err="1"/>
              <a:t>order_id</a:t>
            </a:r>
            <a:r>
              <a:rPr lang="en-US" sz="2000" dirty="0"/>
              <a:t> but with different </a:t>
            </a:r>
            <a:r>
              <a:rPr lang="en-US" sz="2000" dirty="0" err="1"/>
              <a:t>delivered_Storeid</a:t>
            </a:r>
            <a:r>
              <a:rPr lang="en-US" sz="2000" dirty="0"/>
              <a:t> while channel is “Instore”.</a:t>
            </a:r>
          </a:p>
          <a:p>
            <a:pPr>
              <a:buFont typeface="Wingdings" panose="05000000000000000000" pitchFamily="2" charset="2"/>
              <a:buChar char="q"/>
            </a:pPr>
            <a:r>
              <a:rPr lang="en-US" sz="2000" dirty="0"/>
              <a:t>623 records with #N/A as category in Product table.</a:t>
            </a:r>
          </a:p>
          <a:p>
            <a:endParaRPr lang="en-IN" dirty="0"/>
          </a:p>
        </p:txBody>
      </p:sp>
      <p:sp>
        <p:nvSpPr>
          <p:cNvPr id="3" name="Title 2">
            <a:extLst>
              <a:ext uri="{FF2B5EF4-FFF2-40B4-BE49-F238E27FC236}">
                <a16:creationId xmlns:a16="http://schemas.microsoft.com/office/drawing/2014/main" id="{BB34E7A4-D9CE-69DB-710B-D09A732171E4}"/>
              </a:ext>
            </a:extLst>
          </p:cNvPr>
          <p:cNvSpPr>
            <a:spLocks noGrp="1"/>
          </p:cNvSpPr>
          <p:nvPr>
            <p:ph type="title"/>
          </p:nvPr>
        </p:nvSpPr>
        <p:spPr>
          <a:xfrm>
            <a:off x="403197" y="-1"/>
            <a:ext cx="10675200" cy="2023409"/>
          </a:xfrm>
        </p:spPr>
        <p:txBody>
          <a:bodyPr/>
          <a:lstStyle/>
          <a:p>
            <a:pPr algn="ctr"/>
            <a:r>
              <a:rPr lang="en-US" sz="4000" dirty="0"/>
              <a:t>Inconsistencies &amp; Discrepancies in Data(2/5)</a:t>
            </a:r>
            <a:endParaRPr lang="en-IN" sz="4000" dirty="0"/>
          </a:p>
        </p:txBody>
      </p:sp>
      <p:pic>
        <p:nvPicPr>
          <p:cNvPr id="5" name="Picture 4">
            <a:extLst>
              <a:ext uri="{FF2B5EF4-FFF2-40B4-BE49-F238E27FC236}">
                <a16:creationId xmlns:a16="http://schemas.microsoft.com/office/drawing/2014/main" id="{F1DABDD5-7B09-9FCB-3152-DC2580E6D1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12502" y="2270689"/>
            <a:ext cx="4122035" cy="508605"/>
          </a:xfrm>
          <a:prstGeom prst="rect">
            <a:avLst/>
          </a:prstGeom>
        </p:spPr>
      </p:pic>
      <p:pic>
        <p:nvPicPr>
          <p:cNvPr id="8" name="Picture 7">
            <a:extLst>
              <a:ext uri="{FF2B5EF4-FFF2-40B4-BE49-F238E27FC236}">
                <a16:creationId xmlns:a16="http://schemas.microsoft.com/office/drawing/2014/main" id="{DD7ACC52-D293-6AC6-C7AA-DD63508305BE}"/>
              </a:ext>
            </a:extLst>
          </p:cNvPr>
          <p:cNvPicPr>
            <a:picLocks noChangeAspect="1"/>
          </p:cNvPicPr>
          <p:nvPr/>
        </p:nvPicPr>
        <p:blipFill>
          <a:blip r:embed="rId3">
            <a:extLst>
              <a:ext uri="{28A0092B-C50C-407E-A947-70E740481C1C}">
                <a14:useLocalDpi xmlns:a14="http://schemas.microsoft.com/office/drawing/2010/main" val="0"/>
              </a:ext>
            </a:extLst>
          </a:blip>
          <a:srcRect l="22894" t="1798" r="47237" b="1"/>
          <a:stretch>
            <a:fillRect/>
          </a:stretch>
        </p:blipFill>
        <p:spPr>
          <a:xfrm>
            <a:off x="7512502" y="3026574"/>
            <a:ext cx="3910395" cy="673239"/>
          </a:xfrm>
          <a:prstGeom prst="rect">
            <a:avLst/>
          </a:prstGeom>
        </p:spPr>
      </p:pic>
      <p:pic>
        <p:nvPicPr>
          <p:cNvPr id="10" name="Picture 9">
            <a:extLst>
              <a:ext uri="{FF2B5EF4-FFF2-40B4-BE49-F238E27FC236}">
                <a16:creationId xmlns:a16="http://schemas.microsoft.com/office/drawing/2014/main" id="{B45C8139-F8BE-0651-1516-E4ECDBE0E1F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12502" y="3947093"/>
            <a:ext cx="4276301" cy="727345"/>
          </a:xfrm>
          <a:prstGeom prst="rect">
            <a:avLst/>
          </a:prstGeom>
        </p:spPr>
      </p:pic>
    </p:spTree>
    <p:extLst>
      <p:ext uri="{BB962C8B-B14F-4D97-AF65-F5344CB8AC3E}">
        <p14:creationId xmlns:p14="http://schemas.microsoft.com/office/powerpoint/2010/main" val="28009656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1CEC6B2-B79A-7A8F-1A29-82315FBB13D2}"/>
              </a:ext>
            </a:extLst>
          </p:cNvPr>
          <p:cNvSpPr>
            <a:spLocks noGrp="1"/>
          </p:cNvSpPr>
          <p:nvPr>
            <p:ph type="body" idx="1"/>
          </p:nvPr>
        </p:nvSpPr>
        <p:spPr/>
        <p:txBody>
          <a:bodyPr numCol="2"/>
          <a:lstStyle/>
          <a:p>
            <a:pPr>
              <a:buFont typeface="Wingdings" panose="05000000000000000000" pitchFamily="2" charset="2"/>
              <a:buChar char="q"/>
            </a:pPr>
            <a:r>
              <a:rPr lang="en-US" sz="2000" dirty="0"/>
              <a:t>615 records with nulls as </a:t>
            </a:r>
            <a:r>
              <a:rPr lang="en-US" sz="2000" dirty="0" err="1"/>
              <a:t>atleast</a:t>
            </a:r>
            <a:r>
              <a:rPr lang="en-US" sz="2000" dirty="0"/>
              <a:t> one of the attribute.   </a:t>
            </a:r>
          </a:p>
          <a:p>
            <a:pPr>
              <a:buFont typeface="Wingdings" panose="05000000000000000000" pitchFamily="2" charset="2"/>
              <a:buChar char="q"/>
            </a:pPr>
            <a:r>
              <a:rPr lang="en-US" sz="2000" dirty="0"/>
              <a:t>Records with </a:t>
            </a:r>
            <a:r>
              <a:rPr lang="en-US" sz="2000" dirty="0" err="1"/>
              <a:t>Product_weight</a:t>
            </a:r>
            <a:r>
              <a:rPr lang="en-US" sz="2000" dirty="0"/>
              <a:t> as 0 , also exists in Product table.</a:t>
            </a:r>
          </a:p>
          <a:p>
            <a:pPr>
              <a:buFont typeface="Wingdings" panose="05000000000000000000" pitchFamily="2" charset="2"/>
              <a:buChar char="q"/>
            </a:pPr>
            <a:r>
              <a:rPr lang="en-US" sz="2000" dirty="0"/>
              <a:t>One Duplicate record in Store table.</a:t>
            </a:r>
          </a:p>
          <a:p>
            <a:pPr>
              <a:buFont typeface="Wingdings" panose="05000000000000000000" pitchFamily="2" charset="2"/>
              <a:buChar char="q"/>
            </a:pPr>
            <a:r>
              <a:rPr lang="en-US" sz="2000" dirty="0"/>
              <a:t>348 records are redundant in Orders Rating Review table.</a:t>
            </a:r>
          </a:p>
          <a:p>
            <a:endParaRPr lang="en-IN" dirty="0"/>
          </a:p>
        </p:txBody>
      </p:sp>
      <p:sp>
        <p:nvSpPr>
          <p:cNvPr id="3" name="Title 2">
            <a:extLst>
              <a:ext uri="{FF2B5EF4-FFF2-40B4-BE49-F238E27FC236}">
                <a16:creationId xmlns:a16="http://schemas.microsoft.com/office/drawing/2014/main" id="{75FA0F4D-6DFC-DDAA-6E2E-37A75B1289EB}"/>
              </a:ext>
            </a:extLst>
          </p:cNvPr>
          <p:cNvSpPr>
            <a:spLocks noGrp="1"/>
          </p:cNvSpPr>
          <p:nvPr>
            <p:ph type="title"/>
          </p:nvPr>
        </p:nvSpPr>
        <p:spPr>
          <a:xfrm>
            <a:off x="403197" y="-1"/>
            <a:ext cx="10675200" cy="1946787"/>
          </a:xfrm>
        </p:spPr>
        <p:txBody>
          <a:bodyPr/>
          <a:lstStyle/>
          <a:p>
            <a:pPr algn="ctr"/>
            <a:r>
              <a:rPr lang="en-US" sz="4000" dirty="0"/>
              <a:t>Inconsistencies &amp; Discrepancies in Data(3/5)</a:t>
            </a:r>
            <a:endParaRPr lang="en-IN" sz="4000" dirty="0"/>
          </a:p>
        </p:txBody>
      </p:sp>
      <p:pic>
        <p:nvPicPr>
          <p:cNvPr id="5" name="Picture 4">
            <a:extLst>
              <a:ext uri="{FF2B5EF4-FFF2-40B4-BE49-F238E27FC236}">
                <a16:creationId xmlns:a16="http://schemas.microsoft.com/office/drawing/2014/main" id="{28A5401B-6AD2-8246-C056-632E9C8F19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62031" y="2802194"/>
            <a:ext cx="5164498" cy="412954"/>
          </a:xfrm>
          <a:prstGeom prst="rect">
            <a:avLst/>
          </a:prstGeom>
        </p:spPr>
      </p:pic>
    </p:spTree>
    <p:extLst>
      <p:ext uri="{BB962C8B-B14F-4D97-AF65-F5344CB8AC3E}">
        <p14:creationId xmlns:p14="http://schemas.microsoft.com/office/powerpoint/2010/main" val="27383145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73A18D8-DB08-50F6-324E-F741C617A33C}"/>
              </a:ext>
            </a:extLst>
          </p:cNvPr>
          <p:cNvSpPr>
            <a:spLocks noGrp="1"/>
          </p:cNvSpPr>
          <p:nvPr>
            <p:ph type="body" idx="1"/>
          </p:nvPr>
        </p:nvSpPr>
        <p:spPr/>
        <p:txBody>
          <a:bodyPr numCol="2"/>
          <a:lstStyle/>
          <a:p>
            <a:pPr>
              <a:buFont typeface="Wingdings" panose="05000000000000000000" pitchFamily="2" charset="2"/>
              <a:buChar char="q"/>
            </a:pPr>
            <a:r>
              <a:rPr lang="en-US" sz="2000" dirty="0"/>
              <a:t>555 records are such as same </a:t>
            </a:r>
            <a:r>
              <a:rPr lang="en-US" sz="2000" dirty="0" err="1"/>
              <a:t>order_id</a:t>
            </a:r>
            <a:r>
              <a:rPr lang="en-US" sz="2000" dirty="0"/>
              <a:t> with multiple different satisfaction score in Orders Rating Review table.</a:t>
            </a:r>
          </a:p>
          <a:p>
            <a:pPr>
              <a:buFont typeface="Wingdings" panose="05000000000000000000" pitchFamily="2" charset="2"/>
              <a:buChar char="q"/>
            </a:pPr>
            <a:r>
              <a:rPr lang="en-US" sz="2000" dirty="0"/>
              <a:t>778 records in Orders Rating Review tables without having corresponding </a:t>
            </a:r>
            <a:r>
              <a:rPr lang="en-US" sz="2000" dirty="0" err="1"/>
              <a:t>order_id</a:t>
            </a:r>
            <a:r>
              <a:rPr lang="en-US" sz="2000" dirty="0"/>
              <a:t> in Orders table.</a:t>
            </a:r>
          </a:p>
          <a:p>
            <a:pPr>
              <a:buFont typeface="Wingdings" panose="05000000000000000000" pitchFamily="2" charset="2"/>
              <a:buChar char="q"/>
            </a:pPr>
            <a:r>
              <a:rPr lang="en-US" sz="1800" dirty="0"/>
              <a:t>Three Records with </a:t>
            </a:r>
            <a:r>
              <a:rPr lang="en-US" sz="1800" dirty="0" err="1"/>
              <a:t>Payment_value</a:t>
            </a:r>
            <a:r>
              <a:rPr lang="en-US" sz="1800" dirty="0"/>
              <a:t> zero in Orders Payment table.</a:t>
            </a:r>
          </a:p>
          <a:p>
            <a:pPr>
              <a:buFont typeface="Wingdings" panose="05000000000000000000" pitchFamily="2" charset="2"/>
              <a:buChar char="q"/>
            </a:pPr>
            <a:r>
              <a:rPr lang="en-US" sz="1800" dirty="0"/>
              <a:t>10,013 records with Mismatch Payment in Orders Payment table with respect to Orders table.</a:t>
            </a:r>
          </a:p>
          <a:p>
            <a:endParaRPr lang="en-IN" dirty="0"/>
          </a:p>
        </p:txBody>
      </p:sp>
      <p:sp>
        <p:nvSpPr>
          <p:cNvPr id="3" name="Title 2">
            <a:extLst>
              <a:ext uri="{FF2B5EF4-FFF2-40B4-BE49-F238E27FC236}">
                <a16:creationId xmlns:a16="http://schemas.microsoft.com/office/drawing/2014/main" id="{F742AFD0-FD6B-96CE-5D62-281E0C513658}"/>
              </a:ext>
            </a:extLst>
          </p:cNvPr>
          <p:cNvSpPr>
            <a:spLocks noGrp="1"/>
          </p:cNvSpPr>
          <p:nvPr>
            <p:ph type="title"/>
          </p:nvPr>
        </p:nvSpPr>
        <p:spPr>
          <a:xfrm>
            <a:off x="403197" y="0"/>
            <a:ext cx="10675200" cy="1907458"/>
          </a:xfrm>
        </p:spPr>
        <p:txBody>
          <a:bodyPr/>
          <a:lstStyle/>
          <a:p>
            <a:pPr algn="ctr"/>
            <a:r>
              <a:rPr lang="en-US" sz="4000" dirty="0"/>
              <a:t>Inconsistencies &amp; Discrepancies in Data(4/5)</a:t>
            </a:r>
            <a:endParaRPr lang="en-IN" sz="4000" dirty="0"/>
          </a:p>
        </p:txBody>
      </p:sp>
      <p:pic>
        <p:nvPicPr>
          <p:cNvPr id="7" name="Picture 6">
            <a:extLst>
              <a:ext uri="{FF2B5EF4-FFF2-40B4-BE49-F238E27FC236}">
                <a16:creationId xmlns:a16="http://schemas.microsoft.com/office/drawing/2014/main" id="{7BE7065C-7CA9-9969-8534-148665355E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52198" y="2342114"/>
            <a:ext cx="4200937" cy="530942"/>
          </a:xfrm>
          <a:prstGeom prst="rect">
            <a:avLst/>
          </a:prstGeom>
        </p:spPr>
      </p:pic>
      <p:pic>
        <p:nvPicPr>
          <p:cNvPr id="5" name="Picture 4">
            <a:extLst>
              <a:ext uri="{FF2B5EF4-FFF2-40B4-BE49-F238E27FC236}">
                <a16:creationId xmlns:a16="http://schemas.microsoft.com/office/drawing/2014/main" id="{D0150C3F-F2DB-03BF-C8FD-86E3C21172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52198" y="4001227"/>
            <a:ext cx="3372321" cy="533474"/>
          </a:xfrm>
          <a:prstGeom prst="rect">
            <a:avLst/>
          </a:prstGeom>
        </p:spPr>
      </p:pic>
      <p:pic>
        <p:nvPicPr>
          <p:cNvPr id="8" name="Picture 7">
            <a:extLst>
              <a:ext uri="{FF2B5EF4-FFF2-40B4-BE49-F238E27FC236}">
                <a16:creationId xmlns:a16="http://schemas.microsoft.com/office/drawing/2014/main" id="{E5B6A9EE-2E11-D76C-1D1C-BA756CD43D1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52198" y="4794181"/>
            <a:ext cx="5144834" cy="552527"/>
          </a:xfrm>
          <a:prstGeom prst="rect">
            <a:avLst/>
          </a:prstGeom>
        </p:spPr>
      </p:pic>
    </p:spTree>
    <p:extLst>
      <p:ext uri="{BB962C8B-B14F-4D97-AF65-F5344CB8AC3E}">
        <p14:creationId xmlns:p14="http://schemas.microsoft.com/office/powerpoint/2010/main" val="12297067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4141D58-916F-6AD4-8B89-B51A010F695B}"/>
              </a:ext>
            </a:extLst>
          </p:cNvPr>
          <p:cNvSpPr>
            <a:spLocks noGrp="1"/>
          </p:cNvSpPr>
          <p:nvPr>
            <p:ph type="body" idx="1"/>
          </p:nvPr>
        </p:nvSpPr>
        <p:spPr/>
        <p:txBody>
          <a:bodyPr numCol="2"/>
          <a:lstStyle/>
          <a:p>
            <a:pPr>
              <a:buFont typeface="Wingdings" panose="05000000000000000000" pitchFamily="2" charset="2"/>
              <a:buChar char="q"/>
            </a:pPr>
            <a:r>
              <a:rPr lang="en-US" sz="2000" dirty="0"/>
              <a:t>Three records in Orders table without corresponding records in Orders Payment table.</a:t>
            </a:r>
          </a:p>
          <a:p>
            <a:pPr>
              <a:buFont typeface="Wingdings" panose="05000000000000000000" pitchFamily="2" charset="2"/>
              <a:buChar char="q"/>
            </a:pPr>
            <a:r>
              <a:rPr lang="en-US" sz="2000" dirty="0"/>
              <a:t>830 records in Orders Payment table without corresponding records in Orders table.</a:t>
            </a:r>
          </a:p>
          <a:p>
            <a:endParaRPr lang="en-IN" dirty="0"/>
          </a:p>
        </p:txBody>
      </p:sp>
      <p:sp>
        <p:nvSpPr>
          <p:cNvPr id="3" name="Title 2">
            <a:extLst>
              <a:ext uri="{FF2B5EF4-FFF2-40B4-BE49-F238E27FC236}">
                <a16:creationId xmlns:a16="http://schemas.microsoft.com/office/drawing/2014/main" id="{CA7F7971-ED14-F09F-9B44-06557F9B9D75}"/>
              </a:ext>
            </a:extLst>
          </p:cNvPr>
          <p:cNvSpPr>
            <a:spLocks noGrp="1"/>
          </p:cNvSpPr>
          <p:nvPr>
            <p:ph type="title"/>
          </p:nvPr>
        </p:nvSpPr>
        <p:spPr>
          <a:xfrm>
            <a:off x="403197" y="-1"/>
            <a:ext cx="10675200" cy="2023409"/>
          </a:xfrm>
        </p:spPr>
        <p:txBody>
          <a:bodyPr/>
          <a:lstStyle/>
          <a:p>
            <a:pPr algn="ctr"/>
            <a:r>
              <a:rPr lang="en-US" sz="4000" dirty="0"/>
              <a:t>Inconsistencies &amp; Discrepancies in Data(5/5)</a:t>
            </a:r>
            <a:endParaRPr lang="en-IN" sz="4000" dirty="0"/>
          </a:p>
        </p:txBody>
      </p:sp>
    </p:spTree>
    <p:extLst>
      <p:ext uri="{BB962C8B-B14F-4D97-AF65-F5344CB8AC3E}">
        <p14:creationId xmlns:p14="http://schemas.microsoft.com/office/powerpoint/2010/main" val="27922387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DCB55-FED3-8C58-42B9-C03B799EC3B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9AD657D-4745-2391-372E-18D05D9EF76A}"/>
              </a:ext>
            </a:extLst>
          </p:cNvPr>
          <p:cNvSpPr>
            <a:spLocks noGrp="1"/>
          </p:cNvSpPr>
          <p:nvPr>
            <p:ph type="body" idx="1"/>
          </p:nvPr>
        </p:nvSpPr>
        <p:spPr>
          <a:xfrm>
            <a:off x="838200" y="2117557"/>
            <a:ext cx="10515600" cy="3861487"/>
          </a:xfrm>
        </p:spPr>
        <p:txBody>
          <a:bodyPr/>
          <a:lstStyle/>
          <a:p>
            <a:r>
              <a:rPr lang="en-US" dirty="0"/>
              <a:t>Change Datatype of </a:t>
            </a:r>
            <a:r>
              <a:rPr lang="en-US" dirty="0" err="1"/>
              <a:t>customer_id</a:t>
            </a:r>
            <a:r>
              <a:rPr lang="en-US" dirty="0"/>
              <a:t> from int to varchar(50).</a:t>
            </a:r>
          </a:p>
          <a:p>
            <a:r>
              <a:rPr lang="en-US" dirty="0"/>
              <a:t>Change Datatype of </a:t>
            </a:r>
            <a:r>
              <a:rPr lang="en-US" dirty="0" err="1"/>
              <a:t>Bill_date_timestamp</a:t>
            </a:r>
            <a:r>
              <a:rPr lang="en-US" dirty="0"/>
              <a:t> to </a:t>
            </a:r>
            <a:r>
              <a:rPr lang="en-US" dirty="0" err="1"/>
              <a:t>DateTime</a:t>
            </a:r>
            <a:r>
              <a:rPr lang="en-US" dirty="0"/>
              <a:t>.</a:t>
            </a:r>
          </a:p>
          <a:p>
            <a:r>
              <a:rPr lang="en-US" dirty="0"/>
              <a:t>Remove all the records except the one with maximum quantity .</a:t>
            </a:r>
          </a:p>
          <a:p>
            <a:r>
              <a:rPr lang="en-US" dirty="0"/>
              <a:t>Remove records which are outside of scope.</a:t>
            </a:r>
          </a:p>
          <a:p>
            <a:r>
              <a:rPr lang="en-US" dirty="0"/>
              <a:t>Remove all records except the one with maximum </a:t>
            </a:r>
            <a:r>
              <a:rPr lang="en-US" dirty="0" err="1"/>
              <a:t>TotalAmount</a:t>
            </a:r>
            <a:r>
              <a:rPr lang="en-US" dirty="0"/>
              <a:t>.</a:t>
            </a:r>
          </a:p>
          <a:p>
            <a:r>
              <a:rPr lang="en-US" dirty="0"/>
              <a:t>Consider only latest records.</a:t>
            </a:r>
          </a:p>
          <a:p>
            <a:r>
              <a:rPr lang="en-US" dirty="0"/>
              <a:t>Consider record with lower </a:t>
            </a:r>
            <a:r>
              <a:rPr lang="en-US" dirty="0" err="1"/>
              <a:t>store_id</a:t>
            </a:r>
            <a:r>
              <a:rPr lang="en-US" dirty="0"/>
              <a:t>.</a:t>
            </a:r>
          </a:p>
          <a:p>
            <a:r>
              <a:rPr lang="en-US" dirty="0"/>
              <a:t>Rename category with “#N/A” to “Unclassified”.</a:t>
            </a:r>
          </a:p>
          <a:p>
            <a:r>
              <a:rPr lang="en-US" dirty="0"/>
              <a:t>Replace nulls with zeros.</a:t>
            </a:r>
          </a:p>
          <a:p>
            <a:endParaRPr lang="en-US" dirty="0"/>
          </a:p>
          <a:p>
            <a:endParaRPr lang="en-IN" dirty="0"/>
          </a:p>
        </p:txBody>
      </p:sp>
      <p:sp>
        <p:nvSpPr>
          <p:cNvPr id="3" name="Title 2">
            <a:extLst>
              <a:ext uri="{FF2B5EF4-FFF2-40B4-BE49-F238E27FC236}">
                <a16:creationId xmlns:a16="http://schemas.microsoft.com/office/drawing/2014/main" id="{7BF48CE0-9527-5385-9329-45B841C02D02}"/>
              </a:ext>
            </a:extLst>
          </p:cNvPr>
          <p:cNvSpPr>
            <a:spLocks noGrp="1"/>
          </p:cNvSpPr>
          <p:nvPr>
            <p:ph type="title"/>
          </p:nvPr>
        </p:nvSpPr>
        <p:spPr>
          <a:xfrm>
            <a:off x="403197" y="-1"/>
            <a:ext cx="10675200" cy="1756611"/>
          </a:xfrm>
        </p:spPr>
        <p:txBody>
          <a:bodyPr/>
          <a:lstStyle/>
          <a:p>
            <a:pPr algn="ctr"/>
            <a:r>
              <a:rPr lang="en-US" sz="4000" dirty="0"/>
              <a:t>Data Cleaning &amp; Fixes Applied(1/2)</a:t>
            </a:r>
            <a:endParaRPr lang="en-IN" sz="4000" dirty="0"/>
          </a:p>
        </p:txBody>
      </p:sp>
    </p:spTree>
    <p:extLst>
      <p:ext uri="{BB962C8B-B14F-4D97-AF65-F5344CB8AC3E}">
        <p14:creationId xmlns:p14="http://schemas.microsoft.com/office/powerpoint/2010/main" val="34083645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5B036C-1B91-4ADC-ECF2-263FF2603AC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BDE1D1B-0114-64B1-9A42-DD4C80AE7976}"/>
              </a:ext>
            </a:extLst>
          </p:cNvPr>
          <p:cNvSpPr>
            <a:spLocks noGrp="1"/>
          </p:cNvSpPr>
          <p:nvPr>
            <p:ph type="body" idx="1"/>
          </p:nvPr>
        </p:nvSpPr>
        <p:spPr>
          <a:xfrm>
            <a:off x="838200" y="2105525"/>
            <a:ext cx="10515600" cy="3873519"/>
          </a:xfrm>
        </p:spPr>
        <p:txBody>
          <a:bodyPr>
            <a:normAutofit/>
          </a:bodyPr>
          <a:lstStyle/>
          <a:p>
            <a:pPr>
              <a:lnSpc>
                <a:spcPct val="100000"/>
              </a:lnSpc>
            </a:pPr>
            <a:r>
              <a:rPr lang="en-US" sz="2200" dirty="0"/>
              <a:t>Remove Duplicate Records from tables.</a:t>
            </a:r>
          </a:p>
          <a:p>
            <a:pPr>
              <a:lnSpc>
                <a:spcPct val="100000"/>
              </a:lnSpc>
            </a:pPr>
            <a:r>
              <a:rPr lang="en-US" sz="2200" dirty="0"/>
              <a:t>Take average of satisfaction score corresponds to order id’s in Order Rating Review table</a:t>
            </a:r>
            <a:r>
              <a:rPr lang="en-IN" sz="2200" dirty="0"/>
              <a:t>.</a:t>
            </a:r>
          </a:p>
          <a:p>
            <a:pPr>
              <a:lnSpc>
                <a:spcPct val="100000"/>
              </a:lnSpc>
            </a:pPr>
            <a:r>
              <a:rPr lang="en-US" sz="2200" dirty="0"/>
              <a:t>Remove records without any corresponding links with Orders fact table.</a:t>
            </a:r>
          </a:p>
          <a:p>
            <a:pPr>
              <a:lnSpc>
                <a:spcPct val="100000"/>
              </a:lnSpc>
            </a:pPr>
            <a:r>
              <a:rPr lang="en-US" sz="2200" dirty="0"/>
              <a:t>Remove records with zero </a:t>
            </a:r>
            <a:r>
              <a:rPr lang="en-US" sz="2200" dirty="0" err="1"/>
              <a:t>payment_values</a:t>
            </a:r>
            <a:endParaRPr lang="en-US" sz="2200" dirty="0"/>
          </a:p>
          <a:p>
            <a:pPr>
              <a:lnSpc>
                <a:spcPct val="100000"/>
              </a:lnSpc>
            </a:pPr>
            <a:r>
              <a:rPr lang="en-US" sz="2200" dirty="0"/>
              <a:t>Apply window of Rs.5 for mismatched payment records and remove rest of them.</a:t>
            </a:r>
          </a:p>
          <a:p>
            <a:pPr>
              <a:lnSpc>
                <a:spcPct val="100000"/>
              </a:lnSpc>
            </a:pPr>
            <a:endParaRPr lang="en-US" sz="2200" dirty="0"/>
          </a:p>
        </p:txBody>
      </p:sp>
      <p:sp>
        <p:nvSpPr>
          <p:cNvPr id="3" name="Title 2">
            <a:extLst>
              <a:ext uri="{FF2B5EF4-FFF2-40B4-BE49-F238E27FC236}">
                <a16:creationId xmlns:a16="http://schemas.microsoft.com/office/drawing/2014/main" id="{941B7916-FD19-B4DA-B68C-8DF8BD7C34C4}"/>
              </a:ext>
            </a:extLst>
          </p:cNvPr>
          <p:cNvSpPr>
            <a:spLocks noGrp="1"/>
          </p:cNvSpPr>
          <p:nvPr>
            <p:ph type="title"/>
          </p:nvPr>
        </p:nvSpPr>
        <p:spPr>
          <a:xfrm>
            <a:off x="403197" y="0"/>
            <a:ext cx="10675200" cy="1768642"/>
          </a:xfrm>
        </p:spPr>
        <p:txBody>
          <a:bodyPr/>
          <a:lstStyle/>
          <a:p>
            <a:pPr algn="ctr"/>
            <a:r>
              <a:rPr lang="en-US" sz="4000" dirty="0"/>
              <a:t>Data Cleaning &amp; Fixes Applied(2/2)</a:t>
            </a:r>
            <a:endParaRPr lang="en-IN" sz="4000" dirty="0"/>
          </a:p>
        </p:txBody>
      </p:sp>
    </p:spTree>
    <p:extLst>
      <p:ext uri="{BB962C8B-B14F-4D97-AF65-F5344CB8AC3E}">
        <p14:creationId xmlns:p14="http://schemas.microsoft.com/office/powerpoint/2010/main" val="34811182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163748E-CB04-270B-008C-F13866CD709B}"/>
              </a:ext>
            </a:extLst>
          </p:cNvPr>
          <p:cNvSpPr>
            <a:spLocks noGrp="1"/>
          </p:cNvSpPr>
          <p:nvPr>
            <p:ph type="body" idx="1"/>
          </p:nvPr>
        </p:nvSpPr>
        <p:spPr>
          <a:xfrm>
            <a:off x="403197" y="1320800"/>
            <a:ext cx="11290963" cy="4658245"/>
          </a:xfrm>
        </p:spPr>
        <p:txBody>
          <a:bodyPr/>
          <a:lstStyle/>
          <a:p>
            <a:endParaRPr lang="en-IN" dirty="0"/>
          </a:p>
        </p:txBody>
      </p:sp>
      <p:sp>
        <p:nvSpPr>
          <p:cNvPr id="3" name="Title 2">
            <a:extLst>
              <a:ext uri="{FF2B5EF4-FFF2-40B4-BE49-F238E27FC236}">
                <a16:creationId xmlns:a16="http://schemas.microsoft.com/office/drawing/2014/main" id="{90B15EC2-A0E4-2F3C-6270-9DBF66E9E9B0}"/>
              </a:ext>
            </a:extLst>
          </p:cNvPr>
          <p:cNvSpPr>
            <a:spLocks noGrp="1"/>
          </p:cNvSpPr>
          <p:nvPr>
            <p:ph type="title"/>
          </p:nvPr>
        </p:nvSpPr>
        <p:spPr>
          <a:xfrm>
            <a:off x="403196" y="0"/>
            <a:ext cx="11362083" cy="1137600"/>
          </a:xfrm>
        </p:spPr>
        <p:txBody>
          <a:bodyPr/>
          <a:lstStyle/>
          <a:p>
            <a:pPr algn="ctr"/>
            <a:r>
              <a:rPr lang="en-US" dirty="0"/>
              <a:t>Customer Level Dashboard</a:t>
            </a:r>
            <a:endParaRPr lang="en-IN" dirty="0"/>
          </a:p>
        </p:txBody>
      </p:sp>
      <p:pic>
        <p:nvPicPr>
          <p:cNvPr id="5" name="Picture 4">
            <a:extLst>
              <a:ext uri="{FF2B5EF4-FFF2-40B4-BE49-F238E27FC236}">
                <a16:creationId xmlns:a16="http://schemas.microsoft.com/office/drawing/2014/main" id="{08D5349A-91EA-02E2-A603-D30E3E72FF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97921" y="1299747"/>
            <a:ext cx="8396157" cy="4700349"/>
          </a:xfrm>
          <a:prstGeom prst="rect">
            <a:avLst/>
          </a:prstGeom>
        </p:spPr>
      </p:pic>
    </p:spTree>
    <p:extLst>
      <p:ext uri="{BB962C8B-B14F-4D97-AF65-F5344CB8AC3E}">
        <p14:creationId xmlns:p14="http://schemas.microsoft.com/office/powerpoint/2010/main" val="38760064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DAAD6D5-B67B-253A-60A6-8F479D0F1DEF}"/>
              </a:ext>
            </a:extLst>
          </p:cNvPr>
          <p:cNvSpPr>
            <a:spLocks noGrp="1"/>
          </p:cNvSpPr>
          <p:nvPr>
            <p:ph type="title"/>
          </p:nvPr>
        </p:nvSpPr>
        <p:spPr/>
        <p:txBody>
          <a:bodyPr/>
          <a:lstStyle/>
          <a:p>
            <a:pPr algn="ctr"/>
            <a:r>
              <a:rPr lang="en-US" dirty="0"/>
              <a:t>Recommendations</a:t>
            </a:r>
            <a:endParaRPr lang="en-IN" dirty="0"/>
          </a:p>
        </p:txBody>
      </p:sp>
      <p:sp>
        <p:nvSpPr>
          <p:cNvPr id="5" name="Text Placeholder 4">
            <a:extLst>
              <a:ext uri="{FF2B5EF4-FFF2-40B4-BE49-F238E27FC236}">
                <a16:creationId xmlns:a16="http://schemas.microsoft.com/office/drawing/2014/main" id="{973AEEC5-7FA0-9BF4-675B-74EC773D61DA}"/>
              </a:ext>
            </a:extLst>
          </p:cNvPr>
          <p:cNvSpPr>
            <a:spLocks noGrp="1"/>
          </p:cNvSpPr>
          <p:nvPr>
            <p:ph type="body" idx="1"/>
          </p:nvPr>
        </p:nvSpPr>
        <p:spPr/>
        <p:txBody>
          <a:bodyPr/>
          <a:lstStyle/>
          <a:p>
            <a:pPr>
              <a:lnSpc>
                <a:spcPct val="150000"/>
              </a:lnSpc>
            </a:pPr>
            <a:r>
              <a:rPr lang="en-US" dirty="0"/>
              <a:t>Re-engage 33K inactive customers.</a:t>
            </a:r>
          </a:p>
          <a:p>
            <a:pPr>
              <a:lnSpc>
                <a:spcPct val="150000"/>
              </a:lnSpc>
            </a:pPr>
            <a:r>
              <a:rPr lang="en-US" dirty="0"/>
              <a:t>Reduce customer churn.</a:t>
            </a:r>
          </a:p>
          <a:p>
            <a:pPr>
              <a:lnSpc>
                <a:spcPct val="150000"/>
              </a:lnSpc>
            </a:pPr>
            <a:r>
              <a:rPr lang="en-US" dirty="0"/>
              <a:t>Increase repeat Purchases.</a:t>
            </a:r>
          </a:p>
          <a:p>
            <a:pPr>
              <a:lnSpc>
                <a:spcPct val="150000"/>
              </a:lnSpc>
            </a:pPr>
            <a:r>
              <a:rPr lang="en-US" dirty="0"/>
              <a:t>Boost average customer spend.</a:t>
            </a:r>
          </a:p>
          <a:p>
            <a:pPr>
              <a:lnSpc>
                <a:spcPct val="150000"/>
              </a:lnSpc>
            </a:pPr>
            <a:r>
              <a:rPr lang="en-US" dirty="0"/>
              <a:t>Enhance customer satisfaction.</a:t>
            </a:r>
          </a:p>
          <a:p>
            <a:pPr>
              <a:lnSpc>
                <a:spcPct val="150000"/>
              </a:lnSpc>
            </a:pPr>
            <a:r>
              <a:rPr lang="en-US" dirty="0"/>
              <a:t>Segment and personalize outreach.</a:t>
            </a:r>
            <a:endParaRPr lang="en-IN" dirty="0"/>
          </a:p>
        </p:txBody>
      </p:sp>
    </p:spTree>
    <p:extLst>
      <p:ext uri="{BB962C8B-B14F-4D97-AF65-F5344CB8AC3E}">
        <p14:creationId xmlns:p14="http://schemas.microsoft.com/office/powerpoint/2010/main" val="36958316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1009979-6C81-296B-BA14-65789DFD94A6}"/>
              </a:ext>
            </a:extLst>
          </p:cNvPr>
          <p:cNvSpPr>
            <a:spLocks noGrp="1"/>
          </p:cNvSpPr>
          <p:nvPr>
            <p:ph type="body" idx="1"/>
          </p:nvPr>
        </p:nvSpPr>
        <p:spPr>
          <a:xfrm>
            <a:off x="403197" y="1351280"/>
            <a:ext cx="11362082" cy="4627765"/>
          </a:xfrm>
        </p:spPr>
        <p:txBody>
          <a:bodyPr/>
          <a:lstStyle/>
          <a:p>
            <a:endParaRPr lang="en-IN" dirty="0"/>
          </a:p>
        </p:txBody>
      </p:sp>
      <p:sp>
        <p:nvSpPr>
          <p:cNvPr id="3" name="Title 2">
            <a:extLst>
              <a:ext uri="{FF2B5EF4-FFF2-40B4-BE49-F238E27FC236}">
                <a16:creationId xmlns:a16="http://schemas.microsoft.com/office/drawing/2014/main" id="{93A8C77E-23CB-5310-FBFE-3C8F6F853E90}"/>
              </a:ext>
            </a:extLst>
          </p:cNvPr>
          <p:cNvSpPr>
            <a:spLocks noGrp="1"/>
          </p:cNvSpPr>
          <p:nvPr>
            <p:ph type="title"/>
          </p:nvPr>
        </p:nvSpPr>
        <p:spPr>
          <a:xfrm>
            <a:off x="403196" y="0"/>
            <a:ext cx="11362083" cy="1137600"/>
          </a:xfrm>
        </p:spPr>
        <p:txBody>
          <a:bodyPr/>
          <a:lstStyle/>
          <a:p>
            <a:pPr algn="ctr"/>
            <a:r>
              <a:rPr lang="en-US" dirty="0"/>
              <a:t>Order Level Dashboard</a:t>
            </a:r>
            <a:endParaRPr lang="en-IN" dirty="0"/>
          </a:p>
        </p:txBody>
      </p:sp>
      <p:pic>
        <p:nvPicPr>
          <p:cNvPr id="5" name="Picture 4">
            <a:extLst>
              <a:ext uri="{FF2B5EF4-FFF2-40B4-BE49-F238E27FC236}">
                <a16:creationId xmlns:a16="http://schemas.microsoft.com/office/drawing/2014/main" id="{2AC50490-9C93-5968-5995-3F906EF886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93237" y="1351280"/>
            <a:ext cx="8382000" cy="4708110"/>
          </a:xfrm>
          <a:prstGeom prst="rect">
            <a:avLst/>
          </a:prstGeom>
        </p:spPr>
      </p:pic>
    </p:spTree>
    <p:extLst>
      <p:ext uri="{BB962C8B-B14F-4D97-AF65-F5344CB8AC3E}">
        <p14:creationId xmlns:p14="http://schemas.microsoft.com/office/powerpoint/2010/main" val="9080187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0400BFD-8FEF-F458-04BA-1F3FD4802CD0}"/>
              </a:ext>
            </a:extLst>
          </p:cNvPr>
          <p:cNvSpPr>
            <a:spLocks noGrp="1"/>
          </p:cNvSpPr>
          <p:nvPr>
            <p:ph type="body" idx="1"/>
          </p:nvPr>
        </p:nvSpPr>
        <p:spPr/>
        <p:txBody>
          <a:bodyPr/>
          <a:lstStyle/>
          <a:p>
            <a:pPr>
              <a:lnSpc>
                <a:spcPct val="150000"/>
              </a:lnSpc>
            </a:pPr>
            <a:r>
              <a:rPr lang="en-US" dirty="0"/>
              <a:t>Increase online order volume.</a:t>
            </a:r>
          </a:p>
          <a:p>
            <a:pPr>
              <a:lnSpc>
                <a:spcPct val="150000"/>
              </a:lnSpc>
            </a:pPr>
            <a:r>
              <a:rPr lang="en-US" dirty="0"/>
              <a:t>Boost performance in low-order states.</a:t>
            </a:r>
          </a:p>
          <a:p>
            <a:pPr>
              <a:lnSpc>
                <a:spcPct val="150000"/>
              </a:lnSpc>
            </a:pPr>
            <a:r>
              <a:rPr lang="en-US" dirty="0"/>
              <a:t>Optimize credit card payment experience.</a:t>
            </a:r>
          </a:p>
          <a:p>
            <a:pPr>
              <a:lnSpc>
                <a:spcPct val="150000"/>
              </a:lnSpc>
            </a:pPr>
            <a:r>
              <a:rPr lang="en-US" dirty="0"/>
              <a:t>Expand revenue in underperforming time slots.</a:t>
            </a:r>
          </a:p>
          <a:p>
            <a:pPr>
              <a:lnSpc>
                <a:spcPct val="150000"/>
              </a:lnSpc>
            </a:pPr>
            <a:r>
              <a:rPr lang="en-US" dirty="0"/>
              <a:t>Leverage weekday revenue advantage.</a:t>
            </a:r>
          </a:p>
          <a:p>
            <a:pPr>
              <a:lnSpc>
                <a:spcPct val="150000"/>
              </a:lnSpc>
            </a:pPr>
            <a:r>
              <a:rPr lang="en-US" dirty="0"/>
              <a:t>Strengthen Inter-region sales.</a:t>
            </a:r>
          </a:p>
          <a:p>
            <a:endParaRPr lang="en-IN" dirty="0"/>
          </a:p>
        </p:txBody>
      </p:sp>
      <p:sp>
        <p:nvSpPr>
          <p:cNvPr id="3" name="Title 2">
            <a:extLst>
              <a:ext uri="{FF2B5EF4-FFF2-40B4-BE49-F238E27FC236}">
                <a16:creationId xmlns:a16="http://schemas.microsoft.com/office/drawing/2014/main" id="{7DEC7A23-A8DB-2B97-F889-10933ADC9F86}"/>
              </a:ext>
            </a:extLst>
          </p:cNvPr>
          <p:cNvSpPr>
            <a:spLocks noGrp="1"/>
          </p:cNvSpPr>
          <p:nvPr>
            <p:ph type="title"/>
          </p:nvPr>
        </p:nvSpPr>
        <p:spPr/>
        <p:txBody>
          <a:bodyPr/>
          <a:lstStyle/>
          <a:p>
            <a:pPr algn="ctr"/>
            <a:r>
              <a:rPr lang="en-US" dirty="0"/>
              <a:t>Recommendations</a:t>
            </a:r>
            <a:endParaRPr lang="en-IN" dirty="0"/>
          </a:p>
        </p:txBody>
      </p:sp>
    </p:spTree>
    <p:extLst>
      <p:ext uri="{BB962C8B-B14F-4D97-AF65-F5344CB8AC3E}">
        <p14:creationId xmlns:p14="http://schemas.microsoft.com/office/powerpoint/2010/main" val="22636560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AE839F6-C7B4-50FF-332F-A075BC493632}"/>
              </a:ext>
            </a:extLst>
          </p:cNvPr>
          <p:cNvSpPr>
            <a:spLocks noGrp="1"/>
          </p:cNvSpPr>
          <p:nvPr>
            <p:ph type="body" idx="1"/>
          </p:nvPr>
        </p:nvSpPr>
        <p:spPr>
          <a:xfrm>
            <a:off x="487679" y="1310640"/>
            <a:ext cx="11277599" cy="4668405"/>
          </a:xfrm>
        </p:spPr>
        <p:txBody>
          <a:bodyPr/>
          <a:lstStyle/>
          <a:p>
            <a:endParaRPr lang="en-IN" dirty="0"/>
          </a:p>
        </p:txBody>
      </p:sp>
      <p:sp>
        <p:nvSpPr>
          <p:cNvPr id="3" name="Title 2">
            <a:extLst>
              <a:ext uri="{FF2B5EF4-FFF2-40B4-BE49-F238E27FC236}">
                <a16:creationId xmlns:a16="http://schemas.microsoft.com/office/drawing/2014/main" id="{8AAB5665-8A47-FF12-AED5-23B6548DDAA0}"/>
              </a:ext>
            </a:extLst>
          </p:cNvPr>
          <p:cNvSpPr>
            <a:spLocks noGrp="1"/>
          </p:cNvSpPr>
          <p:nvPr>
            <p:ph type="title"/>
          </p:nvPr>
        </p:nvSpPr>
        <p:spPr>
          <a:xfrm>
            <a:off x="403196" y="0"/>
            <a:ext cx="11362083" cy="1137600"/>
          </a:xfrm>
        </p:spPr>
        <p:txBody>
          <a:bodyPr/>
          <a:lstStyle/>
          <a:p>
            <a:pPr algn="ctr"/>
            <a:r>
              <a:rPr lang="en-US" dirty="0"/>
              <a:t>Store Level Dashboard</a:t>
            </a:r>
            <a:endParaRPr lang="en-IN" dirty="0"/>
          </a:p>
        </p:txBody>
      </p:sp>
      <p:pic>
        <p:nvPicPr>
          <p:cNvPr id="5" name="Picture 4">
            <a:extLst>
              <a:ext uri="{FF2B5EF4-FFF2-40B4-BE49-F238E27FC236}">
                <a16:creationId xmlns:a16="http://schemas.microsoft.com/office/drawing/2014/main" id="{3AEEA1DC-2D6E-0554-8E7A-1748CB30E1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38961" y="1310640"/>
            <a:ext cx="8493760" cy="4668405"/>
          </a:xfrm>
          <a:prstGeom prst="rect">
            <a:avLst/>
          </a:prstGeom>
        </p:spPr>
      </p:pic>
    </p:spTree>
    <p:extLst>
      <p:ext uri="{BB962C8B-B14F-4D97-AF65-F5344CB8AC3E}">
        <p14:creationId xmlns:p14="http://schemas.microsoft.com/office/powerpoint/2010/main" val="31473101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ED62C51-001E-74C6-3442-B0C99CD2510E}"/>
              </a:ext>
            </a:extLst>
          </p:cNvPr>
          <p:cNvSpPr>
            <a:spLocks noGrp="1"/>
          </p:cNvSpPr>
          <p:nvPr>
            <p:ph type="body" idx="1"/>
          </p:nvPr>
        </p:nvSpPr>
        <p:spPr/>
        <p:txBody>
          <a:bodyPr>
            <a:normAutofit lnSpcReduction="10000"/>
          </a:bodyPr>
          <a:lstStyle/>
          <a:p>
            <a:pPr>
              <a:lnSpc>
                <a:spcPct val="150000"/>
              </a:lnSpc>
            </a:pPr>
            <a:r>
              <a:rPr lang="en-US" dirty="0"/>
              <a:t>Replicate success of top-performing store.</a:t>
            </a:r>
          </a:p>
          <a:p>
            <a:pPr>
              <a:lnSpc>
                <a:spcPct val="150000"/>
              </a:lnSpc>
            </a:pPr>
            <a:r>
              <a:rPr lang="en-US" dirty="0"/>
              <a:t>Focus on high-order states like Andhra Pradesh.</a:t>
            </a:r>
          </a:p>
          <a:p>
            <a:pPr>
              <a:lnSpc>
                <a:spcPct val="150000"/>
              </a:lnSpc>
            </a:pPr>
            <a:r>
              <a:rPr lang="en-US" dirty="0"/>
              <a:t>Improve Performance in low-order states.</a:t>
            </a:r>
          </a:p>
          <a:p>
            <a:pPr>
              <a:lnSpc>
                <a:spcPct val="150000"/>
              </a:lnSpc>
            </a:pPr>
            <a:r>
              <a:rPr lang="en-US" dirty="0"/>
              <a:t>Leverage peak quarters for revenue growth.</a:t>
            </a:r>
          </a:p>
          <a:p>
            <a:pPr>
              <a:lnSpc>
                <a:spcPct val="150000"/>
              </a:lnSpc>
            </a:pPr>
            <a:r>
              <a:rPr lang="en-US" dirty="0"/>
              <a:t>Optimize time slot performance.</a:t>
            </a:r>
          </a:p>
          <a:p>
            <a:pPr>
              <a:lnSpc>
                <a:spcPct val="150000"/>
              </a:lnSpc>
            </a:pPr>
            <a:r>
              <a:rPr lang="en-US" dirty="0"/>
              <a:t>Enhance regional strategies.</a:t>
            </a:r>
          </a:p>
          <a:p>
            <a:pPr>
              <a:lnSpc>
                <a:spcPct val="150000"/>
              </a:lnSpc>
            </a:pPr>
            <a:r>
              <a:rPr lang="en-US" dirty="0"/>
              <a:t>Increase profit margins.</a:t>
            </a:r>
          </a:p>
          <a:p>
            <a:endParaRPr lang="en-IN" dirty="0"/>
          </a:p>
        </p:txBody>
      </p:sp>
      <p:sp>
        <p:nvSpPr>
          <p:cNvPr id="3" name="Title 2">
            <a:extLst>
              <a:ext uri="{FF2B5EF4-FFF2-40B4-BE49-F238E27FC236}">
                <a16:creationId xmlns:a16="http://schemas.microsoft.com/office/drawing/2014/main" id="{D0195EA9-CF4D-7135-4804-4B28737B618C}"/>
              </a:ext>
            </a:extLst>
          </p:cNvPr>
          <p:cNvSpPr>
            <a:spLocks noGrp="1"/>
          </p:cNvSpPr>
          <p:nvPr>
            <p:ph type="title"/>
          </p:nvPr>
        </p:nvSpPr>
        <p:spPr/>
        <p:txBody>
          <a:bodyPr/>
          <a:lstStyle/>
          <a:p>
            <a:pPr algn="ctr"/>
            <a:r>
              <a:rPr lang="en-US" dirty="0"/>
              <a:t>Recommendations </a:t>
            </a:r>
            <a:endParaRPr lang="en-IN" dirty="0"/>
          </a:p>
        </p:txBody>
      </p:sp>
    </p:spTree>
    <p:extLst>
      <p:ext uri="{BB962C8B-B14F-4D97-AF65-F5344CB8AC3E}">
        <p14:creationId xmlns:p14="http://schemas.microsoft.com/office/powerpoint/2010/main" val="23209144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4EAECA8-4AA8-64C3-8B38-32CCCF4A379C}"/>
              </a:ext>
            </a:extLst>
          </p:cNvPr>
          <p:cNvSpPr>
            <a:spLocks noGrp="1"/>
          </p:cNvSpPr>
          <p:nvPr>
            <p:ph type="body" idx="1"/>
          </p:nvPr>
        </p:nvSpPr>
        <p:spPr>
          <a:xfrm>
            <a:off x="403197" y="1371600"/>
            <a:ext cx="11412882" cy="4607445"/>
          </a:xfrm>
        </p:spPr>
        <p:txBody>
          <a:bodyPr/>
          <a:lstStyle/>
          <a:p>
            <a:endParaRPr lang="en-IN" dirty="0"/>
          </a:p>
        </p:txBody>
      </p:sp>
      <p:sp>
        <p:nvSpPr>
          <p:cNvPr id="3" name="Title 2">
            <a:extLst>
              <a:ext uri="{FF2B5EF4-FFF2-40B4-BE49-F238E27FC236}">
                <a16:creationId xmlns:a16="http://schemas.microsoft.com/office/drawing/2014/main" id="{5057005C-52DA-27DA-A1B5-D994F3F40C32}"/>
              </a:ext>
            </a:extLst>
          </p:cNvPr>
          <p:cNvSpPr>
            <a:spLocks noGrp="1"/>
          </p:cNvSpPr>
          <p:nvPr>
            <p:ph type="title"/>
          </p:nvPr>
        </p:nvSpPr>
        <p:spPr>
          <a:xfrm>
            <a:off x="403196" y="0"/>
            <a:ext cx="11412883" cy="1137600"/>
          </a:xfrm>
        </p:spPr>
        <p:txBody>
          <a:bodyPr/>
          <a:lstStyle/>
          <a:p>
            <a:pPr algn="ctr"/>
            <a:r>
              <a:rPr lang="en-US" dirty="0"/>
              <a:t>Product Level Dashboard</a:t>
            </a:r>
            <a:endParaRPr lang="en-IN" dirty="0"/>
          </a:p>
        </p:txBody>
      </p:sp>
      <p:pic>
        <p:nvPicPr>
          <p:cNvPr id="5" name="Picture 4">
            <a:extLst>
              <a:ext uri="{FF2B5EF4-FFF2-40B4-BE49-F238E27FC236}">
                <a16:creationId xmlns:a16="http://schemas.microsoft.com/office/drawing/2014/main" id="{C9846A64-C6E8-9FB1-6C46-D80CCAB34E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59280" y="1371600"/>
            <a:ext cx="8453120" cy="4607445"/>
          </a:xfrm>
          <a:prstGeom prst="rect">
            <a:avLst/>
          </a:prstGeom>
        </p:spPr>
      </p:pic>
    </p:spTree>
    <p:extLst>
      <p:ext uri="{BB962C8B-B14F-4D97-AF65-F5344CB8AC3E}">
        <p14:creationId xmlns:p14="http://schemas.microsoft.com/office/powerpoint/2010/main" val="31600294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E3871D4-156B-937D-1FDE-0AA61289575E}"/>
              </a:ext>
            </a:extLst>
          </p:cNvPr>
          <p:cNvSpPr>
            <a:spLocks noGrp="1"/>
          </p:cNvSpPr>
          <p:nvPr>
            <p:ph type="body" idx="1"/>
          </p:nvPr>
        </p:nvSpPr>
        <p:spPr/>
        <p:txBody>
          <a:bodyPr>
            <a:normAutofit lnSpcReduction="10000"/>
          </a:bodyPr>
          <a:lstStyle/>
          <a:p>
            <a:pPr>
              <a:lnSpc>
                <a:spcPct val="150000"/>
              </a:lnSpc>
            </a:pPr>
            <a:r>
              <a:rPr lang="en-US" dirty="0"/>
              <a:t>Capitalize on top-performing category</a:t>
            </a:r>
            <a:r>
              <a:rPr lang="en-IN" dirty="0"/>
              <a:t>.</a:t>
            </a:r>
          </a:p>
          <a:p>
            <a:pPr>
              <a:lnSpc>
                <a:spcPct val="150000"/>
              </a:lnSpc>
            </a:pPr>
            <a:r>
              <a:rPr lang="en-IN" dirty="0"/>
              <a:t>Boost underperforming categories.</a:t>
            </a:r>
          </a:p>
          <a:p>
            <a:pPr>
              <a:lnSpc>
                <a:spcPct val="150000"/>
              </a:lnSpc>
            </a:pPr>
            <a:r>
              <a:rPr lang="en-IN" dirty="0"/>
              <a:t>Optimize inventory for high-demand states.</a:t>
            </a:r>
          </a:p>
          <a:p>
            <a:pPr>
              <a:lnSpc>
                <a:spcPct val="150000"/>
              </a:lnSpc>
            </a:pPr>
            <a:r>
              <a:rPr lang="en-IN" dirty="0"/>
              <a:t>Improve performance in low-volume states</a:t>
            </a:r>
          </a:p>
          <a:p>
            <a:pPr>
              <a:lnSpc>
                <a:spcPct val="150000"/>
              </a:lnSpc>
            </a:pPr>
            <a:r>
              <a:rPr lang="en-IN" dirty="0"/>
              <a:t>Leverage peak time slots for sales.</a:t>
            </a:r>
          </a:p>
          <a:p>
            <a:pPr>
              <a:lnSpc>
                <a:spcPct val="150000"/>
              </a:lnSpc>
            </a:pPr>
            <a:r>
              <a:rPr lang="en-IN" dirty="0"/>
              <a:t>Enhance category diversity per order.</a:t>
            </a:r>
          </a:p>
          <a:p>
            <a:pPr>
              <a:lnSpc>
                <a:spcPct val="150000"/>
              </a:lnSpc>
            </a:pPr>
            <a:r>
              <a:rPr lang="en-IN" dirty="0"/>
              <a:t>Refine category strategy using revenue insights.</a:t>
            </a:r>
            <a:endParaRPr lang="en-US" dirty="0"/>
          </a:p>
        </p:txBody>
      </p:sp>
      <p:sp>
        <p:nvSpPr>
          <p:cNvPr id="3" name="Title 2">
            <a:extLst>
              <a:ext uri="{FF2B5EF4-FFF2-40B4-BE49-F238E27FC236}">
                <a16:creationId xmlns:a16="http://schemas.microsoft.com/office/drawing/2014/main" id="{01F20B5E-277E-4EEA-72BD-4C59BA097BE2}"/>
              </a:ext>
            </a:extLst>
          </p:cNvPr>
          <p:cNvSpPr>
            <a:spLocks noGrp="1"/>
          </p:cNvSpPr>
          <p:nvPr>
            <p:ph type="title"/>
          </p:nvPr>
        </p:nvSpPr>
        <p:spPr/>
        <p:txBody>
          <a:bodyPr/>
          <a:lstStyle/>
          <a:p>
            <a:pPr algn="ctr"/>
            <a:r>
              <a:rPr lang="en-US" dirty="0"/>
              <a:t>Recommendations</a:t>
            </a:r>
            <a:endParaRPr lang="en-IN" dirty="0"/>
          </a:p>
        </p:txBody>
      </p:sp>
    </p:spTree>
    <p:extLst>
      <p:ext uri="{BB962C8B-B14F-4D97-AF65-F5344CB8AC3E}">
        <p14:creationId xmlns:p14="http://schemas.microsoft.com/office/powerpoint/2010/main" val="9573750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E2EACF8-5FDA-AFBB-ECBB-18831CE7C46C}"/>
              </a:ext>
            </a:extLst>
          </p:cNvPr>
          <p:cNvSpPr>
            <a:spLocks noGrp="1"/>
          </p:cNvSpPr>
          <p:nvPr>
            <p:ph type="title"/>
          </p:nvPr>
        </p:nvSpPr>
        <p:spPr>
          <a:xfrm>
            <a:off x="403197" y="294640"/>
            <a:ext cx="10675200" cy="5577840"/>
          </a:xfrm>
        </p:spPr>
        <p:txBody>
          <a:bodyPr/>
          <a:lstStyle/>
          <a:p>
            <a:pPr algn="r"/>
            <a:r>
              <a:rPr lang="en-US" sz="4000" dirty="0"/>
              <a:t>COHORT ANALYSIS</a:t>
            </a:r>
            <a:endParaRPr lang="en-IN" sz="4000" dirty="0"/>
          </a:p>
        </p:txBody>
      </p:sp>
    </p:spTree>
    <p:extLst>
      <p:ext uri="{BB962C8B-B14F-4D97-AF65-F5344CB8AC3E}">
        <p14:creationId xmlns:p14="http://schemas.microsoft.com/office/powerpoint/2010/main" val="21593337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A20DE30-CE6E-3BA0-B792-7FF58B2111C9}"/>
              </a:ext>
            </a:extLst>
          </p:cNvPr>
          <p:cNvSpPr>
            <a:spLocks noGrp="1"/>
          </p:cNvSpPr>
          <p:nvPr>
            <p:ph type="title"/>
          </p:nvPr>
        </p:nvSpPr>
        <p:spPr/>
        <p:txBody>
          <a:bodyPr/>
          <a:lstStyle/>
          <a:p>
            <a:r>
              <a:rPr lang="en-US" dirty="0"/>
              <a:t>Acquisition Cohort Analysis</a:t>
            </a:r>
            <a:endParaRPr lang="en-IN" dirty="0"/>
          </a:p>
        </p:txBody>
      </p:sp>
      <p:sp>
        <p:nvSpPr>
          <p:cNvPr id="6" name="Chart Placeholder 5">
            <a:extLst>
              <a:ext uri="{FF2B5EF4-FFF2-40B4-BE49-F238E27FC236}">
                <a16:creationId xmlns:a16="http://schemas.microsoft.com/office/drawing/2014/main" id="{9F541B26-E860-07AA-3E08-70F5F09D4A9A}"/>
              </a:ext>
            </a:extLst>
          </p:cNvPr>
          <p:cNvSpPr>
            <a:spLocks noGrp="1"/>
          </p:cNvSpPr>
          <p:nvPr>
            <p:ph type="chart" sz="quarter" idx="11"/>
          </p:nvPr>
        </p:nvSpPr>
        <p:spPr>
          <a:xfrm>
            <a:off x="403225" y="1291764"/>
            <a:ext cx="11360775" cy="3581862"/>
          </a:xfrm>
        </p:spPr>
      </p:sp>
      <p:sp>
        <p:nvSpPr>
          <p:cNvPr id="7" name="Text Placeholder 6">
            <a:extLst>
              <a:ext uri="{FF2B5EF4-FFF2-40B4-BE49-F238E27FC236}">
                <a16:creationId xmlns:a16="http://schemas.microsoft.com/office/drawing/2014/main" id="{E647633C-D11B-270B-909C-CED1184C5221}"/>
              </a:ext>
            </a:extLst>
          </p:cNvPr>
          <p:cNvSpPr>
            <a:spLocks noGrp="1"/>
          </p:cNvSpPr>
          <p:nvPr>
            <p:ph type="body" sz="quarter" idx="12"/>
          </p:nvPr>
        </p:nvSpPr>
        <p:spPr/>
        <p:txBody>
          <a:bodyPr numCol="2"/>
          <a:lstStyle/>
          <a:p>
            <a:pPr marL="285750" indent="-285750">
              <a:buFont typeface="Arial" panose="020B0604020202020204" pitchFamily="34" charset="0"/>
              <a:buChar char="•"/>
            </a:pPr>
            <a:r>
              <a:rPr lang="en-US" sz="1400" dirty="0"/>
              <a:t>There are two clusters forming, K1 (P1,P2,P3,P4)</a:t>
            </a:r>
            <a:r>
              <a:rPr lang="en-IN" sz="1400" dirty="0"/>
              <a:t> K2(P7,P8,P9,P10,P11,P12) </a:t>
            </a:r>
          </a:p>
          <a:p>
            <a:pPr marL="285750" indent="-285750">
              <a:buFont typeface="Arial" panose="020B0604020202020204" pitchFamily="34" charset="0"/>
              <a:buChar char="•"/>
            </a:pPr>
            <a:r>
              <a:rPr lang="en-IN" sz="1400" dirty="0"/>
              <a:t>Mixed buying behaviours</a:t>
            </a:r>
          </a:p>
          <a:p>
            <a:pPr marL="285750" indent="-285750">
              <a:buFont typeface="Arial" panose="020B0604020202020204" pitchFamily="34" charset="0"/>
              <a:buChar char="•"/>
            </a:pPr>
            <a:r>
              <a:rPr lang="en-IN" sz="1400" dirty="0"/>
              <a:t>Segment based campaigns: target K1 and K2 segments and encourage them with loyalty rewards , Reminder through emails and time-limited offers to reactivate </a:t>
            </a:r>
          </a:p>
        </p:txBody>
      </p:sp>
      <p:pic>
        <p:nvPicPr>
          <p:cNvPr id="9" name="Picture 8">
            <a:extLst>
              <a:ext uri="{FF2B5EF4-FFF2-40B4-BE49-F238E27FC236}">
                <a16:creationId xmlns:a16="http://schemas.microsoft.com/office/drawing/2014/main" id="{1EC98CBA-6E42-9584-B103-07F612F73163}"/>
              </a:ext>
            </a:extLst>
          </p:cNvPr>
          <p:cNvPicPr>
            <a:picLocks noChangeAspect="1"/>
          </p:cNvPicPr>
          <p:nvPr/>
        </p:nvPicPr>
        <p:blipFill>
          <a:blip r:embed="rId2"/>
          <a:stretch>
            <a:fillRect/>
          </a:stretch>
        </p:blipFill>
        <p:spPr>
          <a:xfrm>
            <a:off x="403200" y="1291762"/>
            <a:ext cx="11385575" cy="3581862"/>
          </a:xfrm>
          <a:prstGeom prst="rect">
            <a:avLst/>
          </a:prstGeom>
        </p:spPr>
      </p:pic>
    </p:spTree>
    <p:extLst>
      <p:ext uri="{BB962C8B-B14F-4D97-AF65-F5344CB8AC3E}">
        <p14:creationId xmlns:p14="http://schemas.microsoft.com/office/powerpoint/2010/main" val="21998700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63B3A-FC73-1FF7-4073-D6E0C769AAFA}"/>
              </a:ext>
            </a:extLst>
          </p:cNvPr>
          <p:cNvSpPr>
            <a:spLocks noGrp="1"/>
          </p:cNvSpPr>
          <p:nvPr>
            <p:ph type="title"/>
          </p:nvPr>
        </p:nvSpPr>
        <p:spPr/>
        <p:txBody>
          <a:bodyPr/>
          <a:lstStyle/>
          <a:p>
            <a:r>
              <a:rPr lang="en-US" dirty="0"/>
              <a:t>Discount Segment Based Cohort Analysis (Seekers)	</a:t>
            </a:r>
            <a:endParaRPr lang="en-IN" dirty="0"/>
          </a:p>
        </p:txBody>
      </p:sp>
      <p:sp>
        <p:nvSpPr>
          <p:cNvPr id="4" name="Text Placeholder 3">
            <a:extLst>
              <a:ext uri="{FF2B5EF4-FFF2-40B4-BE49-F238E27FC236}">
                <a16:creationId xmlns:a16="http://schemas.microsoft.com/office/drawing/2014/main" id="{9523FAF6-4BA5-345C-07D8-2589CD3F6ADE}"/>
              </a:ext>
            </a:extLst>
          </p:cNvPr>
          <p:cNvSpPr>
            <a:spLocks noGrp="1"/>
          </p:cNvSpPr>
          <p:nvPr>
            <p:ph type="body" sz="quarter" idx="12"/>
          </p:nvPr>
        </p:nvSpPr>
        <p:spPr/>
        <p:txBody>
          <a:bodyPr numCol="2"/>
          <a:lstStyle/>
          <a:p>
            <a:pPr marL="285750" indent="-285750">
              <a:buFont typeface="Arial" panose="020B0604020202020204" pitchFamily="34" charset="0"/>
              <a:buChar char="•"/>
            </a:pPr>
            <a:r>
              <a:rPr lang="en-US" sz="1400" dirty="0"/>
              <a:t>2 clusters are forming with K1((P2,P3,P4) and K2(P8,P9,P10,P11) with cohort Q1 and Q2 quarters.</a:t>
            </a:r>
          </a:p>
          <a:p>
            <a:pPr marL="285750" indent="-285750">
              <a:buFont typeface="Arial" panose="020B0604020202020204" pitchFamily="34" charset="0"/>
              <a:buChar char="•"/>
            </a:pPr>
            <a:r>
              <a:rPr lang="en-US" sz="1400" dirty="0"/>
              <a:t>Peaks align with New Year and Independence Day Sales.</a:t>
            </a:r>
          </a:p>
          <a:p>
            <a:endParaRPr lang="en-US" sz="1400" dirty="0"/>
          </a:p>
          <a:p>
            <a:endParaRPr lang="en-US" sz="1400" dirty="0"/>
          </a:p>
          <a:p>
            <a:endParaRPr lang="en-US" sz="1400" dirty="0"/>
          </a:p>
          <a:p>
            <a:pPr marL="285750" indent="-285750">
              <a:buFont typeface="Arial" panose="020B0604020202020204" pitchFamily="34" charset="0"/>
              <a:buChar char="•"/>
            </a:pPr>
            <a:r>
              <a:rPr lang="en-US" sz="1400" dirty="0"/>
              <a:t>Personalize outreach to each cluster on buying timing.</a:t>
            </a:r>
          </a:p>
          <a:p>
            <a:pPr marL="285750" indent="-285750">
              <a:buFont typeface="Arial" panose="020B0604020202020204" pitchFamily="34" charset="0"/>
              <a:buChar char="•"/>
            </a:pPr>
            <a:r>
              <a:rPr lang="en-US" sz="1400" dirty="0"/>
              <a:t>Offers to encourage Seekers to buy more during New year and independence Day sales.</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endParaRPr lang="en-IN" sz="1400" dirty="0"/>
          </a:p>
        </p:txBody>
      </p:sp>
      <p:pic>
        <p:nvPicPr>
          <p:cNvPr id="3" name="Picture 2">
            <a:extLst>
              <a:ext uri="{FF2B5EF4-FFF2-40B4-BE49-F238E27FC236}">
                <a16:creationId xmlns:a16="http://schemas.microsoft.com/office/drawing/2014/main" id="{47157926-8C05-F4BA-41BF-33065EA8E16F}"/>
              </a:ext>
            </a:extLst>
          </p:cNvPr>
          <p:cNvPicPr>
            <a:picLocks noChangeAspect="1"/>
          </p:cNvPicPr>
          <p:nvPr/>
        </p:nvPicPr>
        <p:blipFill>
          <a:blip r:embed="rId2"/>
          <a:stretch>
            <a:fillRect/>
          </a:stretch>
        </p:blipFill>
        <p:spPr>
          <a:xfrm>
            <a:off x="403199" y="1331036"/>
            <a:ext cx="11156083" cy="3324225"/>
          </a:xfrm>
          <a:prstGeom prst="rect">
            <a:avLst/>
          </a:prstGeom>
        </p:spPr>
      </p:pic>
      <p:sp>
        <p:nvSpPr>
          <p:cNvPr id="6" name="Chart Placeholder 5">
            <a:extLst>
              <a:ext uri="{FF2B5EF4-FFF2-40B4-BE49-F238E27FC236}">
                <a16:creationId xmlns:a16="http://schemas.microsoft.com/office/drawing/2014/main" id="{721A972D-C33A-722F-947D-C08E50B7C8D0}"/>
              </a:ext>
            </a:extLst>
          </p:cNvPr>
          <p:cNvSpPr>
            <a:spLocks noGrp="1"/>
          </p:cNvSpPr>
          <p:nvPr>
            <p:ph type="chart" sz="quarter" idx="11"/>
          </p:nvPr>
        </p:nvSpPr>
        <p:spPr>
          <a:xfrm>
            <a:off x="198508" y="1331036"/>
            <a:ext cx="11360775" cy="3324225"/>
          </a:xfrm>
        </p:spPr>
      </p:sp>
    </p:spTree>
    <p:extLst>
      <p:ext uri="{BB962C8B-B14F-4D97-AF65-F5344CB8AC3E}">
        <p14:creationId xmlns:p14="http://schemas.microsoft.com/office/powerpoint/2010/main" val="37455241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84AB1-0DEF-5459-48D9-40AD99238799}"/>
              </a:ext>
            </a:extLst>
          </p:cNvPr>
          <p:cNvSpPr>
            <a:spLocks noGrp="1"/>
          </p:cNvSpPr>
          <p:nvPr>
            <p:ph type="title"/>
          </p:nvPr>
        </p:nvSpPr>
        <p:spPr/>
        <p:txBody>
          <a:bodyPr/>
          <a:lstStyle/>
          <a:p>
            <a:r>
              <a:rPr lang="en-US" dirty="0"/>
              <a:t>Discount Segment Based Cohort Analysis(Non-Seekers)</a:t>
            </a:r>
            <a:endParaRPr lang="en-IN" dirty="0"/>
          </a:p>
        </p:txBody>
      </p:sp>
      <p:sp>
        <p:nvSpPr>
          <p:cNvPr id="3" name="Chart Placeholder 2">
            <a:extLst>
              <a:ext uri="{FF2B5EF4-FFF2-40B4-BE49-F238E27FC236}">
                <a16:creationId xmlns:a16="http://schemas.microsoft.com/office/drawing/2014/main" id="{BCBC3A19-A9EB-2B8A-F6B0-9FF3FC301CDB}"/>
              </a:ext>
            </a:extLst>
          </p:cNvPr>
          <p:cNvSpPr>
            <a:spLocks noGrp="1"/>
          </p:cNvSpPr>
          <p:nvPr>
            <p:ph type="chart" sz="quarter" idx="11"/>
          </p:nvPr>
        </p:nvSpPr>
        <p:spPr/>
      </p:sp>
      <p:sp>
        <p:nvSpPr>
          <p:cNvPr id="4" name="Text Placeholder 3">
            <a:extLst>
              <a:ext uri="{FF2B5EF4-FFF2-40B4-BE49-F238E27FC236}">
                <a16:creationId xmlns:a16="http://schemas.microsoft.com/office/drawing/2014/main" id="{4510E836-5C71-2A0E-77D2-C56026A63EB9}"/>
              </a:ext>
            </a:extLst>
          </p:cNvPr>
          <p:cNvSpPr>
            <a:spLocks noGrp="1"/>
          </p:cNvSpPr>
          <p:nvPr>
            <p:ph type="body" sz="quarter" idx="12"/>
          </p:nvPr>
        </p:nvSpPr>
        <p:spPr/>
        <p:txBody>
          <a:bodyPr numCol="2"/>
          <a:lstStyle/>
          <a:p>
            <a:pPr marL="285750" indent="-285750">
              <a:buFont typeface="Arial" panose="020B0604020202020204" pitchFamily="34" charset="0"/>
              <a:buChar char="•"/>
            </a:pPr>
            <a:r>
              <a:rPr lang="en-US" sz="1400" dirty="0"/>
              <a:t>Mainly Purchase for personal needs, not influenced by promotions.</a:t>
            </a:r>
          </a:p>
          <a:p>
            <a:pPr marL="285750" indent="-285750">
              <a:buFont typeface="Arial" panose="020B0604020202020204" pitchFamily="34" charset="0"/>
              <a:buChar char="•"/>
            </a:pPr>
            <a:r>
              <a:rPr lang="en-US" sz="1400" dirty="0"/>
              <a:t>Very Low Repeat Buying with little to not specific pattern.</a:t>
            </a:r>
          </a:p>
          <a:p>
            <a:pPr marL="285750" indent="-285750">
              <a:buFont typeface="Arial" panose="020B0604020202020204" pitchFamily="34" charset="0"/>
              <a:buChar char="•"/>
            </a:pPr>
            <a:r>
              <a:rPr lang="en-US" sz="1400" dirty="0"/>
              <a:t>Create Demand </a:t>
            </a:r>
          </a:p>
          <a:p>
            <a:pPr marL="285750" indent="-285750">
              <a:buFont typeface="Arial" panose="020B0604020202020204" pitchFamily="34" charset="0"/>
              <a:buChar char="•"/>
            </a:pPr>
            <a:r>
              <a:rPr lang="en-US" sz="1400" dirty="0"/>
              <a:t>Personalized reminders  </a:t>
            </a:r>
            <a:endParaRPr lang="en-IN" sz="1400" dirty="0"/>
          </a:p>
        </p:txBody>
      </p:sp>
      <p:pic>
        <p:nvPicPr>
          <p:cNvPr id="5" name="Picture 4">
            <a:extLst>
              <a:ext uri="{FF2B5EF4-FFF2-40B4-BE49-F238E27FC236}">
                <a16:creationId xmlns:a16="http://schemas.microsoft.com/office/drawing/2014/main" id="{40C67F4E-1CB9-3EAF-4A0E-A014D002A7FE}"/>
              </a:ext>
            </a:extLst>
          </p:cNvPr>
          <p:cNvPicPr>
            <a:picLocks noChangeAspect="1"/>
          </p:cNvPicPr>
          <p:nvPr/>
        </p:nvPicPr>
        <p:blipFill>
          <a:blip r:embed="rId2"/>
          <a:stretch>
            <a:fillRect/>
          </a:stretch>
        </p:blipFill>
        <p:spPr>
          <a:xfrm>
            <a:off x="428000" y="1549400"/>
            <a:ext cx="6333926" cy="3324225"/>
          </a:xfrm>
          <a:prstGeom prst="rect">
            <a:avLst/>
          </a:prstGeom>
        </p:spPr>
      </p:pic>
    </p:spTree>
    <p:extLst>
      <p:ext uri="{BB962C8B-B14F-4D97-AF65-F5344CB8AC3E}">
        <p14:creationId xmlns:p14="http://schemas.microsoft.com/office/powerpoint/2010/main" val="18497648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DA1B2-D503-F758-D857-EF7BBFF0E51D}"/>
              </a:ext>
            </a:extLst>
          </p:cNvPr>
          <p:cNvSpPr>
            <a:spLocks noGrp="1"/>
          </p:cNvSpPr>
          <p:nvPr>
            <p:ph type="title"/>
          </p:nvPr>
        </p:nvSpPr>
        <p:spPr/>
        <p:txBody>
          <a:bodyPr/>
          <a:lstStyle/>
          <a:p>
            <a:r>
              <a:rPr lang="en-US" dirty="0"/>
              <a:t>Active type Segment Based Cohort Analysis (</a:t>
            </a:r>
            <a:r>
              <a:rPr lang="en-US" dirty="0" err="1"/>
              <a:t>Dawnsparrow</a:t>
            </a:r>
            <a:r>
              <a:rPr lang="en-US" dirty="0"/>
              <a:t>)</a:t>
            </a:r>
            <a:endParaRPr lang="en-IN" dirty="0"/>
          </a:p>
        </p:txBody>
      </p:sp>
      <p:sp>
        <p:nvSpPr>
          <p:cNvPr id="4" name="Text Placeholder 3">
            <a:extLst>
              <a:ext uri="{FF2B5EF4-FFF2-40B4-BE49-F238E27FC236}">
                <a16:creationId xmlns:a16="http://schemas.microsoft.com/office/drawing/2014/main" id="{332C4CE4-C064-BC60-07ED-E13097C0B321}"/>
              </a:ext>
            </a:extLst>
          </p:cNvPr>
          <p:cNvSpPr>
            <a:spLocks noGrp="1"/>
          </p:cNvSpPr>
          <p:nvPr>
            <p:ph type="body" sz="quarter" idx="12"/>
          </p:nvPr>
        </p:nvSpPr>
        <p:spPr/>
        <p:txBody>
          <a:bodyPr numCol="2"/>
          <a:lstStyle/>
          <a:p>
            <a:pPr marL="285750" indent="-285750">
              <a:buFont typeface="Arial" panose="020B0604020202020204" pitchFamily="34" charset="0"/>
              <a:buChar char="•"/>
            </a:pPr>
            <a:r>
              <a:rPr lang="en-US" sz="1400" dirty="0" err="1"/>
              <a:t>DawnSparrows</a:t>
            </a:r>
            <a:r>
              <a:rPr lang="en-US" sz="1400" dirty="0"/>
              <a:t> avoid Late night orders (12am to 5am)</a:t>
            </a:r>
          </a:p>
          <a:p>
            <a:pPr marL="285750" indent="-285750">
              <a:buFont typeface="Arial" panose="020B0604020202020204" pitchFamily="34" charset="0"/>
              <a:buChar char="•"/>
            </a:pPr>
            <a:r>
              <a:rPr lang="en-US" sz="1400" dirty="0"/>
              <a:t>Steady repeat buying with consistent engagement overall.</a:t>
            </a:r>
          </a:p>
          <a:p>
            <a:pPr marL="285750" indent="-285750">
              <a:buFont typeface="Arial" panose="020B0604020202020204" pitchFamily="34" charset="0"/>
              <a:buChar char="•"/>
            </a:pPr>
            <a:r>
              <a:rPr lang="en-IN" sz="1400" dirty="0"/>
              <a:t>Major part of orders are from Q3</a:t>
            </a:r>
          </a:p>
          <a:p>
            <a:pPr marL="285750" indent="-285750">
              <a:buFont typeface="Arial" panose="020B0604020202020204" pitchFamily="34" charset="0"/>
              <a:buChar char="•"/>
            </a:pPr>
            <a:r>
              <a:rPr lang="en-IN" sz="1400" dirty="0"/>
              <a:t>Schedule daytime promotions and communications.</a:t>
            </a:r>
          </a:p>
          <a:p>
            <a:pPr marL="285750" indent="-285750">
              <a:buFont typeface="Arial" panose="020B0604020202020204" pitchFamily="34" charset="0"/>
              <a:buChar char="•"/>
            </a:pPr>
            <a:r>
              <a:rPr lang="en-IN" sz="1400" dirty="0"/>
              <a:t>Highlight morning delivery options and early bird deals.</a:t>
            </a:r>
          </a:p>
          <a:p>
            <a:pPr marL="285750" indent="-285750">
              <a:buFont typeface="Arial" panose="020B0604020202020204" pitchFamily="34" charset="0"/>
              <a:buChar char="•"/>
            </a:pPr>
            <a:endParaRPr lang="en-US" sz="1400" dirty="0"/>
          </a:p>
        </p:txBody>
      </p:sp>
      <p:pic>
        <p:nvPicPr>
          <p:cNvPr id="7" name="Chart Placeholder 6">
            <a:extLst>
              <a:ext uri="{FF2B5EF4-FFF2-40B4-BE49-F238E27FC236}">
                <a16:creationId xmlns:a16="http://schemas.microsoft.com/office/drawing/2014/main" id="{F96AACA8-6BC7-436B-0909-56A0406FD75A}"/>
              </a:ext>
            </a:extLst>
          </p:cNvPr>
          <p:cNvPicPr>
            <a:picLocks noGrp="1" noChangeAspect="1"/>
          </p:cNvPicPr>
          <p:nvPr>
            <p:ph type="chart" sz="quarter" idx="11"/>
          </p:nvPr>
        </p:nvPicPr>
        <p:blipFill>
          <a:blip r:embed="rId2"/>
          <a:stretch>
            <a:fillRect/>
          </a:stretch>
        </p:blipFill>
        <p:spPr>
          <a:xfrm>
            <a:off x="403200" y="1578528"/>
            <a:ext cx="11183749" cy="2952529"/>
          </a:xfrm>
          <a:prstGeom prst="rect">
            <a:avLst/>
          </a:prstGeom>
        </p:spPr>
      </p:pic>
    </p:spTree>
    <p:extLst>
      <p:ext uri="{BB962C8B-B14F-4D97-AF65-F5344CB8AC3E}">
        <p14:creationId xmlns:p14="http://schemas.microsoft.com/office/powerpoint/2010/main" val="24788606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5F779-194B-A853-814F-F77A6DEF434A}"/>
              </a:ext>
            </a:extLst>
          </p:cNvPr>
          <p:cNvSpPr>
            <a:spLocks noGrp="1"/>
          </p:cNvSpPr>
          <p:nvPr>
            <p:ph type="title"/>
          </p:nvPr>
        </p:nvSpPr>
        <p:spPr/>
        <p:txBody>
          <a:bodyPr/>
          <a:lstStyle/>
          <a:p>
            <a:r>
              <a:rPr lang="en-US" dirty="0"/>
              <a:t>Active type Segment Based Cohort Analysis (</a:t>
            </a:r>
            <a:r>
              <a:rPr lang="en-US" dirty="0" err="1"/>
              <a:t>NightHawks</a:t>
            </a:r>
            <a:r>
              <a:rPr lang="en-US" dirty="0"/>
              <a:t>)</a:t>
            </a:r>
            <a:endParaRPr lang="en-IN" dirty="0"/>
          </a:p>
        </p:txBody>
      </p:sp>
      <p:sp>
        <p:nvSpPr>
          <p:cNvPr id="4" name="Text Placeholder 3">
            <a:extLst>
              <a:ext uri="{FF2B5EF4-FFF2-40B4-BE49-F238E27FC236}">
                <a16:creationId xmlns:a16="http://schemas.microsoft.com/office/drawing/2014/main" id="{67D91025-C435-905A-7757-6E375C0333B9}"/>
              </a:ext>
            </a:extLst>
          </p:cNvPr>
          <p:cNvSpPr>
            <a:spLocks noGrp="1"/>
          </p:cNvSpPr>
          <p:nvPr>
            <p:ph type="body" sz="quarter" idx="12"/>
          </p:nvPr>
        </p:nvSpPr>
        <p:spPr/>
        <p:txBody>
          <a:bodyPr numCol="2"/>
          <a:lstStyle/>
          <a:p>
            <a:pPr marL="285750" indent="-285750">
              <a:buFont typeface="Arial" panose="020B0604020202020204" pitchFamily="34" charset="0"/>
              <a:buChar char="•"/>
            </a:pPr>
            <a:r>
              <a:rPr lang="en-US" sz="1400" dirty="0" err="1"/>
              <a:t>NightHawks</a:t>
            </a:r>
            <a:r>
              <a:rPr lang="en-US" sz="1400" dirty="0"/>
              <a:t> orders late night( 12am to 5am)</a:t>
            </a:r>
          </a:p>
          <a:p>
            <a:pPr marL="285750" indent="-285750">
              <a:buFont typeface="Arial" panose="020B0604020202020204" pitchFamily="34" charset="0"/>
              <a:buChar char="•"/>
            </a:pPr>
            <a:r>
              <a:rPr lang="en-US" sz="1400" dirty="0"/>
              <a:t>Less frequent overall repeated orders</a:t>
            </a:r>
          </a:p>
          <a:p>
            <a:pPr marL="285750" indent="-285750">
              <a:buFont typeface="Arial" panose="020B0604020202020204" pitchFamily="34" charset="0"/>
              <a:buChar char="•"/>
            </a:pPr>
            <a:r>
              <a:rPr lang="en-US" sz="1400" dirty="0"/>
              <a:t>Mainly consist of onetime buyers</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Optimize late night delivery channels.</a:t>
            </a:r>
          </a:p>
          <a:p>
            <a:pPr marL="285750" indent="-285750">
              <a:buFont typeface="Arial" panose="020B0604020202020204" pitchFamily="34" charset="0"/>
              <a:buChar char="•"/>
            </a:pPr>
            <a:r>
              <a:rPr lang="en-US" sz="1400" dirty="0"/>
              <a:t>Target ads and reminders in the evening</a:t>
            </a:r>
          </a:p>
          <a:p>
            <a:pPr marL="285750" indent="-285750">
              <a:buFont typeface="Arial" panose="020B0604020202020204" pitchFamily="34" charset="0"/>
              <a:buChar char="•"/>
            </a:pPr>
            <a:r>
              <a:rPr lang="en-US" sz="1400" dirty="0"/>
              <a:t>Offer special late-night deals</a:t>
            </a:r>
          </a:p>
          <a:p>
            <a:pPr marL="285750" indent="-285750">
              <a:buFont typeface="Arial" panose="020B0604020202020204" pitchFamily="34" charset="0"/>
              <a:buChar char="•"/>
            </a:pPr>
            <a:endParaRPr lang="en-IN" sz="1400" dirty="0"/>
          </a:p>
        </p:txBody>
      </p:sp>
      <p:sp>
        <p:nvSpPr>
          <p:cNvPr id="5" name="Chart Placeholder 4">
            <a:extLst>
              <a:ext uri="{FF2B5EF4-FFF2-40B4-BE49-F238E27FC236}">
                <a16:creationId xmlns:a16="http://schemas.microsoft.com/office/drawing/2014/main" id="{B28709E7-06A4-477F-CC4C-EC5FEAD52725}"/>
              </a:ext>
            </a:extLst>
          </p:cNvPr>
          <p:cNvSpPr>
            <a:spLocks noGrp="1"/>
          </p:cNvSpPr>
          <p:nvPr>
            <p:ph type="chart" sz="quarter" idx="11"/>
          </p:nvPr>
        </p:nvSpPr>
        <p:spPr/>
      </p:sp>
      <p:pic>
        <p:nvPicPr>
          <p:cNvPr id="7" name="Picture 6">
            <a:extLst>
              <a:ext uri="{FF2B5EF4-FFF2-40B4-BE49-F238E27FC236}">
                <a16:creationId xmlns:a16="http://schemas.microsoft.com/office/drawing/2014/main" id="{296D9C1E-DD39-7A25-2E38-4AE86B985D18}"/>
              </a:ext>
            </a:extLst>
          </p:cNvPr>
          <p:cNvPicPr>
            <a:picLocks noChangeAspect="1"/>
          </p:cNvPicPr>
          <p:nvPr/>
        </p:nvPicPr>
        <p:blipFill>
          <a:blip r:embed="rId2"/>
          <a:stretch>
            <a:fillRect/>
          </a:stretch>
        </p:blipFill>
        <p:spPr>
          <a:xfrm>
            <a:off x="1085436" y="1549399"/>
            <a:ext cx="6993887" cy="3324225"/>
          </a:xfrm>
          <a:prstGeom prst="rect">
            <a:avLst/>
          </a:prstGeom>
        </p:spPr>
      </p:pic>
    </p:spTree>
    <p:extLst>
      <p:ext uri="{BB962C8B-B14F-4D97-AF65-F5344CB8AC3E}">
        <p14:creationId xmlns:p14="http://schemas.microsoft.com/office/powerpoint/2010/main" val="9554482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3D158-53D8-D7F9-81C1-07536777DB9B}"/>
              </a:ext>
            </a:extLst>
          </p:cNvPr>
          <p:cNvSpPr>
            <a:spLocks noGrp="1"/>
          </p:cNvSpPr>
          <p:nvPr>
            <p:ph type="title"/>
          </p:nvPr>
        </p:nvSpPr>
        <p:spPr/>
        <p:txBody>
          <a:bodyPr/>
          <a:lstStyle/>
          <a:p>
            <a:endParaRPr lang="en-IN" dirty="0"/>
          </a:p>
        </p:txBody>
      </p:sp>
      <p:sp>
        <p:nvSpPr>
          <p:cNvPr id="4" name="Text Placeholder 3">
            <a:extLst>
              <a:ext uri="{FF2B5EF4-FFF2-40B4-BE49-F238E27FC236}">
                <a16:creationId xmlns:a16="http://schemas.microsoft.com/office/drawing/2014/main" id="{E98B7619-2F70-E122-4919-0A24A535A818}"/>
              </a:ext>
            </a:extLst>
          </p:cNvPr>
          <p:cNvSpPr>
            <a:spLocks noGrp="1"/>
          </p:cNvSpPr>
          <p:nvPr>
            <p:ph type="body" sz="quarter" idx="12"/>
          </p:nvPr>
        </p:nvSpPr>
        <p:spPr/>
        <p:txBody>
          <a:bodyPr/>
          <a:lstStyle/>
          <a:p>
            <a:pPr algn="r"/>
            <a:r>
              <a:rPr lang="en-US" sz="4000" b="1" dirty="0"/>
              <a:t>RFM SEGMENTATION</a:t>
            </a:r>
            <a:endParaRPr lang="en-IN" sz="4000" b="1" dirty="0"/>
          </a:p>
        </p:txBody>
      </p:sp>
    </p:spTree>
    <p:extLst>
      <p:ext uri="{BB962C8B-B14F-4D97-AF65-F5344CB8AC3E}">
        <p14:creationId xmlns:p14="http://schemas.microsoft.com/office/powerpoint/2010/main" val="27762087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F227D-DA81-49C8-FDB1-F33D7F8057A1}"/>
              </a:ext>
            </a:extLst>
          </p:cNvPr>
          <p:cNvSpPr>
            <a:spLocks noGrp="1"/>
          </p:cNvSpPr>
          <p:nvPr>
            <p:ph type="title"/>
          </p:nvPr>
        </p:nvSpPr>
        <p:spPr/>
        <p:txBody>
          <a:bodyPr/>
          <a:lstStyle/>
          <a:p>
            <a:r>
              <a:rPr lang="en-US" dirty="0"/>
              <a:t>RFM Segment Based Cohort Analysis (Premium)</a:t>
            </a:r>
            <a:endParaRPr lang="en-IN" dirty="0"/>
          </a:p>
        </p:txBody>
      </p:sp>
      <p:sp>
        <p:nvSpPr>
          <p:cNvPr id="3" name="Chart Placeholder 2">
            <a:extLst>
              <a:ext uri="{FF2B5EF4-FFF2-40B4-BE49-F238E27FC236}">
                <a16:creationId xmlns:a16="http://schemas.microsoft.com/office/drawing/2014/main" id="{D81782DB-BDB8-10E0-0662-00EF2C73F725}"/>
              </a:ext>
            </a:extLst>
          </p:cNvPr>
          <p:cNvSpPr>
            <a:spLocks noGrp="1"/>
          </p:cNvSpPr>
          <p:nvPr>
            <p:ph type="chart" sz="quarter" idx="11"/>
          </p:nvPr>
        </p:nvSpPr>
        <p:spPr/>
      </p:sp>
      <p:sp>
        <p:nvSpPr>
          <p:cNvPr id="4" name="Text Placeholder 3">
            <a:extLst>
              <a:ext uri="{FF2B5EF4-FFF2-40B4-BE49-F238E27FC236}">
                <a16:creationId xmlns:a16="http://schemas.microsoft.com/office/drawing/2014/main" id="{F2FC82BA-2D6D-0C9F-6776-B5D1B34FAB0E}"/>
              </a:ext>
            </a:extLst>
          </p:cNvPr>
          <p:cNvSpPr>
            <a:spLocks noGrp="1"/>
          </p:cNvSpPr>
          <p:nvPr>
            <p:ph type="body" sz="quarter" idx="12"/>
          </p:nvPr>
        </p:nvSpPr>
        <p:spPr/>
        <p:txBody>
          <a:bodyPr numCol="2"/>
          <a:lstStyle/>
          <a:p>
            <a:pPr marL="285750" indent="-285750">
              <a:buFont typeface="Arial" panose="020B0604020202020204" pitchFamily="34" charset="0"/>
              <a:buChar char="•"/>
            </a:pPr>
            <a:r>
              <a:rPr lang="en-US" sz="1400" dirty="0"/>
              <a:t>Premium segmented customer forms a huge cluster at P8,P9,P10,P11 of cohort Q1 and Q2 of 2022.</a:t>
            </a:r>
          </a:p>
          <a:p>
            <a:pPr marL="285750" indent="-285750">
              <a:buFont typeface="Arial" panose="020B0604020202020204" pitchFamily="34" charset="0"/>
              <a:buChar char="•"/>
            </a:pPr>
            <a:r>
              <a:rPr lang="en-IN" sz="1400" dirty="0"/>
              <a:t>Tends to spend more during new year and end of current FY.</a:t>
            </a:r>
          </a:p>
          <a:p>
            <a:pPr marL="285750" indent="-285750">
              <a:buFont typeface="Arial" panose="020B0604020202020204" pitchFamily="34" charset="0"/>
              <a:buChar char="•"/>
            </a:pPr>
            <a:r>
              <a:rPr lang="en-IN" sz="1400" dirty="0"/>
              <a:t>Plan segment based promotion during year end and fiscal close</a:t>
            </a:r>
          </a:p>
          <a:p>
            <a:pPr marL="285750" indent="-285750">
              <a:buFont typeface="Arial" panose="020B0604020202020204" pitchFamily="34" charset="0"/>
              <a:buChar char="•"/>
            </a:pPr>
            <a:r>
              <a:rPr lang="en-IN" sz="1400" dirty="0"/>
              <a:t>Launch loyalty campaigns in Q4 </a:t>
            </a:r>
          </a:p>
          <a:p>
            <a:pPr marL="285750" indent="-285750">
              <a:buFont typeface="Arial" panose="020B0604020202020204" pitchFamily="34" charset="0"/>
              <a:buChar char="•"/>
            </a:pPr>
            <a:r>
              <a:rPr lang="en-IN" sz="1400" dirty="0"/>
              <a:t>Personalize offers and early access deals </a:t>
            </a:r>
            <a:endParaRPr lang="en-US" sz="1400" dirty="0"/>
          </a:p>
        </p:txBody>
      </p:sp>
      <p:pic>
        <p:nvPicPr>
          <p:cNvPr id="5" name="Picture 4">
            <a:extLst>
              <a:ext uri="{FF2B5EF4-FFF2-40B4-BE49-F238E27FC236}">
                <a16:creationId xmlns:a16="http://schemas.microsoft.com/office/drawing/2014/main" id="{29ACA275-F562-C53A-784B-289952AB656E}"/>
              </a:ext>
            </a:extLst>
          </p:cNvPr>
          <p:cNvPicPr>
            <a:picLocks noChangeAspect="1"/>
          </p:cNvPicPr>
          <p:nvPr/>
        </p:nvPicPr>
        <p:blipFill>
          <a:blip r:embed="rId2"/>
          <a:stretch>
            <a:fillRect/>
          </a:stretch>
        </p:blipFill>
        <p:spPr>
          <a:xfrm>
            <a:off x="428000" y="2056055"/>
            <a:ext cx="11360150" cy="2745889"/>
          </a:xfrm>
          <a:prstGeom prst="rect">
            <a:avLst/>
          </a:prstGeom>
        </p:spPr>
      </p:pic>
    </p:spTree>
    <p:extLst>
      <p:ext uri="{BB962C8B-B14F-4D97-AF65-F5344CB8AC3E}">
        <p14:creationId xmlns:p14="http://schemas.microsoft.com/office/powerpoint/2010/main" val="311372827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45D31-020D-F5C5-3B65-35FBE9DBCDD7}"/>
              </a:ext>
            </a:extLst>
          </p:cNvPr>
          <p:cNvSpPr>
            <a:spLocks noGrp="1"/>
          </p:cNvSpPr>
          <p:nvPr>
            <p:ph type="title"/>
          </p:nvPr>
        </p:nvSpPr>
        <p:spPr/>
        <p:txBody>
          <a:bodyPr/>
          <a:lstStyle/>
          <a:p>
            <a:r>
              <a:rPr lang="en-US" dirty="0"/>
              <a:t>RFM Segment Based Cohort Analysis (Gold)</a:t>
            </a:r>
            <a:endParaRPr lang="en-IN" dirty="0"/>
          </a:p>
        </p:txBody>
      </p:sp>
      <p:sp>
        <p:nvSpPr>
          <p:cNvPr id="4" name="Text Placeholder 3">
            <a:extLst>
              <a:ext uri="{FF2B5EF4-FFF2-40B4-BE49-F238E27FC236}">
                <a16:creationId xmlns:a16="http://schemas.microsoft.com/office/drawing/2014/main" id="{63A26430-2F1B-BA56-7967-E1FAB53D8EFE}"/>
              </a:ext>
            </a:extLst>
          </p:cNvPr>
          <p:cNvSpPr>
            <a:spLocks noGrp="1"/>
          </p:cNvSpPr>
          <p:nvPr>
            <p:ph type="body" sz="quarter" idx="12"/>
          </p:nvPr>
        </p:nvSpPr>
        <p:spPr/>
        <p:txBody>
          <a:bodyPr numCol="2"/>
          <a:lstStyle/>
          <a:p>
            <a:pPr marL="285750" indent="-285750">
              <a:buFont typeface="Arial" panose="020B0604020202020204" pitchFamily="34" charset="0"/>
              <a:buChar char="•"/>
            </a:pPr>
            <a:r>
              <a:rPr lang="en-US" sz="1400" dirty="0"/>
              <a:t>There are two clusters forming, K1 (P1,P2,P3,P4)</a:t>
            </a:r>
            <a:r>
              <a:rPr lang="en-IN" sz="1400" dirty="0"/>
              <a:t> K2(P7,P8,P9,P10,P11,P12) </a:t>
            </a:r>
          </a:p>
          <a:p>
            <a:pPr marL="285750" indent="-285750">
              <a:buFont typeface="Arial" panose="020B0604020202020204" pitchFamily="34" charset="0"/>
              <a:buChar char="•"/>
            </a:pPr>
            <a:r>
              <a:rPr lang="en-IN" sz="1400" dirty="0"/>
              <a:t>Mixed buying behaviours</a:t>
            </a:r>
          </a:p>
          <a:p>
            <a:pPr marL="285750" indent="-285750">
              <a:buFont typeface="Arial" panose="020B0604020202020204" pitchFamily="34" charset="0"/>
              <a:buChar char="•"/>
            </a:pPr>
            <a:endParaRPr lang="en-IN" sz="1400" dirty="0"/>
          </a:p>
          <a:p>
            <a:pPr marL="285750" indent="-285750">
              <a:buFont typeface="Arial" panose="020B0604020202020204" pitchFamily="34" charset="0"/>
              <a:buChar char="•"/>
            </a:pPr>
            <a:endParaRPr lang="en-IN" sz="1400" dirty="0"/>
          </a:p>
          <a:p>
            <a:pPr marL="285750" indent="-285750">
              <a:buFont typeface="Arial" panose="020B0604020202020204" pitchFamily="34" charset="0"/>
              <a:buChar char="•"/>
            </a:pPr>
            <a:r>
              <a:rPr lang="en-IN" sz="1400" dirty="0"/>
              <a:t>Segment based campaigns: target K1 and K2 segments and encourage them with loyalty rewards , Reminder through emails and time-limited offers to reactivate </a:t>
            </a:r>
          </a:p>
          <a:p>
            <a:pPr marL="285750" indent="-285750">
              <a:buFont typeface="Arial" panose="020B0604020202020204" pitchFamily="34" charset="0"/>
              <a:buChar char="•"/>
            </a:pPr>
            <a:endParaRPr lang="en-IN" sz="1400" dirty="0"/>
          </a:p>
          <a:p>
            <a:endParaRPr lang="en-IN" sz="1400" dirty="0"/>
          </a:p>
        </p:txBody>
      </p:sp>
      <p:sp>
        <p:nvSpPr>
          <p:cNvPr id="6" name="Chart Placeholder 5">
            <a:extLst>
              <a:ext uri="{FF2B5EF4-FFF2-40B4-BE49-F238E27FC236}">
                <a16:creationId xmlns:a16="http://schemas.microsoft.com/office/drawing/2014/main" id="{0FA9EC1E-390F-19ED-9AC1-798C4AAB20E7}"/>
              </a:ext>
            </a:extLst>
          </p:cNvPr>
          <p:cNvSpPr>
            <a:spLocks noGrp="1"/>
          </p:cNvSpPr>
          <p:nvPr>
            <p:ph type="chart" sz="quarter" idx="11"/>
          </p:nvPr>
        </p:nvSpPr>
        <p:spPr/>
      </p:sp>
      <p:pic>
        <p:nvPicPr>
          <p:cNvPr id="3" name="Picture 2">
            <a:extLst>
              <a:ext uri="{FF2B5EF4-FFF2-40B4-BE49-F238E27FC236}">
                <a16:creationId xmlns:a16="http://schemas.microsoft.com/office/drawing/2014/main" id="{BA5CAC02-1918-E08E-3B4D-D4DC5E3F1296}"/>
              </a:ext>
            </a:extLst>
          </p:cNvPr>
          <p:cNvPicPr>
            <a:picLocks noChangeAspect="1"/>
          </p:cNvPicPr>
          <p:nvPr/>
        </p:nvPicPr>
        <p:blipFill>
          <a:blip r:embed="rId2"/>
          <a:stretch>
            <a:fillRect/>
          </a:stretch>
        </p:blipFill>
        <p:spPr>
          <a:xfrm>
            <a:off x="428000" y="1349453"/>
            <a:ext cx="11335375" cy="3524172"/>
          </a:xfrm>
          <a:prstGeom prst="rect">
            <a:avLst/>
          </a:prstGeom>
        </p:spPr>
      </p:pic>
    </p:spTree>
    <p:extLst>
      <p:ext uri="{BB962C8B-B14F-4D97-AF65-F5344CB8AC3E}">
        <p14:creationId xmlns:p14="http://schemas.microsoft.com/office/powerpoint/2010/main" val="36768071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EDDD7-07E5-384E-F0C9-270CC1293400}"/>
              </a:ext>
            </a:extLst>
          </p:cNvPr>
          <p:cNvSpPr>
            <a:spLocks noGrp="1"/>
          </p:cNvSpPr>
          <p:nvPr>
            <p:ph type="title"/>
          </p:nvPr>
        </p:nvSpPr>
        <p:spPr/>
        <p:txBody>
          <a:bodyPr>
            <a:normAutofit fontScale="90000"/>
          </a:bodyPr>
          <a:lstStyle/>
          <a:p>
            <a:r>
              <a:rPr lang="en-US" dirty="0"/>
              <a:t>RFM Segment Based Cohort Analysis (Silver , Standard &amp; Low Valued)</a:t>
            </a:r>
            <a:endParaRPr lang="en-IN" dirty="0"/>
          </a:p>
        </p:txBody>
      </p:sp>
      <p:sp>
        <p:nvSpPr>
          <p:cNvPr id="4" name="Text Placeholder 3">
            <a:extLst>
              <a:ext uri="{FF2B5EF4-FFF2-40B4-BE49-F238E27FC236}">
                <a16:creationId xmlns:a16="http://schemas.microsoft.com/office/drawing/2014/main" id="{647564BF-B609-30CC-8519-A5F8A2278B33}"/>
              </a:ext>
            </a:extLst>
          </p:cNvPr>
          <p:cNvSpPr>
            <a:spLocks noGrp="1"/>
          </p:cNvSpPr>
          <p:nvPr>
            <p:ph type="body" sz="quarter" idx="12"/>
          </p:nvPr>
        </p:nvSpPr>
        <p:spPr/>
        <p:txBody>
          <a:bodyPr numCol="2"/>
          <a:lstStyle/>
          <a:p>
            <a:pPr marL="285750" indent="-285750">
              <a:buFont typeface="Arial" panose="020B0604020202020204" pitchFamily="34" charset="0"/>
              <a:buChar char="•"/>
            </a:pPr>
            <a:r>
              <a:rPr lang="en-US" sz="1400" dirty="0"/>
              <a:t>Low loyalty and retention </a:t>
            </a:r>
          </a:p>
          <a:p>
            <a:pPr marL="285750" indent="-285750">
              <a:buFont typeface="Arial" panose="020B0604020202020204" pitchFamily="34" charset="0"/>
              <a:buChar char="•"/>
            </a:pPr>
            <a:r>
              <a:rPr lang="en-US" sz="1400" dirty="0"/>
              <a:t>Few repeat orders</a:t>
            </a:r>
          </a:p>
          <a:p>
            <a:pPr marL="285750" indent="-285750">
              <a:buFont typeface="Arial" panose="020B0604020202020204" pitchFamily="34" charset="0"/>
              <a:buChar char="•"/>
            </a:pPr>
            <a:r>
              <a:rPr lang="en-US" sz="1400" dirty="0"/>
              <a:t>Mainly consist of onetime buyers</a:t>
            </a:r>
          </a:p>
          <a:p>
            <a:pPr marL="285750" indent="-285750">
              <a:buFont typeface="Arial" panose="020B0604020202020204" pitchFamily="34" charset="0"/>
              <a:buChar char="•"/>
            </a:pPr>
            <a:r>
              <a:rPr lang="en-US" sz="1400" dirty="0"/>
              <a:t>Introduce entry level loyalty programs</a:t>
            </a:r>
          </a:p>
          <a:p>
            <a:pPr marL="285750" indent="-285750">
              <a:buFont typeface="Arial" panose="020B0604020202020204" pitchFamily="34" charset="0"/>
              <a:buChar char="•"/>
            </a:pPr>
            <a:r>
              <a:rPr lang="en-US" sz="1400" dirty="0"/>
              <a:t>Offer small incentives like discount , free shipping when ordered within month, ask for detailed feedback.</a:t>
            </a:r>
          </a:p>
        </p:txBody>
      </p:sp>
      <p:pic>
        <p:nvPicPr>
          <p:cNvPr id="9" name="Picture 8">
            <a:extLst>
              <a:ext uri="{FF2B5EF4-FFF2-40B4-BE49-F238E27FC236}">
                <a16:creationId xmlns:a16="http://schemas.microsoft.com/office/drawing/2014/main" id="{C4F66C4C-8F7C-1440-4BA3-4721C734FF2C}"/>
              </a:ext>
            </a:extLst>
          </p:cNvPr>
          <p:cNvPicPr>
            <a:picLocks noChangeAspect="1"/>
          </p:cNvPicPr>
          <p:nvPr/>
        </p:nvPicPr>
        <p:blipFill>
          <a:blip r:embed="rId2"/>
          <a:stretch>
            <a:fillRect/>
          </a:stretch>
        </p:blipFill>
        <p:spPr>
          <a:xfrm>
            <a:off x="428000" y="1310185"/>
            <a:ext cx="3657600" cy="3601758"/>
          </a:xfrm>
          <a:prstGeom prst="rect">
            <a:avLst/>
          </a:prstGeom>
        </p:spPr>
      </p:pic>
      <p:pic>
        <p:nvPicPr>
          <p:cNvPr id="10" name="Picture 9">
            <a:extLst>
              <a:ext uri="{FF2B5EF4-FFF2-40B4-BE49-F238E27FC236}">
                <a16:creationId xmlns:a16="http://schemas.microsoft.com/office/drawing/2014/main" id="{8481858A-A700-6485-72D5-BB3785D43236}"/>
              </a:ext>
            </a:extLst>
          </p:cNvPr>
          <p:cNvPicPr>
            <a:picLocks noChangeAspect="1"/>
          </p:cNvPicPr>
          <p:nvPr/>
        </p:nvPicPr>
        <p:blipFill>
          <a:blip r:embed="rId3"/>
          <a:stretch>
            <a:fillRect/>
          </a:stretch>
        </p:blipFill>
        <p:spPr>
          <a:xfrm>
            <a:off x="4658948" y="1318260"/>
            <a:ext cx="3199092" cy="3593683"/>
          </a:xfrm>
          <a:prstGeom prst="rect">
            <a:avLst/>
          </a:prstGeom>
        </p:spPr>
      </p:pic>
      <p:pic>
        <p:nvPicPr>
          <p:cNvPr id="11" name="Picture 10">
            <a:extLst>
              <a:ext uri="{FF2B5EF4-FFF2-40B4-BE49-F238E27FC236}">
                <a16:creationId xmlns:a16="http://schemas.microsoft.com/office/drawing/2014/main" id="{DAE89F0E-820D-5913-4164-47D55B027C8A}"/>
              </a:ext>
            </a:extLst>
          </p:cNvPr>
          <p:cNvPicPr>
            <a:picLocks noChangeAspect="1"/>
          </p:cNvPicPr>
          <p:nvPr/>
        </p:nvPicPr>
        <p:blipFill>
          <a:blip r:embed="rId4"/>
          <a:stretch>
            <a:fillRect/>
          </a:stretch>
        </p:blipFill>
        <p:spPr>
          <a:xfrm>
            <a:off x="8431388" y="1318260"/>
            <a:ext cx="3060027" cy="3593682"/>
          </a:xfrm>
          <a:prstGeom prst="rect">
            <a:avLst/>
          </a:prstGeom>
        </p:spPr>
      </p:pic>
    </p:spTree>
    <p:extLst>
      <p:ext uri="{BB962C8B-B14F-4D97-AF65-F5344CB8AC3E}">
        <p14:creationId xmlns:p14="http://schemas.microsoft.com/office/powerpoint/2010/main" val="33724896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2DC32-AA00-A235-7DCE-C7ECF0D3ADE7}"/>
              </a:ext>
            </a:extLst>
          </p:cNvPr>
          <p:cNvSpPr>
            <a:spLocks noGrp="1"/>
          </p:cNvSpPr>
          <p:nvPr>
            <p:ph type="title"/>
          </p:nvPr>
        </p:nvSpPr>
        <p:spPr/>
        <p:txBody>
          <a:bodyPr/>
          <a:lstStyle/>
          <a:p>
            <a:r>
              <a:rPr lang="en-US" dirty="0"/>
              <a:t>Store Wise RFM Segment Distribution </a:t>
            </a:r>
            <a:endParaRPr lang="en-IN" dirty="0"/>
          </a:p>
        </p:txBody>
      </p:sp>
      <p:sp>
        <p:nvSpPr>
          <p:cNvPr id="4" name="Text Placeholder 3">
            <a:extLst>
              <a:ext uri="{FF2B5EF4-FFF2-40B4-BE49-F238E27FC236}">
                <a16:creationId xmlns:a16="http://schemas.microsoft.com/office/drawing/2014/main" id="{D36A9BBC-17ED-5FCF-08CD-D541A724CF90}"/>
              </a:ext>
            </a:extLst>
          </p:cNvPr>
          <p:cNvSpPr>
            <a:spLocks noGrp="1"/>
          </p:cNvSpPr>
          <p:nvPr>
            <p:ph type="body" sz="quarter" idx="12"/>
          </p:nvPr>
        </p:nvSpPr>
        <p:spPr>
          <a:xfrm>
            <a:off x="8270543" y="1549400"/>
            <a:ext cx="3492831" cy="4500563"/>
          </a:xfrm>
        </p:spPr>
        <p:txBody>
          <a:bodyPr/>
          <a:lstStyle/>
          <a:p>
            <a:pPr marL="285750" indent="-285750">
              <a:buFont typeface="Arial" panose="020B0604020202020204" pitchFamily="34" charset="0"/>
              <a:buChar char="•"/>
            </a:pPr>
            <a:r>
              <a:rPr lang="en-US" sz="1400" dirty="0"/>
              <a:t>Gold, Silver ,Standard ,low valued shows consistent trend with showing dependency on customer count per store</a:t>
            </a:r>
          </a:p>
          <a:p>
            <a:pPr marL="285750" indent="-285750">
              <a:buFont typeface="Arial" panose="020B0604020202020204" pitchFamily="34" charset="0"/>
              <a:buChar char="•"/>
            </a:pPr>
            <a:r>
              <a:rPr lang="en-US" sz="1400" dirty="0"/>
              <a:t>Premium customers show uneven trend which shows some independency with customer count and thus diversified.</a:t>
            </a:r>
          </a:p>
          <a:p>
            <a:endParaRPr lang="en-US" sz="1400" dirty="0"/>
          </a:p>
          <a:p>
            <a:endParaRPr lang="en-US" sz="1400" dirty="0"/>
          </a:p>
          <a:p>
            <a:pPr marL="285750" indent="-285750">
              <a:buFont typeface="Arial" panose="020B0604020202020204" pitchFamily="34" charset="0"/>
              <a:buChar char="•"/>
            </a:pPr>
            <a:r>
              <a:rPr lang="en-US" sz="1400" dirty="0"/>
              <a:t>Encourage ,by Providing timely reminder of offers which reduce recency and increase frequency of gold, silver ,standard customers to Push them into upper segment.</a:t>
            </a:r>
          </a:p>
          <a:p>
            <a:pPr marL="285750" indent="-285750">
              <a:buFont typeface="Arial" panose="020B0604020202020204" pitchFamily="34" charset="0"/>
              <a:buChar char="•"/>
            </a:pPr>
            <a:r>
              <a:rPr lang="en-US" sz="1400" dirty="0"/>
              <a:t>Provide better consumer experience to retain upper segment customer by perks as free deliveries, Early access and offers </a:t>
            </a:r>
          </a:p>
        </p:txBody>
      </p:sp>
      <p:pic>
        <p:nvPicPr>
          <p:cNvPr id="7" name="Chart Placeholder 6">
            <a:extLst>
              <a:ext uri="{FF2B5EF4-FFF2-40B4-BE49-F238E27FC236}">
                <a16:creationId xmlns:a16="http://schemas.microsoft.com/office/drawing/2014/main" id="{4F70DDB5-9B4E-4CD9-2BAF-5C282B385FDF}"/>
              </a:ext>
            </a:extLst>
          </p:cNvPr>
          <p:cNvPicPr>
            <a:picLocks noGrp="1" noChangeAspect="1"/>
          </p:cNvPicPr>
          <p:nvPr>
            <p:ph type="chart" sz="quarter" idx="11"/>
          </p:nvPr>
        </p:nvPicPr>
        <p:blipFill>
          <a:blip r:embed="rId2"/>
          <a:stretch>
            <a:fillRect/>
          </a:stretch>
        </p:blipFill>
        <p:spPr>
          <a:xfrm>
            <a:off x="403225" y="1992573"/>
            <a:ext cx="7567613" cy="3521123"/>
          </a:xfrm>
          <a:prstGeom prst="rect">
            <a:avLst/>
          </a:prstGeom>
        </p:spPr>
      </p:pic>
    </p:spTree>
    <p:extLst>
      <p:ext uri="{BB962C8B-B14F-4D97-AF65-F5344CB8AC3E}">
        <p14:creationId xmlns:p14="http://schemas.microsoft.com/office/powerpoint/2010/main" val="11247894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799C2-0B50-82DD-56C9-A27F7B38C9D4}"/>
              </a:ext>
            </a:extLst>
          </p:cNvPr>
          <p:cNvSpPr>
            <a:spLocks noGrp="1"/>
          </p:cNvSpPr>
          <p:nvPr>
            <p:ph type="title"/>
          </p:nvPr>
        </p:nvSpPr>
        <p:spPr/>
        <p:txBody>
          <a:bodyPr>
            <a:normAutofit/>
          </a:bodyPr>
          <a:lstStyle/>
          <a:p>
            <a:r>
              <a:rPr lang="en-US" dirty="0" err="1"/>
              <a:t>Rfm</a:t>
            </a:r>
            <a:r>
              <a:rPr lang="en-US" dirty="0"/>
              <a:t> Segments Of </a:t>
            </a:r>
            <a:r>
              <a:rPr lang="en-US" dirty="0" err="1"/>
              <a:t>AciveType</a:t>
            </a:r>
            <a:endParaRPr lang="en-IN" dirty="0"/>
          </a:p>
        </p:txBody>
      </p:sp>
      <p:sp>
        <p:nvSpPr>
          <p:cNvPr id="3" name="Chart Placeholder 2">
            <a:extLst>
              <a:ext uri="{FF2B5EF4-FFF2-40B4-BE49-F238E27FC236}">
                <a16:creationId xmlns:a16="http://schemas.microsoft.com/office/drawing/2014/main" id="{FCB5E202-AE53-4042-6447-4FD83A53E789}"/>
              </a:ext>
            </a:extLst>
          </p:cNvPr>
          <p:cNvSpPr>
            <a:spLocks noGrp="1"/>
          </p:cNvSpPr>
          <p:nvPr>
            <p:ph type="chart" sz="quarter" idx="11"/>
          </p:nvPr>
        </p:nvSpPr>
        <p:spPr/>
      </p:sp>
      <p:sp>
        <p:nvSpPr>
          <p:cNvPr id="4" name="Text Placeholder 3">
            <a:extLst>
              <a:ext uri="{FF2B5EF4-FFF2-40B4-BE49-F238E27FC236}">
                <a16:creationId xmlns:a16="http://schemas.microsoft.com/office/drawing/2014/main" id="{E07CCAD9-4012-FD03-685D-74CAA7C934FA}"/>
              </a:ext>
            </a:extLst>
          </p:cNvPr>
          <p:cNvSpPr>
            <a:spLocks noGrp="1"/>
          </p:cNvSpPr>
          <p:nvPr>
            <p:ph type="body" sz="quarter" idx="12"/>
          </p:nvPr>
        </p:nvSpPr>
        <p:spPr/>
        <p:txBody>
          <a:bodyPr numCol="2"/>
          <a:lstStyle/>
          <a:p>
            <a:pPr marL="285750" indent="-285750">
              <a:buFont typeface="Arial" panose="020B0604020202020204" pitchFamily="34" charset="0"/>
              <a:buChar char="•"/>
            </a:pPr>
            <a:r>
              <a:rPr lang="en-US" sz="1400" dirty="0"/>
              <a:t>Standard and At risk combined holds more than 30% shares where as premium customers are only 7%</a:t>
            </a:r>
            <a:r>
              <a:rPr lang="en-IN" sz="1400" dirty="0"/>
              <a:t> in </a:t>
            </a:r>
            <a:r>
              <a:rPr lang="en-IN" sz="1400" dirty="0" err="1"/>
              <a:t>OneTimers</a:t>
            </a:r>
            <a:endParaRPr lang="en-IN" sz="1400" dirty="0"/>
          </a:p>
          <a:p>
            <a:pPr marL="285750" indent="-285750">
              <a:buFont typeface="Arial" panose="020B0604020202020204" pitchFamily="34" charset="0"/>
              <a:buChar char="•"/>
            </a:pPr>
            <a:r>
              <a:rPr lang="en-IN" sz="1400" dirty="0"/>
              <a:t>More than 50% of Repeater are At risk.</a:t>
            </a:r>
          </a:p>
          <a:p>
            <a:pPr marL="285750" indent="-285750">
              <a:buFont typeface="Arial" panose="020B0604020202020204" pitchFamily="34" charset="0"/>
              <a:buChar char="•"/>
            </a:pPr>
            <a:endParaRPr lang="en-IN" sz="1400" dirty="0"/>
          </a:p>
          <a:p>
            <a:endParaRPr lang="en-IN" sz="1400" dirty="0"/>
          </a:p>
          <a:p>
            <a:pPr marL="285750" indent="-285750">
              <a:buFont typeface="Arial" panose="020B0604020202020204" pitchFamily="34" charset="0"/>
              <a:buChar char="•"/>
            </a:pPr>
            <a:r>
              <a:rPr lang="en-US" sz="1400" dirty="0"/>
              <a:t>Encourage ,by Providing timely reminder of offers which reduce recency and increase frequency of gold, silver ,standard customers to Push them into upper segment.</a:t>
            </a:r>
          </a:p>
          <a:p>
            <a:pPr marL="285750" indent="-285750">
              <a:buFont typeface="Arial" panose="020B0604020202020204" pitchFamily="34" charset="0"/>
              <a:buChar char="•"/>
            </a:pPr>
            <a:endParaRPr lang="en-IN" sz="1400" dirty="0"/>
          </a:p>
          <a:p>
            <a:pPr marL="342900" indent="-342900">
              <a:buFont typeface="Arial" panose="020B0604020202020204" pitchFamily="34" charset="0"/>
              <a:buChar char="•"/>
            </a:pPr>
            <a:endParaRPr lang="en-IN" sz="1400" dirty="0"/>
          </a:p>
        </p:txBody>
      </p:sp>
      <p:pic>
        <p:nvPicPr>
          <p:cNvPr id="7" name="Picture 6">
            <a:extLst>
              <a:ext uri="{FF2B5EF4-FFF2-40B4-BE49-F238E27FC236}">
                <a16:creationId xmlns:a16="http://schemas.microsoft.com/office/drawing/2014/main" id="{AAB1A2BC-0A21-EF94-D1D4-EA748E2FD595}"/>
              </a:ext>
            </a:extLst>
          </p:cNvPr>
          <p:cNvPicPr>
            <a:picLocks noChangeAspect="1"/>
          </p:cNvPicPr>
          <p:nvPr/>
        </p:nvPicPr>
        <p:blipFill>
          <a:blip r:embed="rId2"/>
          <a:stretch>
            <a:fillRect/>
          </a:stretch>
        </p:blipFill>
        <p:spPr>
          <a:xfrm>
            <a:off x="1043531" y="1549400"/>
            <a:ext cx="2953512" cy="2688336"/>
          </a:xfrm>
          <a:prstGeom prst="rect">
            <a:avLst/>
          </a:prstGeom>
        </p:spPr>
      </p:pic>
      <p:pic>
        <p:nvPicPr>
          <p:cNvPr id="8" name="Picture 7">
            <a:extLst>
              <a:ext uri="{FF2B5EF4-FFF2-40B4-BE49-F238E27FC236}">
                <a16:creationId xmlns:a16="http://schemas.microsoft.com/office/drawing/2014/main" id="{E3D3B533-E5DE-BACF-69DF-6D483B79F9F0}"/>
              </a:ext>
            </a:extLst>
          </p:cNvPr>
          <p:cNvPicPr>
            <a:picLocks noChangeAspect="1"/>
          </p:cNvPicPr>
          <p:nvPr/>
        </p:nvPicPr>
        <p:blipFill>
          <a:blip r:embed="rId3"/>
          <a:stretch>
            <a:fillRect/>
          </a:stretch>
        </p:blipFill>
        <p:spPr>
          <a:xfrm>
            <a:off x="8231533" y="1549400"/>
            <a:ext cx="2916936" cy="2671572"/>
          </a:xfrm>
          <a:prstGeom prst="rect">
            <a:avLst/>
          </a:prstGeom>
        </p:spPr>
      </p:pic>
    </p:spTree>
    <p:extLst>
      <p:ext uri="{BB962C8B-B14F-4D97-AF65-F5344CB8AC3E}">
        <p14:creationId xmlns:p14="http://schemas.microsoft.com/office/powerpoint/2010/main" val="217879528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BB2C3-34B8-633D-4811-5FBA7B1ED769}"/>
              </a:ext>
            </a:extLst>
          </p:cNvPr>
          <p:cNvSpPr>
            <a:spLocks noGrp="1"/>
          </p:cNvSpPr>
          <p:nvPr>
            <p:ph type="title"/>
          </p:nvPr>
        </p:nvSpPr>
        <p:spPr/>
        <p:txBody>
          <a:bodyPr/>
          <a:lstStyle/>
          <a:p>
            <a:endParaRPr lang="en-IN"/>
          </a:p>
        </p:txBody>
      </p:sp>
      <p:sp>
        <p:nvSpPr>
          <p:cNvPr id="4" name="Text Placeholder 3">
            <a:extLst>
              <a:ext uri="{FF2B5EF4-FFF2-40B4-BE49-F238E27FC236}">
                <a16:creationId xmlns:a16="http://schemas.microsoft.com/office/drawing/2014/main" id="{58C482A2-AFF6-FC92-598B-A1E19039EDC3}"/>
              </a:ext>
            </a:extLst>
          </p:cNvPr>
          <p:cNvSpPr>
            <a:spLocks noGrp="1"/>
          </p:cNvSpPr>
          <p:nvPr>
            <p:ph type="body" sz="quarter" idx="12"/>
          </p:nvPr>
        </p:nvSpPr>
        <p:spPr/>
        <p:txBody>
          <a:bodyPr/>
          <a:lstStyle/>
          <a:p>
            <a:r>
              <a:rPr lang="en-US" sz="4000" b="1" dirty="0"/>
              <a:t>                                                                                 EDA</a:t>
            </a:r>
            <a:endParaRPr lang="en-IN" sz="4000" b="1" dirty="0"/>
          </a:p>
        </p:txBody>
      </p:sp>
    </p:spTree>
    <p:extLst>
      <p:ext uri="{BB962C8B-B14F-4D97-AF65-F5344CB8AC3E}">
        <p14:creationId xmlns:p14="http://schemas.microsoft.com/office/powerpoint/2010/main" val="6226262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1152E-2704-A828-3A40-1B25DF40BF2F}"/>
              </a:ext>
            </a:extLst>
          </p:cNvPr>
          <p:cNvSpPr>
            <a:spLocks noGrp="1"/>
          </p:cNvSpPr>
          <p:nvPr>
            <p:ph type="title"/>
          </p:nvPr>
        </p:nvSpPr>
        <p:spPr/>
        <p:txBody>
          <a:bodyPr/>
          <a:lstStyle/>
          <a:p>
            <a:r>
              <a:rPr lang="en-US" dirty="0"/>
              <a:t>Category Wise Penetration Percent</a:t>
            </a:r>
            <a:endParaRPr lang="en-IN" dirty="0"/>
          </a:p>
        </p:txBody>
      </p:sp>
      <p:sp>
        <p:nvSpPr>
          <p:cNvPr id="4" name="Text Placeholder 3">
            <a:extLst>
              <a:ext uri="{FF2B5EF4-FFF2-40B4-BE49-F238E27FC236}">
                <a16:creationId xmlns:a16="http://schemas.microsoft.com/office/drawing/2014/main" id="{F84C78A2-4500-1F8E-8101-F09AD0E70028}"/>
              </a:ext>
            </a:extLst>
          </p:cNvPr>
          <p:cNvSpPr>
            <a:spLocks noGrp="1"/>
          </p:cNvSpPr>
          <p:nvPr>
            <p:ph type="body" sz="quarter" idx="12"/>
          </p:nvPr>
        </p:nvSpPr>
        <p:spPr/>
        <p:txBody>
          <a:bodyPr numCol="2"/>
          <a:lstStyle/>
          <a:p>
            <a:pPr marL="285750" indent="-285750">
              <a:buFont typeface="Arial" panose="020B0604020202020204" pitchFamily="34" charset="0"/>
              <a:buChar char="•"/>
            </a:pPr>
            <a:r>
              <a:rPr lang="en-US" sz="1400" dirty="0"/>
              <a:t>Fashion, Pet shop, Electronics are categories with lowest penetration</a:t>
            </a:r>
            <a:r>
              <a:rPr lang="en-IN" sz="1400" dirty="0"/>
              <a:t> where as Home appliances, Baby products and Toys gifts are with highest penetration.</a:t>
            </a:r>
          </a:p>
          <a:p>
            <a:pPr marL="285750" indent="-285750">
              <a:buFont typeface="Arial" panose="020B0604020202020204" pitchFamily="34" charset="0"/>
              <a:buChar char="•"/>
            </a:pPr>
            <a:r>
              <a:rPr lang="en-IN" sz="1400" dirty="0"/>
              <a:t>Optimize inventory with latest fashion.</a:t>
            </a:r>
          </a:p>
          <a:p>
            <a:pPr marL="285750" indent="-285750">
              <a:buFont typeface="Arial" panose="020B0604020202020204" pitchFamily="34" charset="0"/>
              <a:buChar char="•"/>
            </a:pPr>
            <a:r>
              <a:rPr lang="en-IN" sz="1400" dirty="0"/>
              <a:t>Offer services like on-site veterinarian clinic and pet grooming</a:t>
            </a:r>
          </a:p>
          <a:p>
            <a:pPr marL="285750" indent="-285750">
              <a:buFont typeface="Arial" panose="020B0604020202020204" pitchFamily="34" charset="0"/>
              <a:buChar char="•"/>
            </a:pPr>
            <a:r>
              <a:rPr lang="en-IN" sz="1400" dirty="0"/>
              <a:t>Offer private space for baby feeding and play areas for parents.</a:t>
            </a:r>
          </a:p>
        </p:txBody>
      </p:sp>
      <p:sp>
        <p:nvSpPr>
          <p:cNvPr id="7" name="Chart Placeholder 6">
            <a:extLst>
              <a:ext uri="{FF2B5EF4-FFF2-40B4-BE49-F238E27FC236}">
                <a16:creationId xmlns:a16="http://schemas.microsoft.com/office/drawing/2014/main" id="{44071227-1924-2C1E-8441-879424B1CD68}"/>
              </a:ext>
            </a:extLst>
          </p:cNvPr>
          <p:cNvSpPr>
            <a:spLocks noGrp="1"/>
          </p:cNvSpPr>
          <p:nvPr>
            <p:ph type="chart" sz="quarter" idx="11"/>
          </p:nvPr>
        </p:nvSpPr>
        <p:spPr/>
      </p:sp>
      <p:pic>
        <p:nvPicPr>
          <p:cNvPr id="5" name="Picture 4">
            <a:extLst>
              <a:ext uri="{FF2B5EF4-FFF2-40B4-BE49-F238E27FC236}">
                <a16:creationId xmlns:a16="http://schemas.microsoft.com/office/drawing/2014/main" id="{EBB4F6E2-4941-F490-A7F4-563B77C6D383}"/>
              </a:ext>
            </a:extLst>
          </p:cNvPr>
          <p:cNvPicPr>
            <a:picLocks noChangeAspect="1"/>
          </p:cNvPicPr>
          <p:nvPr/>
        </p:nvPicPr>
        <p:blipFill>
          <a:blip r:embed="rId2"/>
          <a:stretch>
            <a:fillRect/>
          </a:stretch>
        </p:blipFill>
        <p:spPr>
          <a:xfrm>
            <a:off x="428000" y="1549400"/>
            <a:ext cx="11459200" cy="3324225"/>
          </a:xfrm>
          <a:prstGeom prst="rect">
            <a:avLst/>
          </a:prstGeom>
        </p:spPr>
      </p:pic>
    </p:spTree>
    <p:extLst>
      <p:ext uri="{BB962C8B-B14F-4D97-AF65-F5344CB8AC3E}">
        <p14:creationId xmlns:p14="http://schemas.microsoft.com/office/powerpoint/2010/main" val="290897125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B17C7-9DCE-60D2-799B-A5E08D1CE497}"/>
              </a:ext>
            </a:extLst>
          </p:cNvPr>
          <p:cNvSpPr>
            <a:spLocks noGrp="1"/>
          </p:cNvSpPr>
          <p:nvPr>
            <p:ph type="title"/>
          </p:nvPr>
        </p:nvSpPr>
        <p:spPr/>
        <p:txBody>
          <a:bodyPr/>
          <a:lstStyle/>
          <a:p>
            <a:r>
              <a:rPr lang="en-US" dirty="0"/>
              <a:t>Month Wise Category Penetration</a:t>
            </a:r>
            <a:endParaRPr lang="en-IN" dirty="0"/>
          </a:p>
        </p:txBody>
      </p:sp>
      <p:sp>
        <p:nvSpPr>
          <p:cNvPr id="3" name="Chart Placeholder 2">
            <a:extLst>
              <a:ext uri="{FF2B5EF4-FFF2-40B4-BE49-F238E27FC236}">
                <a16:creationId xmlns:a16="http://schemas.microsoft.com/office/drawing/2014/main" id="{1330782B-A3BD-9BD8-B58B-73AA79F619F0}"/>
              </a:ext>
            </a:extLst>
          </p:cNvPr>
          <p:cNvSpPr>
            <a:spLocks noGrp="1"/>
          </p:cNvSpPr>
          <p:nvPr>
            <p:ph type="chart" sz="quarter" idx="11"/>
          </p:nvPr>
        </p:nvSpPr>
        <p:spPr/>
      </p:sp>
      <p:sp>
        <p:nvSpPr>
          <p:cNvPr id="4" name="Text Placeholder 3">
            <a:extLst>
              <a:ext uri="{FF2B5EF4-FFF2-40B4-BE49-F238E27FC236}">
                <a16:creationId xmlns:a16="http://schemas.microsoft.com/office/drawing/2014/main" id="{03C2BAD0-D374-947C-0912-50A5508413D7}"/>
              </a:ext>
            </a:extLst>
          </p:cNvPr>
          <p:cNvSpPr>
            <a:spLocks noGrp="1"/>
          </p:cNvSpPr>
          <p:nvPr>
            <p:ph type="body" sz="quarter" idx="12"/>
          </p:nvPr>
        </p:nvSpPr>
        <p:spPr/>
        <p:txBody>
          <a:bodyPr numCol="2"/>
          <a:lstStyle/>
          <a:p>
            <a:pPr marL="285750" indent="-285750">
              <a:buFont typeface="Arial" panose="020B0604020202020204" pitchFamily="34" charset="0"/>
              <a:buChar char="•"/>
            </a:pPr>
            <a:r>
              <a:rPr lang="en-US" sz="1400" dirty="0"/>
              <a:t>Q3 21-22 FY performance is not up to the mark</a:t>
            </a:r>
          </a:p>
          <a:p>
            <a:pPr marL="285750" indent="-285750">
              <a:buFont typeface="Arial" panose="020B0604020202020204" pitchFamily="34" charset="0"/>
              <a:buChar char="•"/>
            </a:pPr>
            <a:r>
              <a:rPr lang="en-US" sz="1400" dirty="0"/>
              <a:t>Fashion , Unclassified shows seasonal decline in Q2 23-24 FY and pet shop shows decline in Q3 and Q4 of 22-23 FY</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IN" sz="1400" dirty="0"/>
              <a:t>Restock inventory with latest Fashion and upgrade winter collection of Pet Products.</a:t>
            </a:r>
          </a:p>
          <a:p>
            <a:pPr marL="285750" indent="-285750">
              <a:buFont typeface="Arial" panose="020B0604020202020204" pitchFamily="34" charset="0"/>
              <a:buChar char="•"/>
            </a:pPr>
            <a:r>
              <a:rPr lang="en-IN" sz="1400" dirty="0"/>
              <a:t>Order the unclassified categories and maintain proper records</a:t>
            </a:r>
          </a:p>
        </p:txBody>
      </p:sp>
      <p:pic>
        <p:nvPicPr>
          <p:cNvPr id="5" name="Picture 4">
            <a:extLst>
              <a:ext uri="{FF2B5EF4-FFF2-40B4-BE49-F238E27FC236}">
                <a16:creationId xmlns:a16="http://schemas.microsoft.com/office/drawing/2014/main" id="{D2077608-32F8-C12B-F4C7-19DD5473EDF3}"/>
              </a:ext>
            </a:extLst>
          </p:cNvPr>
          <p:cNvPicPr>
            <a:picLocks noChangeAspect="1"/>
          </p:cNvPicPr>
          <p:nvPr/>
        </p:nvPicPr>
        <p:blipFill>
          <a:blip r:embed="rId2"/>
          <a:stretch>
            <a:fillRect/>
          </a:stretch>
        </p:blipFill>
        <p:spPr>
          <a:xfrm>
            <a:off x="402575" y="1265208"/>
            <a:ext cx="11360800" cy="3608417"/>
          </a:xfrm>
          <a:prstGeom prst="rect">
            <a:avLst/>
          </a:prstGeom>
        </p:spPr>
      </p:pic>
    </p:spTree>
    <p:extLst>
      <p:ext uri="{BB962C8B-B14F-4D97-AF65-F5344CB8AC3E}">
        <p14:creationId xmlns:p14="http://schemas.microsoft.com/office/powerpoint/2010/main" val="322599759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D5AFA-2470-C647-326B-935C380723BA}"/>
              </a:ext>
            </a:extLst>
          </p:cNvPr>
          <p:cNvSpPr>
            <a:spLocks noGrp="1"/>
          </p:cNvSpPr>
          <p:nvPr>
            <p:ph type="title"/>
          </p:nvPr>
        </p:nvSpPr>
        <p:spPr/>
        <p:txBody>
          <a:bodyPr/>
          <a:lstStyle/>
          <a:p>
            <a:r>
              <a:rPr lang="en-US" dirty="0"/>
              <a:t>Month Wise New Customer</a:t>
            </a:r>
            <a:endParaRPr lang="en-IN" dirty="0"/>
          </a:p>
        </p:txBody>
      </p:sp>
      <p:sp>
        <p:nvSpPr>
          <p:cNvPr id="4" name="Text Placeholder 3">
            <a:extLst>
              <a:ext uri="{FF2B5EF4-FFF2-40B4-BE49-F238E27FC236}">
                <a16:creationId xmlns:a16="http://schemas.microsoft.com/office/drawing/2014/main" id="{30DB66D3-F879-374B-6AC3-1501A7D4F2C4}"/>
              </a:ext>
            </a:extLst>
          </p:cNvPr>
          <p:cNvSpPr>
            <a:spLocks noGrp="1"/>
          </p:cNvSpPr>
          <p:nvPr>
            <p:ph type="body" sz="quarter" idx="12"/>
          </p:nvPr>
        </p:nvSpPr>
        <p:spPr/>
        <p:txBody>
          <a:bodyPr numCol="2"/>
          <a:lstStyle/>
          <a:p>
            <a:pPr marL="342900" indent="-342900">
              <a:buFont typeface="Arial" panose="020B0604020202020204" pitchFamily="34" charset="0"/>
              <a:buChar char="•"/>
            </a:pPr>
            <a:r>
              <a:rPr lang="en-US" sz="1400" dirty="0"/>
              <a:t>New Customers Peaked in Q1-23 around 6800+</a:t>
            </a:r>
          </a:p>
          <a:p>
            <a:pPr marL="342900" indent="-342900">
              <a:buFont typeface="Arial" panose="020B0604020202020204" pitchFamily="34" charset="0"/>
              <a:buChar char="•"/>
            </a:pPr>
            <a:r>
              <a:rPr lang="en-US" sz="1400" dirty="0"/>
              <a:t>Steady decline, below 1000 by Oct 2023</a:t>
            </a:r>
          </a:p>
          <a:p>
            <a:pPr marL="342900" indent="-342900">
              <a:buFont typeface="Arial" panose="020B0604020202020204" pitchFamily="34" charset="0"/>
              <a:buChar char="•"/>
            </a:pPr>
            <a:r>
              <a:rPr lang="en-US" sz="1400" dirty="0"/>
              <a:t>This Suggests market saturation or weaker campaigns</a:t>
            </a:r>
          </a:p>
          <a:p>
            <a:pPr marL="342900" indent="-342900">
              <a:buFont typeface="Arial" panose="020B0604020202020204" pitchFamily="34" charset="0"/>
              <a:buChar char="•"/>
            </a:pPr>
            <a:r>
              <a:rPr lang="en-US" sz="1400" dirty="0"/>
              <a:t>Re-evaluate channels,  </a:t>
            </a:r>
            <a:r>
              <a:rPr lang="en-US" sz="1400" dirty="0" err="1"/>
              <a:t>Taget</a:t>
            </a:r>
            <a:r>
              <a:rPr lang="en-US" sz="1400" dirty="0"/>
              <a:t> new product segments, Align campaigns with seasonal trends</a:t>
            </a:r>
            <a:endParaRPr lang="en-IN" sz="1400" dirty="0"/>
          </a:p>
        </p:txBody>
      </p:sp>
      <p:sp>
        <p:nvSpPr>
          <p:cNvPr id="6" name="Chart Placeholder 5">
            <a:extLst>
              <a:ext uri="{FF2B5EF4-FFF2-40B4-BE49-F238E27FC236}">
                <a16:creationId xmlns:a16="http://schemas.microsoft.com/office/drawing/2014/main" id="{18903B04-2663-B779-A0D8-EC002EA0E198}"/>
              </a:ext>
            </a:extLst>
          </p:cNvPr>
          <p:cNvSpPr>
            <a:spLocks noGrp="1"/>
          </p:cNvSpPr>
          <p:nvPr>
            <p:ph type="chart" sz="quarter" idx="11"/>
          </p:nvPr>
        </p:nvSpPr>
        <p:spPr/>
      </p:sp>
      <p:pic>
        <p:nvPicPr>
          <p:cNvPr id="7" name="Picture 6">
            <a:extLst>
              <a:ext uri="{FF2B5EF4-FFF2-40B4-BE49-F238E27FC236}">
                <a16:creationId xmlns:a16="http://schemas.microsoft.com/office/drawing/2014/main" id="{8415E045-74B9-24FB-256A-07A8E0DC04F8}"/>
              </a:ext>
            </a:extLst>
          </p:cNvPr>
          <p:cNvPicPr>
            <a:picLocks noChangeAspect="1"/>
          </p:cNvPicPr>
          <p:nvPr/>
        </p:nvPicPr>
        <p:blipFill>
          <a:blip r:embed="rId2"/>
          <a:stretch>
            <a:fillRect/>
          </a:stretch>
        </p:blipFill>
        <p:spPr>
          <a:xfrm>
            <a:off x="428000" y="1549400"/>
            <a:ext cx="11335375" cy="3324225"/>
          </a:xfrm>
          <a:prstGeom prst="rect">
            <a:avLst/>
          </a:prstGeom>
        </p:spPr>
      </p:pic>
    </p:spTree>
    <p:extLst>
      <p:ext uri="{BB962C8B-B14F-4D97-AF65-F5344CB8AC3E}">
        <p14:creationId xmlns:p14="http://schemas.microsoft.com/office/powerpoint/2010/main" val="20059095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CCD0B-69E8-0567-2002-9354BBE38DBE}"/>
              </a:ext>
            </a:extLst>
          </p:cNvPr>
          <p:cNvSpPr>
            <a:spLocks noGrp="1"/>
          </p:cNvSpPr>
          <p:nvPr>
            <p:ph type="title"/>
          </p:nvPr>
        </p:nvSpPr>
        <p:spPr/>
        <p:txBody>
          <a:bodyPr/>
          <a:lstStyle/>
          <a:p>
            <a:r>
              <a:rPr lang="en-US" dirty="0"/>
              <a:t>Customer Discount Segments Of Active Type</a:t>
            </a:r>
            <a:endParaRPr lang="en-IN" dirty="0"/>
          </a:p>
        </p:txBody>
      </p:sp>
      <p:sp>
        <p:nvSpPr>
          <p:cNvPr id="3" name="Chart Placeholder 2">
            <a:extLst>
              <a:ext uri="{FF2B5EF4-FFF2-40B4-BE49-F238E27FC236}">
                <a16:creationId xmlns:a16="http://schemas.microsoft.com/office/drawing/2014/main" id="{BA30F5CA-9BA6-8791-2CC8-8ADD4094E68C}"/>
              </a:ext>
            </a:extLst>
          </p:cNvPr>
          <p:cNvSpPr>
            <a:spLocks noGrp="1"/>
          </p:cNvSpPr>
          <p:nvPr>
            <p:ph type="chart" sz="quarter" idx="11"/>
          </p:nvPr>
        </p:nvSpPr>
        <p:spPr/>
      </p:sp>
      <p:sp>
        <p:nvSpPr>
          <p:cNvPr id="4" name="Text Placeholder 3">
            <a:extLst>
              <a:ext uri="{FF2B5EF4-FFF2-40B4-BE49-F238E27FC236}">
                <a16:creationId xmlns:a16="http://schemas.microsoft.com/office/drawing/2014/main" id="{8E7003D5-5AAD-5127-65A6-666A1F133B9F}"/>
              </a:ext>
            </a:extLst>
          </p:cNvPr>
          <p:cNvSpPr>
            <a:spLocks noGrp="1"/>
          </p:cNvSpPr>
          <p:nvPr>
            <p:ph type="body" sz="quarter" idx="12"/>
          </p:nvPr>
        </p:nvSpPr>
        <p:spPr/>
        <p:txBody>
          <a:bodyPr numCol="2"/>
          <a:lstStyle/>
          <a:p>
            <a:pPr marL="285750" indent="-285750">
              <a:buFont typeface="Arial" panose="020B0604020202020204" pitchFamily="34" charset="0"/>
              <a:buChar char="•"/>
            </a:pPr>
            <a:r>
              <a:rPr lang="en-US" sz="1400" dirty="0"/>
              <a:t>Discount Seekers shows 17% decline in Repeat Buyers </a:t>
            </a:r>
          </a:p>
          <a:p>
            <a:pPr marL="285750" indent="-285750">
              <a:buFont typeface="Arial" panose="020B0604020202020204" pitchFamily="34" charset="0"/>
              <a:buChar char="•"/>
            </a:pPr>
            <a:r>
              <a:rPr lang="en-US" sz="1400" dirty="0"/>
              <a:t>Consumer base is mainly consisting of Non-Discount Seekers.</a:t>
            </a:r>
          </a:p>
          <a:p>
            <a:pPr marL="285750" indent="-285750">
              <a:buFont typeface="Arial" panose="020B0604020202020204" pitchFamily="34" charset="0"/>
              <a:buChar char="•"/>
            </a:pPr>
            <a:endParaRPr lang="en-US" sz="1400" dirty="0"/>
          </a:p>
          <a:p>
            <a:endParaRPr lang="en-US" sz="1400" dirty="0"/>
          </a:p>
          <a:p>
            <a:pPr marL="285750" indent="-285750">
              <a:buFont typeface="Arial" panose="020B0604020202020204" pitchFamily="34" charset="0"/>
              <a:buChar char="•"/>
            </a:pPr>
            <a:r>
              <a:rPr lang="en-US" sz="1400" dirty="0"/>
              <a:t>Use cross selling strategies with daily use segment for Non-Discount Seekers and work on optimizing consumer experience.</a:t>
            </a:r>
          </a:p>
          <a:p>
            <a:pPr marL="285750" indent="-285750">
              <a:buFont typeface="Arial" panose="020B0604020202020204" pitchFamily="34" charset="0"/>
              <a:buChar char="•"/>
            </a:pPr>
            <a:r>
              <a:rPr lang="en-US" sz="1400" dirty="0"/>
              <a:t>Provide Timely reminder to seekers to boast seasonal sales.</a:t>
            </a:r>
            <a:endParaRPr lang="en-IN" sz="1400" dirty="0"/>
          </a:p>
          <a:p>
            <a:pPr marL="285750" indent="-285750">
              <a:buFont typeface="Arial" panose="020B0604020202020204" pitchFamily="34" charset="0"/>
              <a:buChar char="•"/>
            </a:pPr>
            <a:endParaRPr lang="en-IN" sz="1400" dirty="0"/>
          </a:p>
        </p:txBody>
      </p:sp>
      <p:pic>
        <p:nvPicPr>
          <p:cNvPr id="7" name="Picture 6">
            <a:extLst>
              <a:ext uri="{FF2B5EF4-FFF2-40B4-BE49-F238E27FC236}">
                <a16:creationId xmlns:a16="http://schemas.microsoft.com/office/drawing/2014/main" id="{948F85F9-A9DC-AADB-E9EC-0A138E23DD8F}"/>
              </a:ext>
            </a:extLst>
          </p:cNvPr>
          <p:cNvPicPr>
            <a:picLocks noChangeAspect="1"/>
          </p:cNvPicPr>
          <p:nvPr/>
        </p:nvPicPr>
        <p:blipFill>
          <a:blip r:embed="rId2"/>
          <a:stretch>
            <a:fillRect/>
          </a:stretch>
        </p:blipFill>
        <p:spPr>
          <a:xfrm>
            <a:off x="1019670" y="1549400"/>
            <a:ext cx="2182368" cy="2848356"/>
          </a:xfrm>
          <a:prstGeom prst="rect">
            <a:avLst/>
          </a:prstGeom>
        </p:spPr>
      </p:pic>
      <p:pic>
        <p:nvPicPr>
          <p:cNvPr id="8" name="Picture 7">
            <a:extLst>
              <a:ext uri="{FF2B5EF4-FFF2-40B4-BE49-F238E27FC236}">
                <a16:creationId xmlns:a16="http://schemas.microsoft.com/office/drawing/2014/main" id="{C3899112-DCDF-314E-49C9-88630042483F}"/>
              </a:ext>
            </a:extLst>
          </p:cNvPr>
          <p:cNvPicPr>
            <a:picLocks noChangeAspect="1"/>
          </p:cNvPicPr>
          <p:nvPr/>
        </p:nvPicPr>
        <p:blipFill>
          <a:blip r:embed="rId3"/>
          <a:stretch>
            <a:fillRect/>
          </a:stretch>
        </p:blipFill>
        <p:spPr>
          <a:xfrm>
            <a:off x="8733930" y="1549400"/>
            <a:ext cx="2438400" cy="2732532"/>
          </a:xfrm>
          <a:prstGeom prst="rect">
            <a:avLst/>
          </a:prstGeom>
        </p:spPr>
      </p:pic>
    </p:spTree>
    <p:extLst>
      <p:ext uri="{BB962C8B-B14F-4D97-AF65-F5344CB8AC3E}">
        <p14:creationId xmlns:p14="http://schemas.microsoft.com/office/powerpoint/2010/main" val="61569719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C8ECE-8FF9-1662-98C7-0089983E0CD7}"/>
              </a:ext>
            </a:extLst>
          </p:cNvPr>
          <p:cNvSpPr>
            <a:spLocks noGrp="1"/>
          </p:cNvSpPr>
          <p:nvPr>
            <p:ph type="title"/>
          </p:nvPr>
        </p:nvSpPr>
        <p:spPr/>
        <p:txBody>
          <a:bodyPr/>
          <a:lstStyle/>
          <a:p>
            <a:r>
              <a:rPr lang="en-US" dirty="0"/>
              <a:t>Month Wise Repeat customer rate</a:t>
            </a:r>
            <a:endParaRPr lang="en-IN" dirty="0"/>
          </a:p>
        </p:txBody>
      </p:sp>
      <p:sp>
        <p:nvSpPr>
          <p:cNvPr id="4" name="Text Placeholder 3">
            <a:extLst>
              <a:ext uri="{FF2B5EF4-FFF2-40B4-BE49-F238E27FC236}">
                <a16:creationId xmlns:a16="http://schemas.microsoft.com/office/drawing/2014/main" id="{2DB212B8-6B94-CB45-21A7-CF2FA2309784}"/>
              </a:ext>
            </a:extLst>
          </p:cNvPr>
          <p:cNvSpPr>
            <a:spLocks noGrp="1"/>
          </p:cNvSpPr>
          <p:nvPr>
            <p:ph type="body" sz="quarter" idx="12"/>
          </p:nvPr>
        </p:nvSpPr>
        <p:spPr/>
        <p:txBody>
          <a:bodyPr numCol="2"/>
          <a:lstStyle/>
          <a:p>
            <a:pPr marL="342900" indent="-342900">
              <a:buFont typeface="Arial" panose="020B0604020202020204" pitchFamily="34" charset="0"/>
              <a:buChar char="•"/>
            </a:pPr>
            <a:r>
              <a:rPr lang="en-US" sz="1400" dirty="0"/>
              <a:t>Sudden spike in </a:t>
            </a:r>
            <a:r>
              <a:rPr lang="en-US" sz="1400" dirty="0" err="1"/>
              <a:t>sep</a:t>
            </a:r>
            <a:r>
              <a:rPr lang="en-US" sz="1400" dirty="0"/>
              <a:t> 2023 to around 1.3% compared to other months</a:t>
            </a:r>
          </a:p>
          <a:p>
            <a:pPr marL="342900" indent="-342900">
              <a:buFont typeface="Arial" panose="020B0604020202020204" pitchFamily="34" charset="0"/>
              <a:buChar char="•"/>
            </a:pPr>
            <a:endParaRPr lang="en-US" sz="1400" dirty="0"/>
          </a:p>
          <a:p>
            <a:pPr marL="342900" indent="-342900">
              <a:buFont typeface="Arial" panose="020B0604020202020204" pitchFamily="34" charset="0"/>
              <a:buChar char="•"/>
            </a:pPr>
            <a:r>
              <a:rPr lang="en-US" sz="1400" dirty="0"/>
              <a:t>Analyze what triggered the spike and follow strategies centric towards the cause of that spike</a:t>
            </a:r>
          </a:p>
          <a:p>
            <a:pPr marL="342900" indent="-342900">
              <a:buFont typeface="Arial" panose="020B0604020202020204" pitchFamily="34" charset="0"/>
              <a:buChar char="•"/>
            </a:pPr>
            <a:endParaRPr lang="en-IN" sz="1400" dirty="0"/>
          </a:p>
        </p:txBody>
      </p:sp>
      <p:sp>
        <p:nvSpPr>
          <p:cNvPr id="8" name="Chart Placeholder 7">
            <a:extLst>
              <a:ext uri="{FF2B5EF4-FFF2-40B4-BE49-F238E27FC236}">
                <a16:creationId xmlns:a16="http://schemas.microsoft.com/office/drawing/2014/main" id="{73104338-9951-4127-B19B-D79FB9C4961B}"/>
              </a:ext>
            </a:extLst>
          </p:cNvPr>
          <p:cNvSpPr>
            <a:spLocks noGrp="1"/>
          </p:cNvSpPr>
          <p:nvPr>
            <p:ph type="chart" sz="quarter" idx="11"/>
          </p:nvPr>
        </p:nvSpPr>
        <p:spPr/>
      </p:sp>
      <p:pic>
        <p:nvPicPr>
          <p:cNvPr id="9" name="Picture 8">
            <a:extLst>
              <a:ext uri="{FF2B5EF4-FFF2-40B4-BE49-F238E27FC236}">
                <a16:creationId xmlns:a16="http://schemas.microsoft.com/office/drawing/2014/main" id="{2C710BD2-542E-B861-E051-14111CE0D066}"/>
              </a:ext>
            </a:extLst>
          </p:cNvPr>
          <p:cNvPicPr>
            <a:picLocks noChangeAspect="1"/>
          </p:cNvPicPr>
          <p:nvPr/>
        </p:nvPicPr>
        <p:blipFill>
          <a:blip r:embed="rId2"/>
          <a:stretch>
            <a:fillRect/>
          </a:stretch>
        </p:blipFill>
        <p:spPr>
          <a:xfrm>
            <a:off x="403200" y="1400556"/>
            <a:ext cx="11360150" cy="3473069"/>
          </a:xfrm>
          <a:prstGeom prst="rect">
            <a:avLst/>
          </a:prstGeom>
        </p:spPr>
      </p:pic>
    </p:spTree>
    <p:extLst>
      <p:ext uri="{BB962C8B-B14F-4D97-AF65-F5344CB8AC3E}">
        <p14:creationId xmlns:p14="http://schemas.microsoft.com/office/powerpoint/2010/main" val="310091425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A13BDD-8D08-EC19-FA62-F682495D6606}"/>
              </a:ext>
            </a:extLst>
          </p:cNvPr>
          <p:cNvSpPr>
            <a:spLocks noGrp="1"/>
          </p:cNvSpPr>
          <p:nvPr>
            <p:ph type="title"/>
          </p:nvPr>
        </p:nvSpPr>
        <p:spPr/>
        <p:txBody>
          <a:bodyPr/>
          <a:lstStyle/>
          <a:p>
            <a:r>
              <a:rPr lang="en-US" dirty="0"/>
              <a:t>Top 10 Most Expensive Product sale percent contribution</a:t>
            </a:r>
            <a:endParaRPr lang="en-IN" dirty="0"/>
          </a:p>
        </p:txBody>
      </p:sp>
      <p:sp>
        <p:nvSpPr>
          <p:cNvPr id="3" name="Chart Placeholder 2">
            <a:extLst>
              <a:ext uri="{FF2B5EF4-FFF2-40B4-BE49-F238E27FC236}">
                <a16:creationId xmlns:a16="http://schemas.microsoft.com/office/drawing/2014/main" id="{2E466E5C-5D99-2016-7F55-D7609C7E73DB}"/>
              </a:ext>
            </a:extLst>
          </p:cNvPr>
          <p:cNvSpPr>
            <a:spLocks noGrp="1"/>
          </p:cNvSpPr>
          <p:nvPr>
            <p:ph type="chart" sz="quarter" idx="11"/>
          </p:nvPr>
        </p:nvSpPr>
        <p:spPr/>
      </p:sp>
      <p:sp>
        <p:nvSpPr>
          <p:cNvPr id="4" name="Text Placeholder 3">
            <a:extLst>
              <a:ext uri="{FF2B5EF4-FFF2-40B4-BE49-F238E27FC236}">
                <a16:creationId xmlns:a16="http://schemas.microsoft.com/office/drawing/2014/main" id="{E72C71A9-A9E3-8A95-6D1C-E41B086A8A24}"/>
              </a:ext>
            </a:extLst>
          </p:cNvPr>
          <p:cNvSpPr>
            <a:spLocks noGrp="1"/>
          </p:cNvSpPr>
          <p:nvPr>
            <p:ph type="body" sz="quarter" idx="12"/>
          </p:nvPr>
        </p:nvSpPr>
        <p:spPr/>
        <p:txBody>
          <a:bodyPr numCol="2"/>
          <a:lstStyle/>
          <a:p>
            <a:pPr marL="285750" indent="-285750">
              <a:buFont typeface="Arial" panose="020B0604020202020204" pitchFamily="34" charset="0"/>
              <a:buChar char="•"/>
            </a:pPr>
            <a:r>
              <a:rPr lang="en-US" sz="1400" dirty="0"/>
              <a:t>The contribution of top 10 most expensive product is even less than 1% of total sales</a:t>
            </a:r>
          </a:p>
          <a:p>
            <a:pPr marL="285750" indent="-285750">
              <a:buFont typeface="Arial" panose="020B0604020202020204" pitchFamily="34" charset="0"/>
              <a:buChar char="•"/>
            </a:pPr>
            <a:endParaRPr lang="en-IN" sz="1400" dirty="0"/>
          </a:p>
          <a:p>
            <a:pPr marL="285750" indent="-285750">
              <a:buFont typeface="Arial" panose="020B0604020202020204" pitchFamily="34" charset="0"/>
              <a:buChar char="•"/>
            </a:pPr>
            <a:r>
              <a:rPr lang="en-IN" sz="1400" dirty="0"/>
              <a:t>We should optimize our inventory based on customer demands and avoid storing product which are expensive as well as not contributing in our overall sales in bulk.</a:t>
            </a:r>
          </a:p>
        </p:txBody>
      </p:sp>
      <p:pic>
        <p:nvPicPr>
          <p:cNvPr id="6" name="Picture 5">
            <a:extLst>
              <a:ext uri="{FF2B5EF4-FFF2-40B4-BE49-F238E27FC236}">
                <a16:creationId xmlns:a16="http://schemas.microsoft.com/office/drawing/2014/main" id="{64A4968E-F2D0-BF3D-B620-2644A0E17D32}"/>
              </a:ext>
            </a:extLst>
          </p:cNvPr>
          <p:cNvPicPr>
            <a:picLocks noChangeAspect="1"/>
          </p:cNvPicPr>
          <p:nvPr/>
        </p:nvPicPr>
        <p:blipFill>
          <a:blip r:embed="rId2"/>
          <a:stretch>
            <a:fillRect/>
          </a:stretch>
        </p:blipFill>
        <p:spPr>
          <a:xfrm>
            <a:off x="427999" y="1549400"/>
            <a:ext cx="11335375" cy="3324225"/>
          </a:xfrm>
          <a:prstGeom prst="rect">
            <a:avLst/>
          </a:prstGeom>
        </p:spPr>
      </p:pic>
    </p:spTree>
    <p:extLst>
      <p:ext uri="{BB962C8B-B14F-4D97-AF65-F5344CB8AC3E}">
        <p14:creationId xmlns:p14="http://schemas.microsoft.com/office/powerpoint/2010/main" val="353137998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F6638-7412-DD99-6EF5-07F989BA97AE}"/>
              </a:ext>
            </a:extLst>
          </p:cNvPr>
          <p:cNvSpPr>
            <a:spLocks noGrp="1"/>
          </p:cNvSpPr>
          <p:nvPr>
            <p:ph type="title"/>
          </p:nvPr>
        </p:nvSpPr>
        <p:spPr/>
        <p:txBody>
          <a:bodyPr/>
          <a:lstStyle/>
          <a:p>
            <a:r>
              <a:rPr lang="en-US" dirty="0"/>
              <a:t>Average Category Rating</a:t>
            </a:r>
            <a:endParaRPr lang="en-IN" dirty="0"/>
          </a:p>
        </p:txBody>
      </p:sp>
      <p:sp>
        <p:nvSpPr>
          <p:cNvPr id="4" name="Text Placeholder 3">
            <a:extLst>
              <a:ext uri="{FF2B5EF4-FFF2-40B4-BE49-F238E27FC236}">
                <a16:creationId xmlns:a16="http://schemas.microsoft.com/office/drawing/2014/main" id="{13CA178C-202E-45D0-5F45-B625934AE792}"/>
              </a:ext>
            </a:extLst>
          </p:cNvPr>
          <p:cNvSpPr>
            <a:spLocks noGrp="1"/>
          </p:cNvSpPr>
          <p:nvPr>
            <p:ph type="body" sz="quarter" idx="12"/>
          </p:nvPr>
        </p:nvSpPr>
        <p:spPr/>
        <p:txBody>
          <a:bodyPr numCol="2"/>
          <a:lstStyle/>
          <a:p>
            <a:pPr marL="285750" indent="-285750">
              <a:buFont typeface="Arial" panose="020B0604020202020204" pitchFamily="34" charset="0"/>
              <a:buChar char="•"/>
            </a:pPr>
            <a:r>
              <a:rPr lang="en-US" sz="1400" dirty="0"/>
              <a:t>We are working great on overall customer satisfaction level</a:t>
            </a:r>
          </a:p>
          <a:p>
            <a:pPr marL="285750" indent="-285750">
              <a:buFont typeface="Arial" panose="020B0604020202020204" pitchFamily="34" charset="0"/>
              <a:buChar char="•"/>
            </a:pPr>
            <a:r>
              <a:rPr lang="en-US" sz="1400" dirty="0"/>
              <a:t>Baby , Furniture and Computers Categories are rated lower compared to others.</a:t>
            </a:r>
          </a:p>
          <a:p>
            <a:pPr marL="285750" indent="-285750">
              <a:buFont typeface="Arial" panose="020B0604020202020204" pitchFamily="34" charset="0"/>
              <a:buChar char="•"/>
            </a:pPr>
            <a:r>
              <a:rPr lang="en-IN" sz="1400" dirty="0"/>
              <a:t>we should create a feeding space for mothers </a:t>
            </a:r>
          </a:p>
          <a:p>
            <a:pPr marL="285750" indent="-285750">
              <a:buFont typeface="Arial" panose="020B0604020202020204" pitchFamily="34" charset="0"/>
              <a:buChar char="•"/>
            </a:pPr>
            <a:r>
              <a:rPr lang="en-IN" sz="1400" dirty="0"/>
              <a:t>For furniture, may be there is issue with delivery handling.</a:t>
            </a:r>
          </a:p>
          <a:p>
            <a:pPr marL="285750" indent="-285750">
              <a:buFont typeface="Arial" panose="020B0604020202020204" pitchFamily="34" charset="0"/>
              <a:buChar char="•"/>
            </a:pPr>
            <a:r>
              <a:rPr lang="en-IN" sz="1400" dirty="0"/>
              <a:t>Computer , we can provide better aftersales service.</a:t>
            </a:r>
          </a:p>
        </p:txBody>
      </p:sp>
      <p:sp>
        <p:nvSpPr>
          <p:cNvPr id="6" name="Chart Placeholder 5">
            <a:extLst>
              <a:ext uri="{FF2B5EF4-FFF2-40B4-BE49-F238E27FC236}">
                <a16:creationId xmlns:a16="http://schemas.microsoft.com/office/drawing/2014/main" id="{669A908D-0B80-F011-034D-AA15FC551F2E}"/>
              </a:ext>
            </a:extLst>
          </p:cNvPr>
          <p:cNvSpPr>
            <a:spLocks noGrp="1"/>
          </p:cNvSpPr>
          <p:nvPr>
            <p:ph type="chart" sz="quarter" idx="11"/>
          </p:nvPr>
        </p:nvSpPr>
        <p:spPr/>
      </p:sp>
      <p:pic>
        <p:nvPicPr>
          <p:cNvPr id="7" name="Picture 6">
            <a:extLst>
              <a:ext uri="{FF2B5EF4-FFF2-40B4-BE49-F238E27FC236}">
                <a16:creationId xmlns:a16="http://schemas.microsoft.com/office/drawing/2014/main" id="{26704A98-4509-419C-3C07-1D9A9797C2B4}"/>
              </a:ext>
            </a:extLst>
          </p:cNvPr>
          <p:cNvPicPr>
            <a:picLocks noChangeAspect="1"/>
          </p:cNvPicPr>
          <p:nvPr/>
        </p:nvPicPr>
        <p:blipFill>
          <a:blip r:embed="rId2"/>
          <a:stretch>
            <a:fillRect/>
          </a:stretch>
        </p:blipFill>
        <p:spPr>
          <a:xfrm>
            <a:off x="427999" y="1549908"/>
            <a:ext cx="11335375" cy="3323717"/>
          </a:xfrm>
          <a:prstGeom prst="rect">
            <a:avLst/>
          </a:prstGeom>
        </p:spPr>
      </p:pic>
    </p:spTree>
    <p:extLst>
      <p:ext uri="{BB962C8B-B14F-4D97-AF65-F5344CB8AC3E}">
        <p14:creationId xmlns:p14="http://schemas.microsoft.com/office/powerpoint/2010/main" val="90064923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D4893-E39A-44EC-280B-C88E29F47208}"/>
              </a:ext>
            </a:extLst>
          </p:cNvPr>
          <p:cNvSpPr>
            <a:spLocks noGrp="1"/>
          </p:cNvSpPr>
          <p:nvPr>
            <p:ph type="title"/>
          </p:nvPr>
        </p:nvSpPr>
        <p:spPr/>
        <p:txBody>
          <a:bodyPr/>
          <a:lstStyle/>
          <a:p>
            <a:r>
              <a:rPr lang="en-US" dirty="0"/>
              <a:t>Average Rating With Respect to Transaction Type</a:t>
            </a:r>
            <a:endParaRPr lang="en-IN" dirty="0"/>
          </a:p>
        </p:txBody>
      </p:sp>
      <p:sp>
        <p:nvSpPr>
          <p:cNvPr id="3" name="Chart Placeholder 2">
            <a:extLst>
              <a:ext uri="{FF2B5EF4-FFF2-40B4-BE49-F238E27FC236}">
                <a16:creationId xmlns:a16="http://schemas.microsoft.com/office/drawing/2014/main" id="{56708A97-A758-1786-5FA4-1EE4A68B4AED}"/>
              </a:ext>
            </a:extLst>
          </p:cNvPr>
          <p:cNvSpPr>
            <a:spLocks noGrp="1"/>
          </p:cNvSpPr>
          <p:nvPr>
            <p:ph type="chart" sz="quarter" idx="11"/>
          </p:nvPr>
        </p:nvSpPr>
        <p:spPr/>
      </p:sp>
      <p:sp>
        <p:nvSpPr>
          <p:cNvPr id="4" name="Text Placeholder 3">
            <a:extLst>
              <a:ext uri="{FF2B5EF4-FFF2-40B4-BE49-F238E27FC236}">
                <a16:creationId xmlns:a16="http://schemas.microsoft.com/office/drawing/2014/main" id="{9CF138A8-2D9D-59C2-9712-BDDCC806C8C3}"/>
              </a:ext>
            </a:extLst>
          </p:cNvPr>
          <p:cNvSpPr>
            <a:spLocks noGrp="1"/>
          </p:cNvSpPr>
          <p:nvPr>
            <p:ph type="body" sz="quarter" idx="12"/>
          </p:nvPr>
        </p:nvSpPr>
        <p:spPr/>
        <p:txBody>
          <a:bodyPr numCol="2"/>
          <a:lstStyle/>
          <a:p>
            <a:pPr marL="285750" indent="-285750">
              <a:buFont typeface="Arial" panose="020B0604020202020204" pitchFamily="34" charset="0"/>
              <a:buChar char="•"/>
            </a:pPr>
            <a:r>
              <a:rPr lang="en-US" sz="1400" dirty="0"/>
              <a:t>Inter-Region, Intra-State and Inter-City are Rated least which shows weak demographical reach.</a:t>
            </a:r>
          </a:p>
          <a:p>
            <a:pPr marL="285750" indent="-285750">
              <a:buFont typeface="Arial" panose="020B0604020202020204" pitchFamily="34" charset="0"/>
              <a:buChar char="•"/>
            </a:pPr>
            <a:r>
              <a:rPr lang="en-US" sz="1400" dirty="0"/>
              <a:t>Large distance delivery channels are not optimized.</a:t>
            </a:r>
          </a:p>
          <a:p>
            <a:pPr marL="285750" indent="-285750">
              <a:buFont typeface="Arial" panose="020B0604020202020204" pitchFamily="34" charset="0"/>
              <a:buChar char="•"/>
            </a:pPr>
            <a:r>
              <a:rPr lang="en-US" sz="1400" dirty="0"/>
              <a:t>Optimize long distance like Inter- Regional and Intra-State channels to provide safe and timely deliveries.</a:t>
            </a:r>
          </a:p>
          <a:p>
            <a:pPr marL="285750" indent="-285750">
              <a:buFont typeface="Arial" panose="020B0604020202020204" pitchFamily="34" charset="0"/>
              <a:buChar char="•"/>
            </a:pPr>
            <a:r>
              <a:rPr lang="en-US" sz="1400" dirty="0"/>
              <a:t>Increase demographical reach by adv in local language.</a:t>
            </a:r>
          </a:p>
        </p:txBody>
      </p:sp>
      <p:pic>
        <p:nvPicPr>
          <p:cNvPr id="5" name="Picture 4">
            <a:extLst>
              <a:ext uri="{FF2B5EF4-FFF2-40B4-BE49-F238E27FC236}">
                <a16:creationId xmlns:a16="http://schemas.microsoft.com/office/drawing/2014/main" id="{A5B0C35E-C72A-21A7-7578-65B57EC4043A}"/>
              </a:ext>
            </a:extLst>
          </p:cNvPr>
          <p:cNvPicPr>
            <a:picLocks noChangeAspect="1"/>
          </p:cNvPicPr>
          <p:nvPr/>
        </p:nvPicPr>
        <p:blipFill>
          <a:blip r:embed="rId2"/>
          <a:stretch>
            <a:fillRect/>
          </a:stretch>
        </p:blipFill>
        <p:spPr>
          <a:xfrm>
            <a:off x="1119116" y="1549400"/>
            <a:ext cx="9949218" cy="3217672"/>
          </a:xfrm>
          <a:prstGeom prst="rect">
            <a:avLst/>
          </a:prstGeom>
        </p:spPr>
      </p:pic>
    </p:spTree>
    <p:extLst>
      <p:ext uri="{BB962C8B-B14F-4D97-AF65-F5344CB8AC3E}">
        <p14:creationId xmlns:p14="http://schemas.microsoft.com/office/powerpoint/2010/main" val="420474714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9729A-B57D-4ACE-5710-955D58FFE738}"/>
              </a:ext>
            </a:extLst>
          </p:cNvPr>
          <p:cNvSpPr>
            <a:spLocks noGrp="1"/>
          </p:cNvSpPr>
          <p:nvPr>
            <p:ph type="title"/>
          </p:nvPr>
        </p:nvSpPr>
        <p:spPr/>
        <p:txBody>
          <a:bodyPr/>
          <a:lstStyle/>
          <a:p>
            <a:r>
              <a:rPr lang="en-US" dirty="0"/>
              <a:t>Month Wise Revenue of New Customer and Existing Customer</a:t>
            </a:r>
            <a:endParaRPr lang="en-IN" dirty="0"/>
          </a:p>
        </p:txBody>
      </p:sp>
      <p:sp>
        <p:nvSpPr>
          <p:cNvPr id="4" name="Text Placeholder 3">
            <a:extLst>
              <a:ext uri="{FF2B5EF4-FFF2-40B4-BE49-F238E27FC236}">
                <a16:creationId xmlns:a16="http://schemas.microsoft.com/office/drawing/2014/main" id="{36D583A1-A75B-A20D-BA14-AC52343220E2}"/>
              </a:ext>
            </a:extLst>
          </p:cNvPr>
          <p:cNvSpPr>
            <a:spLocks noGrp="1"/>
          </p:cNvSpPr>
          <p:nvPr>
            <p:ph type="body" sz="quarter" idx="12"/>
          </p:nvPr>
        </p:nvSpPr>
        <p:spPr/>
        <p:txBody>
          <a:bodyPr numCol="2"/>
          <a:lstStyle/>
          <a:p>
            <a:pPr marL="285750" indent="-285750">
              <a:buFont typeface="Arial" panose="020B0604020202020204" pitchFamily="34" charset="0"/>
              <a:buChar char="•"/>
            </a:pPr>
            <a:r>
              <a:rPr lang="en-US" sz="1400" dirty="0"/>
              <a:t>New and Existing Customer’s follows almost same graphical trend but the revenue generated from Newer ones is almost 1000 times of Existing ones.</a:t>
            </a:r>
          </a:p>
          <a:p>
            <a:pPr marL="285750" indent="-285750">
              <a:buFont typeface="Arial" panose="020B0604020202020204" pitchFamily="34" charset="0"/>
              <a:buChar char="•"/>
            </a:pPr>
            <a:r>
              <a:rPr lang="en-US" sz="1400" dirty="0"/>
              <a:t>Apply Retention strategies like , </a:t>
            </a:r>
            <a:r>
              <a:rPr lang="en-US" sz="1400" dirty="0" err="1"/>
              <a:t>sms</a:t>
            </a:r>
            <a:r>
              <a:rPr lang="en-US" sz="1400" dirty="0"/>
              <a:t> promotion in local language, provide space for local anchor stores to attract local traffic, offer competitive pricing </a:t>
            </a:r>
          </a:p>
        </p:txBody>
      </p:sp>
      <p:sp>
        <p:nvSpPr>
          <p:cNvPr id="5" name="Chart Placeholder 4">
            <a:extLst>
              <a:ext uri="{FF2B5EF4-FFF2-40B4-BE49-F238E27FC236}">
                <a16:creationId xmlns:a16="http://schemas.microsoft.com/office/drawing/2014/main" id="{63B1B390-4CE2-20B2-64F0-6EAC83F9408A}"/>
              </a:ext>
            </a:extLst>
          </p:cNvPr>
          <p:cNvSpPr>
            <a:spLocks noGrp="1"/>
          </p:cNvSpPr>
          <p:nvPr>
            <p:ph type="chart" sz="quarter" idx="11"/>
          </p:nvPr>
        </p:nvSpPr>
        <p:spPr/>
      </p:sp>
      <p:pic>
        <p:nvPicPr>
          <p:cNvPr id="8" name="Picture 7">
            <a:extLst>
              <a:ext uri="{FF2B5EF4-FFF2-40B4-BE49-F238E27FC236}">
                <a16:creationId xmlns:a16="http://schemas.microsoft.com/office/drawing/2014/main" id="{9C72191D-6126-8157-364F-76EC060796B4}"/>
              </a:ext>
            </a:extLst>
          </p:cNvPr>
          <p:cNvPicPr>
            <a:picLocks noChangeAspect="1"/>
          </p:cNvPicPr>
          <p:nvPr/>
        </p:nvPicPr>
        <p:blipFill>
          <a:blip r:embed="rId2"/>
          <a:stretch>
            <a:fillRect/>
          </a:stretch>
        </p:blipFill>
        <p:spPr>
          <a:xfrm>
            <a:off x="403200" y="1549400"/>
            <a:ext cx="11385575" cy="3324225"/>
          </a:xfrm>
          <a:prstGeom prst="rect">
            <a:avLst/>
          </a:prstGeom>
        </p:spPr>
      </p:pic>
    </p:spTree>
    <p:extLst>
      <p:ext uri="{BB962C8B-B14F-4D97-AF65-F5344CB8AC3E}">
        <p14:creationId xmlns:p14="http://schemas.microsoft.com/office/powerpoint/2010/main" val="156356563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FF5D8-EAED-0EBE-13A7-F3C4B118B14D}"/>
              </a:ext>
            </a:extLst>
          </p:cNvPr>
          <p:cNvSpPr>
            <a:spLocks noGrp="1"/>
          </p:cNvSpPr>
          <p:nvPr>
            <p:ph type="title"/>
          </p:nvPr>
        </p:nvSpPr>
        <p:spPr/>
        <p:txBody>
          <a:bodyPr/>
          <a:lstStyle/>
          <a:p>
            <a:r>
              <a:rPr lang="en-US" dirty="0"/>
              <a:t>Month Wise Sales</a:t>
            </a:r>
            <a:endParaRPr lang="en-IN" dirty="0"/>
          </a:p>
        </p:txBody>
      </p:sp>
      <p:sp>
        <p:nvSpPr>
          <p:cNvPr id="3" name="Chart Placeholder 2">
            <a:extLst>
              <a:ext uri="{FF2B5EF4-FFF2-40B4-BE49-F238E27FC236}">
                <a16:creationId xmlns:a16="http://schemas.microsoft.com/office/drawing/2014/main" id="{57BCD512-DF98-E6DC-EA8C-F22CD59C85CE}"/>
              </a:ext>
            </a:extLst>
          </p:cNvPr>
          <p:cNvSpPr>
            <a:spLocks noGrp="1"/>
          </p:cNvSpPr>
          <p:nvPr>
            <p:ph type="chart" sz="quarter" idx="11"/>
          </p:nvPr>
        </p:nvSpPr>
        <p:spPr/>
      </p:sp>
      <p:sp>
        <p:nvSpPr>
          <p:cNvPr id="4" name="Text Placeholder 3">
            <a:extLst>
              <a:ext uri="{FF2B5EF4-FFF2-40B4-BE49-F238E27FC236}">
                <a16:creationId xmlns:a16="http://schemas.microsoft.com/office/drawing/2014/main" id="{95F57AE1-01C8-497A-9EA0-BF9BF01E71E4}"/>
              </a:ext>
            </a:extLst>
          </p:cNvPr>
          <p:cNvSpPr>
            <a:spLocks noGrp="1"/>
          </p:cNvSpPr>
          <p:nvPr>
            <p:ph type="body" sz="quarter" idx="12"/>
          </p:nvPr>
        </p:nvSpPr>
        <p:spPr/>
        <p:txBody>
          <a:bodyPr numCol="2"/>
          <a:lstStyle/>
          <a:p>
            <a:pPr marL="285750" indent="-285750">
              <a:buFont typeface="Arial" panose="020B0604020202020204" pitchFamily="34" charset="0"/>
              <a:buChar char="•"/>
            </a:pPr>
            <a:r>
              <a:rPr lang="en-US" sz="1400" dirty="0"/>
              <a:t>Saturation is reached at Q1 FY 22-23 and after that we can see sudden decline in sales.</a:t>
            </a:r>
          </a:p>
          <a:p>
            <a:pPr marL="285750" indent="-285750">
              <a:buFont typeface="Arial" panose="020B0604020202020204" pitchFamily="34" charset="0"/>
              <a:buChar char="•"/>
            </a:pPr>
            <a:r>
              <a:rPr lang="en-US" sz="1400" dirty="0"/>
              <a:t>Q3 FY 21-22 shows very low revenue.</a:t>
            </a:r>
          </a:p>
          <a:p>
            <a:pPr marL="285750" indent="-285750">
              <a:buFont typeface="Arial" panose="020B0604020202020204" pitchFamily="34" charset="0"/>
              <a:buChar char="•"/>
            </a:pPr>
            <a:r>
              <a:rPr lang="en-US" sz="1400" dirty="0"/>
              <a:t>Launch target marketing campaigns before Q1 to sustain momentum.</a:t>
            </a:r>
          </a:p>
          <a:p>
            <a:pPr marL="285750" indent="-285750">
              <a:buFont typeface="Arial" panose="020B0604020202020204" pitchFamily="34" charset="0"/>
              <a:buChar char="•"/>
            </a:pPr>
            <a:r>
              <a:rPr lang="en-US" sz="1400" dirty="0"/>
              <a:t>Introduce seasonal promotions and products </a:t>
            </a:r>
            <a:endParaRPr lang="en-IN" sz="1400" dirty="0"/>
          </a:p>
        </p:txBody>
      </p:sp>
      <p:pic>
        <p:nvPicPr>
          <p:cNvPr id="6" name="Picture 5">
            <a:extLst>
              <a:ext uri="{FF2B5EF4-FFF2-40B4-BE49-F238E27FC236}">
                <a16:creationId xmlns:a16="http://schemas.microsoft.com/office/drawing/2014/main" id="{9E2E2EBB-4C31-A9A5-B04A-06A45857F5CC}"/>
              </a:ext>
            </a:extLst>
          </p:cNvPr>
          <p:cNvPicPr>
            <a:picLocks noChangeAspect="1"/>
          </p:cNvPicPr>
          <p:nvPr/>
        </p:nvPicPr>
        <p:blipFill>
          <a:blip r:embed="rId2"/>
          <a:stretch>
            <a:fillRect/>
          </a:stretch>
        </p:blipFill>
        <p:spPr>
          <a:xfrm>
            <a:off x="403200" y="1672917"/>
            <a:ext cx="11385575" cy="3077190"/>
          </a:xfrm>
          <a:prstGeom prst="rect">
            <a:avLst/>
          </a:prstGeom>
        </p:spPr>
      </p:pic>
    </p:spTree>
    <p:extLst>
      <p:ext uri="{BB962C8B-B14F-4D97-AF65-F5344CB8AC3E}">
        <p14:creationId xmlns:p14="http://schemas.microsoft.com/office/powerpoint/2010/main" val="336808461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80FF9-BE0C-AC05-BE40-854F7F08245E}"/>
              </a:ext>
            </a:extLst>
          </p:cNvPr>
          <p:cNvSpPr>
            <a:spLocks noGrp="1"/>
          </p:cNvSpPr>
          <p:nvPr>
            <p:ph type="title"/>
          </p:nvPr>
        </p:nvSpPr>
        <p:spPr/>
        <p:txBody>
          <a:bodyPr/>
          <a:lstStyle/>
          <a:p>
            <a:r>
              <a:rPr lang="en-US" dirty="0"/>
              <a:t>Region Wise Customer Spread</a:t>
            </a:r>
            <a:endParaRPr lang="en-IN" dirty="0"/>
          </a:p>
        </p:txBody>
      </p:sp>
      <p:sp>
        <p:nvSpPr>
          <p:cNvPr id="4" name="Text Placeholder 3">
            <a:extLst>
              <a:ext uri="{FF2B5EF4-FFF2-40B4-BE49-F238E27FC236}">
                <a16:creationId xmlns:a16="http://schemas.microsoft.com/office/drawing/2014/main" id="{8EC4B77B-346C-D232-EDBB-CAF5B2682984}"/>
              </a:ext>
            </a:extLst>
          </p:cNvPr>
          <p:cNvSpPr>
            <a:spLocks noGrp="1"/>
          </p:cNvSpPr>
          <p:nvPr>
            <p:ph type="body" sz="quarter" idx="12"/>
          </p:nvPr>
        </p:nvSpPr>
        <p:spPr/>
        <p:txBody>
          <a:bodyPr numCol="2"/>
          <a:lstStyle/>
          <a:p>
            <a:pPr marL="285750" indent="-285750">
              <a:buFont typeface="Arial" panose="020B0604020202020204" pitchFamily="34" charset="0"/>
              <a:buChar char="•"/>
            </a:pPr>
            <a:r>
              <a:rPr lang="en-US" sz="1400" dirty="0"/>
              <a:t>East Contributes least with 2% of customers</a:t>
            </a:r>
            <a:r>
              <a:rPr lang="en-IN" sz="1400" dirty="0"/>
              <a:t> whereas south holds 77% of customers and both north and west holds around 10% of customer’s share.</a:t>
            </a:r>
          </a:p>
          <a:p>
            <a:pPr marL="285750" indent="-285750">
              <a:buFont typeface="Arial" panose="020B0604020202020204" pitchFamily="34" charset="0"/>
              <a:buChar char="•"/>
            </a:pPr>
            <a:r>
              <a:rPr lang="en-IN" sz="1400" dirty="0"/>
              <a:t>Increase demographical reach with local campaigns in local languages.</a:t>
            </a:r>
          </a:p>
          <a:p>
            <a:pPr marL="285750" indent="-285750">
              <a:buFont typeface="Arial" panose="020B0604020202020204" pitchFamily="34" charset="0"/>
              <a:buChar char="•"/>
            </a:pPr>
            <a:r>
              <a:rPr lang="en-IN" sz="1400" dirty="0"/>
              <a:t>Optimize channel according to harsh environment of East.</a:t>
            </a:r>
            <a:endParaRPr lang="en-US" sz="1400" dirty="0"/>
          </a:p>
        </p:txBody>
      </p:sp>
      <p:sp>
        <p:nvSpPr>
          <p:cNvPr id="6" name="Chart Placeholder 5">
            <a:extLst>
              <a:ext uri="{FF2B5EF4-FFF2-40B4-BE49-F238E27FC236}">
                <a16:creationId xmlns:a16="http://schemas.microsoft.com/office/drawing/2014/main" id="{E6ECD669-DB5E-05D3-F667-0FC0D8A51BDA}"/>
              </a:ext>
            </a:extLst>
          </p:cNvPr>
          <p:cNvSpPr>
            <a:spLocks noGrp="1"/>
          </p:cNvSpPr>
          <p:nvPr>
            <p:ph type="chart" sz="quarter" idx="11"/>
          </p:nvPr>
        </p:nvSpPr>
        <p:spPr/>
      </p:sp>
      <p:pic>
        <p:nvPicPr>
          <p:cNvPr id="8" name="Picture 7">
            <a:extLst>
              <a:ext uri="{FF2B5EF4-FFF2-40B4-BE49-F238E27FC236}">
                <a16:creationId xmlns:a16="http://schemas.microsoft.com/office/drawing/2014/main" id="{3F6283C3-55B4-E360-198B-ECFB794150B0}"/>
              </a:ext>
            </a:extLst>
          </p:cNvPr>
          <p:cNvPicPr>
            <a:picLocks noChangeAspect="1"/>
          </p:cNvPicPr>
          <p:nvPr/>
        </p:nvPicPr>
        <p:blipFill>
          <a:blip r:embed="rId2"/>
          <a:stretch>
            <a:fillRect/>
          </a:stretch>
        </p:blipFill>
        <p:spPr>
          <a:xfrm>
            <a:off x="4304538" y="2135124"/>
            <a:ext cx="3582924" cy="2587752"/>
          </a:xfrm>
          <a:prstGeom prst="rect">
            <a:avLst/>
          </a:prstGeom>
        </p:spPr>
      </p:pic>
    </p:spTree>
    <p:extLst>
      <p:ext uri="{BB962C8B-B14F-4D97-AF65-F5344CB8AC3E}">
        <p14:creationId xmlns:p14="http://schemas.microsoft.com/office/powerpoint/2010/main" val="250916827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41670-11D3-C0A9-A3E1-516CD396D534}"/>
              </a:ext>
            </a:extLst>
          </p:cNvPr>
          <p:cNvSpPr>
            <a:spLocks noGrp="1"/>
          </p:cNvSpPr>
          <p:nvPr>
            <p:ph type="title"/>
          </p:nvPr>
        </p:nvSpPr>
        <p:spPr/>
        <p:txBody>
          <a:bodyPr/>
          <a:lstStyle/>
          <a:p>
            <a:endParaRPr lang="en-IN"/>
          </a:p>
        </p:txBody>
      </p:sp>
      <p:sp>
        <p:nvSpPr>
          <p:cNvPr id="4" name="Text Placeholder 3">
            <a:extLst>
              <a:ext uri="{FF2B5EF4-FFF2-40B4-BE49-F238E27FC236}">
                <a16:creationId xmlns:a16="http://schemas.microsoft.com/office/drawing/2014/main" id="{A7109AE4-D530-285F-DAF2-4311FACF285B}"/>
              </a:ext>
            </a:extLst>
          </p:cNvPr>
          <p:cNvSpPr>
            <a:spLocks noGrp="1"/>
          </p:cNvSpPr>
          <p:nvPr>
            <p:ph type="body" sz="quarter" idx="12"/>
          </p:nvPr>
        </p:nvSpPr>
        <p:spPr/>
        <p:txBody>
          <a:bodyPr/>
          <a:lstStyle/>
          <a:p>
            <a:pPr algn="r"/>
            <a:r>
              <a:rPr lang="en-US" sz="4000" b="1" dirty="0"/>
              <a:t>ONE TIMERS vs REPEATERS</a:t>
            </a:r>
            <a:endParaRPr lang="en-IN" sz="4000" b="1" dirty="0"/>
          </a:p>
        </p:txBody>
      </p:sp>
    </p:spTree>
    <p:extLst>
      <p:ext uri="{BB962C8B-B14F-4D97-AF65-F5344CB8AC3E}">
        <p14:creationId xmlns:p14="http://schemas.microsoft.com/office/powerpoint/2010/main" val="3171038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F3EFF-B932-9C35-8D56-155BF99FE21A}"/>
              </a:ext>
            </a:extLst>
          </p:cNvPr>
          <p:cNvSpPr>
            <a:spLocks noGrp="1"/>
          </p:cNvSpPr>
          <p:nvPr>
            <p:ph type="title"/>
          </p:nvPr>
        </p:nvSpPr>
        <p:spPr/>
        <p:txBody>
          <a:bodyPr/>
          <a:lstStyle/>
          <a:p>
            <a:r>
              <a:rPr lang="en-US" dirty="0"/>
              <a:t>Active Type Distribution of One Timers and Repeaters</a:t>
            </a:r>
            <a:endParaRPr lang="en-IN" dirty="0"/>
          </a:p>
        </p:txBody>
      </p:sp>
      <p:sp>
        <p:nvSpPr>
          <p:cNvPr id="4" name="Text Placeholder 3">
            <a:extLst>
              <a:ext uri="{FF2B5EF4-FFF2-40B4-BE49-F238E27FC236}">
                <a16:creationId xmlns:a16="http://schemas.microsoft.com/office/drawing/2014/main" id="{E74D6497-5B91-281A-6E5E-E07D5120B2A0}"/>
              </a:ext>
            </a:extLst>
          </p:cNvPr>
          <p:cNvSpPr>
            <a:spLocks noGrp="1"/>
          </p:cNvSpPr>
          <p:nvPr>
            <p:ph type="body" sz="quarter" idx="12"/>
          </p:nvPr>
        </p:nvSpPr>
        <p:spPr>
          <a:xfrm>
            <a:off x="403225" y="5106988"/>
            <a:ext cx="11360150" cy="1049972"/>
          </a:xfrm>
        </p:spPr>
        <p:txBody>
          <a:bodyPr numCol="2"/>
          <a:lstStyle/>
          <a:p>
            <a:pPr marL="285750" indent="-285750">
              <a:buFont typeface="Arial" panose="020B0604020202020204" pitchFamily="34" charset="0"/>
              <a:buChar char="•"/>
            </a:pPr>
            <a:r>
              <a:rPr lang="en-US" sz="1400" dirty="0" err="1"/>
              <a:t>NightHawks</a:t>
            </a:r>
            <a:r>
              <a:rPr lang="en-US" sz="1400" dirty="0"/>
              <a:t> are mainly consisting of MNC’s employees , hostel students and Night shift customers</a:t>
            </a:r>
          </a:p>
          <a:p>
            <a:pPr marL="285750" indent="-285750">
              <a:buFont typeface="Arial" panose="020B0604020202020204" pitchFamily="34" charset="0"/>
              <a:buChar char="•"/>
            </a:pPr>
            <a:r>
              <a:rPr lang="en-US" sz="1400" dirty="0" err="1"/>
              <a:t>NightHawks</a:t>
            </a:r>
            <a:r>
              <a:rPr lang="en-US" sz="1400" dirty="0"/>
              <a:t> (12am to 5am) dominated by </a:t>
            </a:r>
            <a:r>
              <a:rPr lang="en-US" sz="1400" dirty="0" err="1"/>
              <a:t>DawnSparrows</a:t>
            </a:r>
            <a:r>
              <a:rPr lang="en-US" sz="1400" dirty="0"/>
              <a:t>(5am to 12am) in both </a:t>
            </a:r>
            <a:r>
              <a:rPr lang="en-US" sz="1400" dirty="0" err="1"/>
              <a:t>OneTimers</a:t>
            </a:r>
            <a:r>
              <a:rPr lang="en-US" sz="1400" dirty="0"/>
              <a:t> and Repeats Segmentation.</a:t>
            </a:r>
          </a:p>
          <a:p>
            <a:pPr marL="285750" indent="-285750">
              <a:buFont typeface="Arial" panose="020B0604020202020204" pitchFamily="34" charset="0"/>
              <a:buChar char="•"/>
            </a:pPr>
            <a:r>
              <a:rPr lang="en-US" sz="1400" dirty="0"/>
              <a:t>Offer late night deals and fast delivery options for nighthawks.</a:t>
            </a:r>
          </a:p>
          <a:p>
            <a:pPr marL="285750" indent="-285750">
              <a:buFont typeface="Arial" panose="020B0604020202020204" pitchFamily="34" charset="0"/>
              <a:buChar char="•"/>
            </a:pPr>
            <a:r>
              <a:rPr lang="en-US" sz="1400" dirty="0"/>
              <a:t>Offer early bird discount and offers to </a:t>
            </a:r>
            <a:r>
              <a:rPr lang="en-US" sz="1400" dirty="0" err="1"/>
              <a:t>Dawnsparrows</a:t>
            </a:r>
            <a:r>
              <a:rPr lang="en-US" sz="1400" dirty="0"/>
              <a:t>.</a:t>
            </a:r>
            <a:endParaRPr lang="en-IN" sz="1400" dirty="0"/>
          </a:p>
        </p:txBody>
      </p:sp>
      <p:sp>
        <p:nvSpPr>
          <p:cNvPr id="5" name="Chart Placeholder 4">
            <a:extLst>
              <a:ext uri="{FF2B5EF4-FFF2-40B4-BE49-F238E27FC236}">
                <a16:creationId xmlns:a16="http://schemas.microsoft.com/office/drawing/2014/main" id="{E486EE84-E286-C341-177C-46503DCD8993}"/>
              </a:ext>
            </a:extLst>
          </p:cNvPr>
          <p:cNvSpPr>
            <a:spLocks noGrp="1"/>
          </p:cNvSpPr>
          <p:nvPr>
            <p:ph type="chart" sz="quarter" idx="11"/>
          </p:nvPr>
        </p:nvSpPr>
        <p:spPr/>
      </p:sp>
      <p:pic>
        <p:nvPicPr>
          <p:cNvPr id="6" name="Picture 5">
            <a:extLst>
              <a:ext uri="{FF2B5EF4-FFF2-40B4-BE49-F238E27FC236}">
                <a16:creationId xmlns:a16="http://schemas.microsoft.com/office/drawing/2014/main" id="{27FC9358-4565-2B5E-0BF4-EAA45FDDB713}"/>
              </a:ext>
            </a:extLst>
          </p:cNvPr>
          <p:cNvPicPr>
            <a:picLocks noChangeAspect="1"/>
          </p:cNvPicPr>
          <p:nvPr/>
        </p:nvPicPr>
        <p:blipFill>
          <a:blip r:embed="rId2"/>
          <a:stretch>
            <a:fillRect/>
          </a:stretch>
        </p:blipFill>
        <p:spPr>
          <a:xfrm>
            <a:off x="997558" y="1549400"/>
            <a:ext cx="3875532" cy="2877312"/>
          </a:xfrm>
          <a:prstGeom prst="rect">
            <a:avLst/>
          </a:prstGeom>
        </p:spPr>
      </p:pic>
      <p:pic>
        <p:nvPicPr>
          <p:cNvPr id="7" name="Picture 6">
            <a:extLst>
              <a:ext uri="{FF2B5EF4-FFF2-40B4-BE49-F238E27FC236}">
                <a16:creationId xmlns:a16="http://schemas.microsoft.com/office/drawing/2014/main" id="{0D20373D-4BF9-E763-6035-8D1140A74504}"/>
              </a:ext>
            </a:extLst>
          </p:cNvPr>
          <p:cNvPicPr>
            <a:picLocks noChangeAspect="1"/>
          </p:cNvPicPr>
          <p:nvPr/>
        </p:nvPicPr>
        <p:blipFill>
          <a:blip r:embed="rId3"/>
          <a:stretch>
            <a:fillRect/>
          </a:stretch>
        </p:blipFill>
        <p:spPr>
          <a:xfrm>
            <a:off x="7913270" y="1596644"/>
            <a:ext cx="3281172" cy="2830068"/>
          </a:xfrm>
          <a:prstGeom prst="rect">
            <a:avLst/>
          </a:prstGeom>
        </p:spPr>
      </p:pic>
    </p:spTree>
    <p:extLst>
      <p:ext uri="{BB962C8B-B14F-4D97-AF65-F5344CB8AC3E}">
        <p14:creationId xmlns:p14="http://schemas.microsoft.com/office/powerpoint/2010/main" val="219032776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6712F-E5AE-A605-129D-FA43DA30B071}"/>
              </a:ext>
            </a:extLst>
          </p:cNvPr>
          <p:cNvSpPr>
            <a:spLocks noGrp="1"/>
          </p:cNvSpPr>
          <p:nvPr>
            <p:ph type="title"/>
          </p:nvPr>
        </p:nvSpPr>
        <p:spPr/>
        <p:txBody>
          <a:bodyPr/>
          <a:lstStyle/>
          <a:p>
            <a:r>
              <a:rPr lang="en-US" dirty="0"/>
              <a:t>Region Wise </a:t>
            </a:r>
            <a:r>
              <a:rPr lang="en-US" dirty="0" err="1"/>
              <a:t>OneTimers</a:t>
            </a:r>
            <a:r>
              <a:rPr lang="en-US" dirty="0"/>
              <a:t> Vs Repeaters</a:t>
            </a:r>
            <a:endParaRPr lang="en-IN" dirty="0"/>
          </a:p>
        </p:txBody>
      </p:sp>
      <p:sp>
        <p:nvSpPr>
          <p:cNvPr id="4" name="Text Placeholder 3">
            <a:extLst>
              <a:ext uri="{FF2B5EF4-FFF2-40B4-BE49-F238E27FC236}">
                <a16:creationId xmlns:a16="http://schemas.microsoft.com/office/drawing/2014/main" id="{7E009A6B-7935-9F00-77FE-CB1D5FBFA9B0}"/>
              </a:ext>
            </a:extLst>
          </p:cNvPr>
          <p:cNvSpPr>
            <a:spLocks noGrp="1"/>
          </p:cNvSpPr>
          <p:nvPr>
            <p:ph type="body" sz="quarter" idx="12"/>
          </p:nvPr>
        </p:nvSpPr>
        <p:spPr/>
        <p:txBody>
          <a:bodyPr numCol="2"/>
          <a:lstStyle/>
          <a:p>
            <a:pPr marL="285750" indent="-285750">
              <a:buFont typeface="Arial" panose="020B0604020202020204" pitchFamily="34" charset="0"/>
              <a:buChar char="•"/>
            </a:pPr>
            <a:r>
              <a:rPr lang="en-US" sz="1400" dirty="0"/>
              <a:t>Repeaters as more saturated in south region and there is no repeat customer in north region at all.</a:t>
            </a:r>
          </a:p>
          <a:p>
            <a:endParaRPr lang="en-US" sz="1400" dirty="0"/>
          </a:p>
          <a:p>
            <a:pPr marL="285750" indent="-285750">
              <a:buFont typeface="Arial" panose="020B0604020202020204" pitchFamily="34" charset="0"/>
              <a:buChar char="•"/>
            </a:pPr>
            <a:r>
              <a:rPr lang="en-US" sz="1400" dirty="0"/>
              <a:t>Optimize channel to deliver in harsh environment of East </a:t>
            </a:r>
          </a:p>
          <a:p>
            <a:pPr marL="285750" indent="-285750">
              <a:buFont typeface="Arial" panose="020B0604020202020204" pitchFamily="34" charset="0"/>
              <a:buChar char="•"/>
            </a:pPr>
            <a:r>
              <a:rPr lang="en-US" sz="1400" dirty="0"/>
              <a:t>Increase demographical reach in East.</a:t>
            </a:r>
          </a:p>
          <a:p>
            <a:endParaRPr lang="en-IN" sz="1400" dirty="0"/>
          </a:p>
        </p:txBody>
      </p:sp>
      <p:sp>
        <p:nvSpPr>
          <p:cNvPr id="7" name="Chart Placeholder 6">
            <a:extLst>
              <a:ext uri="{FF2B5EF4-FFF2-40B4-BE49-F238E27FC236}">
                <a16:creationId xmlns:a16="http://schemas.microsoft.com/office/drawing/2014/main" id="{24FD2F4D-3598-460D-C152-D4A1592B5562}"/>
              </a:ext>
            </a:extLst>
          </p:cNvPr>
          <p:cNvSpPr>
            <a:spLocks noGrp="1"/>
          </p:cNvSpPr>
          <p:nvPr>
            <p:ph type="chart" sz="quarter" idx="11"/>
          </p:nvPr>
        </p:nvSpPr>
        <p:spPr/>
      </p:sp>
      <p:pic>
        <p:nvPicPr>
          <p:cNvPr id="3" name="Picture 2">
            <a:extLst>
              <a:ext uri="{FF2B5EF4-FFF2-40B4-BE49-F238E27FC236}">
                <a16:creationId xmlns:a16="http://schemas.microsoft.com/office/drawing/2014/main" id="{C119DB0E-92D5-BB15-83C2-14E65AA8CEB8}"/>
              </a:ext>
            </a:extLst>
          </p:cNvPr>
          <p:cNvPicPr>
            <a:picLocks noChangeAspect="1"/>
          </p:cNvPicPr>
          <p:nvPr/>
        </p:nvPicPr>
        <p:blipFill>
          <a:blip r:embed="rId2"/>
          <a:stretch>
            <a:fillRect/>
          </a:stretch>
        </p:blipFill>
        <p:spPr>
          <a:xfrm>
            <a:off x="1072168" y="1549400"/>
            <a:ext cx="3633216" cy="2692908"/>
          </a:xfrm>
          <a:prstGeom prst="rect">
            <a:avLst/>
          </a:prstGeom>
        </p:spPr>
      </p:pic>
      <p:pic>
        <p:nvPicPr>
          <p:cNvPr id="5" name="Picture 4">
            <a:extLst>
              <a:ext uri="{FF2B5EF4-FFF2-40B4-BE49-F238E27FC236}">
                <a16:creationId xmlns:a16="http://schemas.microsoft.com/office/drawing/2014/main" id="{D5A833DB-91FB-43D3-A0B0-6BCAC41115C2}"/>
              </a:ext>
            </a:extLst>
          </p:cNvPr>
          <p:cNvPicPr>
            <a:picLocks noChangeAspect="1"/>
          </p:cNvPicPr>
          <p:nvPr/>
        </p:nvPicPr>
        <p:blipFill>
          <a:blip r:embed="rId3"/>
          <a:stretch>
            <a:fillRect/>
          </a:stretch>
        </p:blipFill>
        <p:spPr>
          <a:xfrm>
            <a:off x="7543004" y="1549400"/>
            <a:ext cx="3576828" cy="2645664"/>
          </a:xfrm>
          <a:prstGeom prst="rect">
            <a:avLst/>
          </a:prstGeom>
        </p:spPr>
      </p:pic>
    </p:spTree>
    <p:extLst>
      <p:ext uri="{BB962C8B-B14F-4D97-AF65-F5344CB8AC3E}">
        <p14:creationId xmlns:p14="http://schemas.microsoft.com/office/powerpoint/2010/main" val="381474833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3A2A7-1022-D032-C747-FB90D53467DB}"/>
              </a:ext>
            </a:extLst>
          </p:cNvPr>
          <p:cNvSpPr>
            <a:spLocks noGrp="1"/>
          </p:cNvSpPr>
          <p:nvPr>
            <p:ph type="title"/>
          </p:nvPr>
        </p:nvSpPr>
        <p:spPr/>
        <p:txBody>
          <a:bodyPr/>
          <a:lstStyle/>
          <a:p>
            <a:r>
              <a:rPr lang="en-US" dirty="0"/>
              <a:t>RFM Segmentation of </a:t>
            </a:r>
            <a:r>
              <a:rPr lang="en-US" dirty="0" err="1"/>
              <a:t>OneTimers</a:t>
            </a:r>
            <a:r>
              <a:rPr lang="en-US" dirty="0"/>
              <a:t> And Repeaters</a:t>
            </a:r>
            <a:endParaRPr lang="en-IN" dirty="0"/>
          </a:p>
        </p:txBody>
      </p:sp>
      <p:sp>
        <p:nvSpPr>
          <p:cNvPr id="3" name="Chart Placeholder 2">
            <a:extLst>
              <a:ext uri="{FF2B5EF4-FFF2-40B4-BE49-F238E27FC236}">
                <a16:creationId xmlns:a16="http://schemas.microsoft.com/office/drawing/2014/main" id="{9E5FDC2B-4FDE-C732-9B50-A1B8CEBAEF16}"/>
              </a:ext>
            </a:extLst>
          </p:cNvPr>
          <p:cNvSpPr>
            <a:spLocks noGrp="1"/>
          </p:cNvSpPr>
          <p:nvPr>
            <p:ph type="chart" sz="quarter" idx="11"/>
          </p:nvPr>
        </p:nvSpPr>
        <p:spPr/>
      </p:sp>
      <p:sp>
        <p:nvSpPr>
          <p:cNvPr id="4" name="Text Placeholder 3">
            <a:extLst>
              <a:ext uri="{FF2B5EF4-FFF2-40B4-BE49-F238E27FC236}">
                <a16:creationId xmlns:a16="http://schemas.microsoft.com/office/drawing/2014/main" id="{5889C0F8-D658-F67D-A8B0-6D6551E7623B}"/>
              </a:ext>
            </a:extLst>
          </p:cNvPr>
          <p:cNvSpPr>
            <a:spLocks noGrp="1"/>
          </p:cNvSpPr>
          <p:nvPr>
            <p:ph type="body" sz="quarter" idx="12"/>
          </p:nvPr>
        </p:nvSpPr>
        <p:spPr/>
        <p:txBody>
          <a:bodyPr numCol="2"/>
          <a:lstStyle/>
          <a:p>
            <a:pPr marL="285750" indent="-285750">
              <a:buFont typeface="Arial" panose="020B0604020202020204" pitchFamily="34" charset="0"/>
              <a:buChar char="•"/>
            </a:pPr>
            <a:r>
              <a:rPr lang="en-US" sz="1400" dirty="0"/>
              <a:t>Standard and At risk combined holds more than 30% shares where as premium customers are only 7%</a:t>
            </a:r>
            <a:r>
              <a:rPr lang="en-IN" sz="1400" dirty="0"/>
              <a:t> in </a:t>
            </a:r>
            <a:r>
              <a:rPr lang="en-IN" sz="1400" dirty="0" err="1"/>
              <a:t>OneTimers</a:t>
            </a:r>
            <a:endParaRPr lang="en-IN" sz="1400" dirty="0"/>
          </a:p>
          <a:p>
            <a:pPr marL="285750" indent="-285750">
              <a:buFont typeface="Arial" panose="020B0604020202020204" pitchFamily="34" charset="0"/>
              <a:buChar char="•"/>
            </a:pPr>
            <a:r>
              <a:rPr lang="en-IN" sz="1400" dirty="0"/>
              <a:t>More than 50% of Repeater are At risk.</a:t>
            </a:r>
          </a:p>
          <a:p>
            <a:pPr marL="285750" indent="-285750">
              <a:buFont typeface="Arial" panose="020B0604020202020204" pitchFamily="34" charset="0"/>
              <a:buChar char="•"/>
            </a:pPr>
            <a:endParaRPr lang="en-IN" sz="1400" dirty="0"/>
          </a:p>
          <a:p>
            <a:pPr marL="285750" indent="-285750">
              <a:buFont typeface="Arial" panose="020B0604020202020204" pitchFamily="34" charset="0"/>
              <a:buChar char="•"/>
            </a:pPr>
            <a:r>
              <a:rPr lang="en-US" sz="1400" dirty="0"/>
              <a:t>Encourage ,by Providing timely reminder of offers which reduce recency and increase frequency of gold, silver ,standard customers to Push them into upper segment.</a:t>
            </a:r>
          </a:p>
          <a:p>
            <a:pPr marL="285750" indent="-285750">
              <a:buFont typeface="Arial" panose="020B0604020202020204" pitchFamily="34" charset="0"/>
              <a:buChar char="•"/>
            </a:pPr>
            <a:endParaRPr lang="en-US" sz="1400" dirty="0"/>
          </a:p>
        </p:txBody>
      </p:sp>
      <p:pic>
        <p:nvPicPr>
          <p:cNvPr id="5" name="Picture 4">
            <a:extLst>
              <a:ext uri="{FF2B5EF4-FFF2-40B4-BE49-F238E27FC236}">
                <a16:creationId xmlns:a16="http://schemas.microsoft.com/office/drawing/2014/main" id="{B9A45F74-0AF8-734C-3229-10ED7827AEF3}"/>
              </a:ext>
            </a:extLst>
          </p:cNvPr>
          <p:cNvPicPr>
            <a:picLocks noChangeAspect="1"/>
          </p:cNvPicPr>
          <p:nvPr/>
        </p:nvPicPr>
        <p:blipFill>
          <a:blip r:embed="rId2"/>
          <a:stretch>
            <a:fillRect/>
          </a:stretch>
        </p:blipFill>
        <p:spPr>
          <a:xfrm>
            <a:off x="1065015" y="1549400"/>
            <a:ext cx="3156204" cy="2619756"/>
          </a:xfrm>
          <a:prstGeom prst="rect">
            <a:avLst/>
          </a:prstGeom>
        </p:spPr>
      </p:pic>
      <p:pic>
        <p:nvPicPr>
          <p:cNvPr id="6" name="Picture 5">
            <a:extLst>
              <a:ext uri="{FF2B5EF4-FFF2-40B4-BE49-F238E27FC236}">
                <a16:creationId xmlns:a16="http://schemas.microsoft.com/office/drawing/2014/main" id="{C12B4E68-7896-6F34-6D0F-99BF522013C3}"/>
              </a:ext>
            </a:extLst>
          </p:cNvPr>
          <p:cNvPicPr>
            <a:picLocks noChangeAspect="1"/>
          </p:cNvPicPr>
          <p:nvPr/>
        </p:nvPicPr>
        <p:blipFill>
          <a:blip r:embed="rId3"/>
          <a:stretch>
            <a:fillRect/>
          </a:stretch>
        </p:blipFill>
        <p:spPr>
          <a:xfrm>
            <a:off x="8162805" y="1549400"/>
            <a:ext cx="2964180" cy="2648712"/>
          </a:xfrm>
          <a:prstGeom prst="rect">
            <a:avLst/>
          </a:prstGeom>
        </p:spPr>
      </p:pic>
    </p:spTree>
    <p:extLst>
      <p:ext uri="{BB962C8B-B14F-4D97-AF65-F5344CB8AC3E}">
        <p14:creationId xmlns:p14="http://schemas.microsoft.com/office/powerpoint/2010/main" val="403747943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4C267-BD58-079E-EA8F-151B9A68F2A8}"/>
              </a:ext>
            </a:extLst>
          </p:cNvPr>
          <p:cNvSpPr>
            <a:spLocks noGrp="1"/>
          </p:cNvSpPr>
          <p:nvPr>
            <p:ph type="title"/>
          </p:nvPr>
        </p:nvSpPr>
        <p:spPr/>
        <p:txBody>
          <a:bodyPr/>
          <a:lstStyle/>
          <a:p>
            <a:r>
              <a:rPr lang="en-US" dirty="0"/>
              <a:t>Gender Distribution of </a:t>
            </a:r>
            <a:r>
              <a:rPr lang="en-US" dirty="0" err="1"/>
              <a:t>OneTimers</a:t>
            </a:r>
            <a:r>
              <a:rPr lang="en-US" dirty="0"/>
              <a:t> vs Repeaters</a:t>
            </a:r>
            <a:endParaRPr lang="en-IN" dirty="0"/>
          </a:p>
        </p:txBody>
      </p:sp>
      <p:sp>
        <p:nvSpPr>
          <p:cNvPr id="4" name="Text Placeholder 3">
            <a:extLst>
              <a:ext uri="{FF2B5EF4-FFF2-40B4-BE49-F238E27FC236}">
                <a16:creationId xmlns:a16="http://schemas.microsoft.com/office/drawing/2014/main" id="{D7980592-0D27-107F-B942-1DC38EE9CF8F}"/>
              </a:ext>
            </a:extLst>
          </p:cNvPr>
          <p:cNvSpPr>
            <a:spLocks noGrp="1"/>
          </p:cNvSpPr>
          <p:nvPr>
            <p:ph type="body" sz="quarter" idx="12"/>
          </p:nvPr>
        </p:nvSpPr>
        <p:spPr/>
        <p:txBody>
          <a:bodyPr numCol="2"/>
          <a:lstStyle/>
          <a:p>
            <a:pPr marL="285750" indent="-285750">
              <a:buFont typeface="Arial" panose="020B0604020202020204" pitchFamily="34" charset="0"/>
              <a:buChar char="•"/>
            </a:pPr>
            <a:r>
              <a:rPr lang="en-US" sz="1400" dirty="0"/>
              <a:t>Females are dominant with around 70% share as both One-Timers as well as Repeaters</a:t>
            </a:r>
            <a:r>
              <a:rPr lang="en-IN" sz="1400" dirty="0"/>
              <a:t>.</a:t>
            </a:r>
          </a:p>
          <a:p>
            <a:pPr marL="285750" indent="-285750">
              <a:buFont typeface="Arial" panose="020B0604020202020204" pitchFamily="34" charset="0"/>
              <a:buChar char="•"/>
            </a:pPr>
            <a:endParaRPr lang="en-IN" sz="1400" dirty="0"/>
          </a:p>
          <a:p>
            <a:pPr marL="285750" indent="-285750">
              <a:buFont typeface="Arial" panose="020B0604020202020204" pitchFamily="34" charset="0"/>
              <a:buChar char="•"/>
            </a:pPr>
            <a:r>
              <a:rPr lang="en-IN" sz="1400" dirty="0"/>
              <a:t>Add Male centric categories like sports product, fashions, perfume.</a:t>
            </a:r>
          </a:p>
          <a:p>
            <a:pPr marL="285750" indent="-285750">
              <a:buFont typeface="Arial" panose="020B0604020202020204" pitchFamily="34" charset="0"/>
              <a:buChar char="•"/>
            </a:pPr>
            <a:endParaRPr lang="en-US" sz="1400" dirty="0"/>
          </a:p>
        </p:txBody>
      </p:sp>
      <p:sp>
        <p:nvSpPr>
          <p:cNvPr id="5" name="Chart Placeholder 4">
            <a:extLst>
              <a:ext uri="{FF2B5EF4-FFF2-40B4-BE49-F238E27FC236}">
                <a16:creationId xmlns:a16="http://schemas.microsoft.com/office/drawing/2014/main" id="{E6C21DAA-CD94-E3DC-182A-479517BF01A2}"/>
              </a:ext>
            </a:extLst>
          </p:cNvPr>
          <p:cNvSpPr>
            <a:spLocks noGrp="1"/>
          </p:cNvSpPr>
          <p:nvPr>
            <p:ph type="chart" sz="quarter" idx="11"/>
          </p:nvPr>
        </p:nvSpPr>
        <p:spPr/>
      </p:sp>
      <p:pic>
        <p:nvPicPr>
          <p:cNvPr id="6" name="Picture 5">
            <a:extLst>
              <a:ext uri="{FF2B5EF4-FFF2-40B4-BE49-F238E27FC236}">
                <a16:creationId xmlns:a16="http://schemas.microsoft.com/office/drawing/2014/main" id="{A92497EB-7A3B-6349-A616-96134F431DF6}"/>
              </a:ext>
            </a:extLst>
          </p:cNvPr>
          <p:cNvPicPr>
            <a:picLocks noChangeAspect="1"/>
          </p:cNvPicPr>
          <p:nvPr/>
        </p:nvPicPr>
        <p:blipFill>
          <a:blip r:embed="rId2"/>
          <a:stretch>
            <a:fillRect/>
          </a:stretch>
        </p:blipFill>
        <p:spPr>
          <a:xfrm>
            <a:off x="1034295" y="1549400"/>
            <a:ext cx="2398776" cy="2523744"/>
          </a:xfrm>
          <a:prstGeom prst="rect">
            <a:avLst/>
          </a:prstGeom>
        </p:spPr>
      </p:pic>
      <p:pic>
        <p:nvPicPr>
          <p:cNvPr id="9" name="Picture 8">
            <a:extLst>
              <a:ext uri="{FF2B5EF4-FFF2-40B4-BE49-F238E27FC236}">
                <a16:creationId xmlns:a16="http://schemas.microsoft.com/office/drawing/2014/main" id="{DFB273DC-B9DB-D0B1-285E-AFADA47751B2}"/>
              </a:ext>
            </a:extLst>
          </p:cNvPr>
          <p:cNvPicPr>
            <a:picLocks noChangeAspect="1"/>
          </p:cNvPicPr>
          <p:nvPr/>
        </p:nvPicPr>
        <p:blipFill>
          <a:blip r:embed="rId3"/>
          <a:stretch>
            <a:fillRect/>
          </a:stretch>
        </p:blipFill>
        <p:spPr>
          <a:xfrm>
            <a:off x="8641581" y="1549400"/>
            <a:ext cx="2516124" cy="2417064"/>
          </a:xfrm>
          <a:prstGeom prst="rect">
            <a:avLst/>
          </a:prstGeom>
        </p:spPr>
      </p:pic>
    </p:spTree>
    <p:extLst>
      <p:ext uri="{BB962C8B-B14F-4D97-AF65-F5344CB8AC3E}">
        <p14:creationId xmlns:p14="http://schemas.microsoft.com/office/powerpoint/2010/main" val="37467407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E937E-408A-645E-0253-B7B822E50121}"/>
              </a:ext>
            </a:extLst>
          </p:cNvPr>
          <p:cNvSpPr>
            <a:spLocks noGrp="1"/>
          </p:cNvSpPr>
          <p:nvPr>
            <p:ph type="title"/>
          </p:nvPr>
        </p:nvSpPr>
        <p:spPr/>
        <p:txBody>
          <a:bodyPr/>
          <a:lstStyle/>
          <a:p>
            <a:r>
              <a:rPr lang="en-US" dirty="0"/>
              <a:t>Customer Discount Segmentation of </a:t>
            </a:r>
            <a:r>
              <a:rPr lang="en-US" dirty="0" err="1"/>
              <a:t>OneTimers</a:t>
            </a:r>
            <a:r>
              <a:rPr lang="en-US" dirty="0"/>
              <a:t> and Repeaters</a:t>
            </a:r>
            <a:endParaRPr lang="en-IN" dirty="0"/>
          </a:p>
        </p:txBody>
      </p:sp>
      <p:sp>
        <p:nvSpPr>
          <p:cNvPr id="3" name="Chart Placeholder 2">
            <a:extLst>
              <a:ext uri="{FF2B5EF4-FFF2-40B4-BE49-F238E27FC236}">
                <a16:creationId xmlns:a16="http://schemas.microsoft.com/office/drawing/2014/main" id="{F75B1EFD-9545-9C64-EF99-4316CBCE74F2}"/>
              </a:ext>
            </a:extLst>
          </p:cNvPr>
          <p:cNvSpPr>
            <a:spLocks noGrp="1"/>
          </p:cNvSpPr>
          <p:nvPr>
            <p:ph type="chart" sz="quarter" idx="11"/>
          </p:nvPr>
        </p:nvSpPr>
        <p:spPr/>
      </p:sp>
      <p:sp>
        <p:nvSpPr>
          <p:cNvPr id="4" name="Text Placeholder 3">
            <a:extLst>
              <a:ext uri="{FF2B5EF4-FFF2-40B4-BE49-F238E27FC236}">
                <a16:creationId xmlns:a16="http://schemas.microsoft.com/office/drawing/2014/main" id="{5C7032A6-ED97-A299-7096-E1749A70ACAB}"/>
              </a:ext>
            </a:extLst>
          </p:cNvPr>
          <p:cNvSpPr>
            <a:spLocks noGrp="1"/>
          </p:cNvSpPr>
          <p:nvPr>
            <p:ph type="body" sz="quarter" idx="12"/>
          </p:nvPr>
        </p:nvSpPr>
        <p:spPr/>
        <p:txBody>
          <a:bodyPr numCol="2"/>
          <a:lstStyle/>
          <a:p>
            <a:pPr marL="285750" indent="-285750">
              <a:buFont typeface="Arial" panose="020B0604020202020204" pitchFamily="34" charset="0"/>
              <a:buChar char="•"/>
            </a:pPr>
            <a:r>
              <a:rPr lang="en-US" sz="1400" dirty="0"/>
              <a:t>Discount Seekers shows 17% decline in Repeat Buyers </a:t>
            </a:r>
          </a:p>
          <a:p>
            <a:pPr marL="285750" indent="-285750">
              <a:buFont typeface="Arial" panose="020B0604020202020204" pitchFamily="34" charset="0"/>
              <a:buChar char="•"/>
            </a:pPr>
            <a:r>
              <a:rPr lang="en-US" sz="1400" dirty="0"/>
              <a:t>Consumer base is mainly consisting of Non-Discount Seekers.</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Use cross selling strategies with daily use segment for Non-Discount Seekers and work on optimizing consumer experience.</a:t>
            </a:r>
          </a:p>
          <a:p>
            <a:pPr marL="285750" indent="-285750">
              <a:buFont typeface="Arial" panose="020B0604020202020204" pitchFamily="34" charset="0"/>
              <a:buChar char="•"/>
            </a:pPr>
            <a:r>
              <a:rPr lang="en-US" sz="1400" dirty="0"/>
              <a:t>Provide Timely reminder to seekers to boast seasonal sales.</a:t>
            </a:r>
            <a:endParaRPr lang="en-IN" sz="1400" dirty="0"/>
          </a:p>
        </p:txBody>
      </p:sp>
      <p:pic>
        <p:nvPicPr>
          <p:cNvPr id="7" name="Picture 6">
            <a:extLst>
              <a:ext uri="{FF2B5EF4-FFF2-40B4-BE49-F238E27FC236}">
                <a16:creationId xmlns:a16="http://schemas.microsoft.com/office/drawing/2014/main" id="{04BC7EBF-F1FB-708A-57F7-7EEA75AAEA06}"/>
              </a:ext>
            </a:extLst>
          </p:cNvPr>
          <p:cNvPicPr>
            <a:picLocks noChangeAspect="1"/>
          </p:cNvPicPr>
          <p:nvPr/>
        </p:nvPicPr>
        <p:blipFill>
          <a:blip r:embed="rId2"/>
          <a:stretch>
            <a:fillRect/>
          </a:stretch>
        </p:blipFill>
        <p:spPr>
          <a:xfrm>
            <a:off x="1040665" y="1549400"/>
            <a:ext cx="2276856" cy="2580132"/>
          </a:xfrm>
          <a:prstGeom prst="rect">
            <a:avLst/>
          </a:prstGeom>
        </p:spPr>
      </p:pic>
      <p:pic>
        <p:nvPicPr>
          <p:cNvPr id="8" name="Picture 7">
            <a:extLst>
              <a:ext uri="{FF2B5EF4-FFF2-40B4-BE49-F238E27FC236}">
                <a16:creationId xmlns:a16="http://schemas.microsoft.com/office/drawing/2014/main" id="{3BFC67B6-02F0-3413-E536-20BAB009EE5C}"/>
              </a:ext>
            </a:extLst>
          </p:cNvPr>
          <p:cNvPicPr>
            <a:picLocks noChangeAspect="1"/>
          </p:cNvPicPr>
          <p:nvPr/>
        </p:nvPicPr>
        <p:blipFill>
          <a:blip r:embed="rId3"/>
          <a:stretch>
            <a:fillRect/>
          </a:stretch>
        </p:blipFill>
        <p:spPr>
          <a:xfrm>
            <a:off x="8874481" y="1549400"/>
            <a:ext cx="2299716" cy="2531364"/>
          </a:xfrm>
          <a:prstGeom prst="rect">
            <a:avLst/>
          </a:prstGeom>
        </p:spPr>
      </p:pic>
    </p:spTree>
    <p:extLst>
      <p:ext uri="{BB962C8B-B14F-4D97-AF65-F5344CB8AC3E}">
        <p14:creationId xmlns:p14="http://schemas.microsoft.com/office/powerpoint/2010/main" val="327772414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D8644-9DBA-1645-47CF-3E4E16FA0BEF}"/>
              </a:ext>
            </a:extLst>
          </p:cNvPr>
          <p:cNvSpPr>
            <a:spLocks noGrp="1"/>
          </p:cNvSpPr>
          <p:nvPr>
            <p:ph type="title"/>
          </p:nvPr>
        </p:nvSpPr>
        <p:spPr/>
        <p:txBody>
          <a:bodyPr/>
          <a:lstStyle/>
          <a:p>
            <a:r>
              <a:rPr lang="en-US" dirty="0"/>
              <a:t>Preferred Categories by </a:t>
            </a:r>
            <a:r>
              <a:rPr lang="en-US" dirty="0" err="1"/>
              <a:t>OneTimers</a:t>
            </a:r>
            <a:r>
              <a:rPr lang="en-US" dirty="0"/>
              <a:t> and Repeaters</a:t>
            </a:r>
            <a:endParaRPr lang="en-IN" dirty="0"/>
          </a:p>
        </p:txBody>
      </p:sp>
      <p:sp>
        <p:nvSpPr>
          <p:cNvPr id="3" name="Chart Placeholder 2">
            <a:extLst>
              <a:ext uri="{FF2B5EF4-FFF2-40B4-BE49-F238E27FC236}">
                <a16:creationId xmlns:a16="http://schemas.microsoft.com/office/drawing/2014/main" id="{92405B47-08C1-A505-EAB5-07F0973D9838}"/>
              </a:ext>
            </a:extLst>
          </p:cNvPr>
          <p:cNvSpPr>
            <a:spLocks noGrp="1"/>
          </p:cNvSpPr>
          <p:nvPr>
            <p:ph type="chart" sz="quarter" idx="11"/>
          </p:nvPr>
        </p:nvSpPr>
        <p:spPr>
          <a:xfrm>
            <a:off x="427999" y="1058401"/>
            <a:ext cx="11529549" cy="3527247"/>
          </a:xfrm>
        </p:spPr>
      </p:sp>
      <p:sp>
        <p:nvSpPr>
          <p:cNvPr id="4" name="Text Placeholder 3">
            <a:extLst>
              <a:ext uri="{FF2B5EF4-FFF2-40B4-BE49-F238E27FC236}">
                <a16:creationId xmlns:a16="http://schemas.microsoft.com/office/drawing/2014/main" id="{8AB002C3-0C96-0C51-B492-DF8221E8A1FF}"/>
              </a:ext>
            </a:extLst>
          </p:cNvPr>
          <p:cNvSpPr>
            <a:spLocks noGrp="1"/>
          </p:cNvSpPr>
          <p:nvPr>
            <p:ph type="body" sz="quarter" idx="12"/>
          </p:nvPr>
        </p:nvSpPr>
        <p:spPr>
          <a:xfrm>
            <a:off x="427999" y="5145206"/>
            <a:ext cx="11335376" cy="982639"/>
          </a:xfrm>
        </p:spPr>
        <p:txBody>
          <a:bodyPr numCol="2"/>
          <a:lstStyle/>
          <a:p>
            <a:pPr marL="285750" indent="-285750">
              <a:buFont typeface="Arial" panose="020B0604020202020204" pitchFamily="34" charset="0"/>
              <a:buChar char="•"/>
            </a:pPr>
            <a:r>
              <a:rPr lang="en-US" sz="1400" dirty="0"/>
              <a:t>Electronics, Pet-Shop, Fashion are contributing least in sales for one timers .as well as Repeaters</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IN" sz="1400" dirty="0"/>
              <a:t>Optimize inventory with latest fashion.</a:t>
            </a:r>
          </a:p>
          <a:p>
            <a:pPr marL="285750" indent="-285750">
              <a:buFont typeface="Arial" panose="020B0604020202020204" pitchFamily="34" charset="0"/>
              <a:buChar char="•"/>
            </a:pPr>
            <a:r>
              <a:rPr lang="en-IN" sz="1400" dirty="0"/>
              <a:t>Offer services like on-site veterinarian clinic and pet grooming</a:t>
            </a:r>
          </a:p>
          <a:p>
            <a:pPr marL="285750" indent="-285750">
              <a:buFont typeface="Arial" panose="020B0604020202020204" pitchFamily="34" charset="0"/>
              <a:buChar char="•"/>
            </a:pPr>
            <a:r>
              <a:rPr lang="en-IN" sz="1400" dirty="0"/>
              <a:t>Offer after sales services on Electronics..</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endParaRPr lang="en-US" sz="1400" dirty="0"/>
          </a:p>
        </p:txBody>
      </p:sp>
      <p:pic>
        <p:nvPicPr>
          <p:cNvPr id="5" name="Picture 4">
            <a:extLst>
              <a:ext uri="{FF2B5EF4-FFF2-40B4-BE49-F238E27FC236}">
                <a16:creationId xmlns:a16="http://schemas.microsoft.com/office/drawing/2014/main" id="{295EDD7B-35E7-FDE3-DCE9-3B04CFB6AD82}"/>
              </a:ext>
            </a:extLst>
          </p:cNvPr>
          <p:cNvPicPr>
            <a:picLocks noChangeAspect="1"/>
          </p:cNvPicPr>
          <p:nvPr/>
        </p:nvPicPr>
        <p:blipFill>
          <a:blip r:embed="rId2"/>
          <a:stretch>
            <a:fillRect/>
          </a:stretch>
        </p:blipFill>
        <p:spPr>
          <a:xfrm>
            <a:off x="427999" y="1617958"/>
            <a:ext cx="7095355" cy="2967690"/>
          </a:xfrm>
          <a:prstGeom prst="rect">
            <a:avLst/>
          </a:prstGeom>
        </p:spPr>
      </p:pic>
      <p:pic>
        <p:nvPicPr>
          <p:cNvPr id="6" name="Picture 5">
            <a:extLst>
              <a:ext uri="{FF2B5EF4-FFF2-40B4-BE49-F238E27FC236}">
                <a16:creationId xmlns:a16="http://schemas.microsoft.com/office/drawing/2014/main" id="{7B565946-E288-483E-A009-0E11C10239F0}"/>
              </a:ext>
            </a:extLst>
          </p:cNvPr>
          <p:cNvPicPr>
            <a:picLocks noChangeAspect="1"/>
          </p:cNvPicPr>
          <p:nvPr/>
        </p:nvPicPr>
        <p:blipFill>
          <a:blip r:embed="rId3"/>
          <a:stretch>
            <a:fillRect/>
          </a:stretch>
        </p:blipFill>
        <p:spPr>
          <a:xfrm>
            <a:off x="7554866" y="1617956"/>
            <a:ext cx="4402682" cy="2967691"/>
          </a:xfrm>
          <a:prstGeom prst="rect">
            <a:avLst/>
          </a:prstGeom>
        </p:spPr>
      </p:pic>
    </p:spTree>
    <p:extLst>
      <p:ext uri="{BB962C8B-B14F-4D97-AF65-F5344CB8AC3E}">
        <p14:creationId xmlns:p14="http://schemas.microsoft.com/office/powerpoint/2010/main" val="330256485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8311E-D63A-EC50-00C6-4540EE9BD68B}"/>
              </a:ext>
            </a:extLst>
          </p:cNvPr>
          <p:cNvSpPr>
            <a:spLocks noGrp="1"/>
          </p:cNvSpPr>
          <p:nvPr>
            <p:ph type="title"/>
          </p:nvPr>
        </p:nvSpPr>
        <p:spPr/>
        <p:txBody>
          <a:bodyPr/>
          <a:lstStyle/>
          <a:p>
            <a:r>
              <a:rPr lang="en-US" dirty="0"/>
              <a:t>Preferred Channel by </a:t>
            </a:r>
            <a:r>
              <a:rPr lang="en-US" dirty="0" err="1"/>
              <a:t>OneTimers</a:t>
            </a:r>
            <a:r>
              <a:rPr lang="en-US" dirty="0"/>
              <a:t> and Repeaters </a:t>
            </a:r>
            <a:endParaRPr lang="en-IN" dirty="0"/>
          </a:p>
        </p:txBody>
      </p:sp>
      <p:sp>
        <p:nvSpPr>
          <p:cNvPr id="3" name="Chart Placeholder 2">
            <a:extLst>
              <a:ext uri="{FF2B5EF4-FFF2-40B4-BE49-F238E27FC236}">
                <a16:creationId xmlns:a16="http://schemas.microsoft.com/office/drawing/2014/main" id="{99C56743-ED25-E444-6393-EBD20A154A09}"/>
              </a:ext>
            </a:extLst>
          </p:cNvPr>
          <p:cNvSpPr>
            <a:spLocks noGrp="1"/>
          </p:cNvSpPr>
          <p:nvPr>
            <p:ph type="chart" sz="quarter" idx="11"/>
          </p:nvPr>
        </p:nvSpPr>
        <p:spPr/>
      </p:sp>
      <p:sp>
        <p:nvSpPr>
          <p:cNvPr id="4" name="Text Placeholder 3">
            <a:extLst>
              <a:ext uri="{FF2B5EF4-FFF2-40B4-BE49-F238E27FC236}">
                <a16:creationId xmlns:a16="http://schemas.microsoft.com/office/drawing/2014/main" id="{097733F7-BBFF-3C71-935B-F5D70306192B}"/>
              </a:ext>
            </a:extLst>
          </p:cNvPr>
          <p:cNvSpPr>
            <a:spLocks noGrp="1"/>
          </p:cNvSpPr>
          <p:nvPr>
            <p:ph type="body" sz="quarter" idx="12"/>
          </p:nvPr>
        </p:nvSpPr>
        <p:spPr/>
        <p:txBody>
          <a:bodyPr numCol="2"/>
          <a:lstStyle/>
          <a:p>
            <a:pPr marL="285750" indent="-285750">
              <a:buFont typeface="Arial" panose="020B0604020202020204" pitchFamily="34" charset="0"/>
              <a:buChar char="•"/>
            </a:pPr>
            <a:r>
              <a:rPr lang="en-US" sz="1400" dirty="0"/>
              <a:t>Around 90% customers prefer buying threw instore channel</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Optimize product positioning with cross selling and positioning strategies like V-Shaped display, Pyramid, </a:t>
            </a:r>
          </a:p>
          <a:p>
            <a:pPr marL="285750" indent="-285750">
              <a:buFont typeface="Arial" panose="020B0604020202020204" pitchFamily="34" charset="0"/>
              <a:buChar char="•"/>
            </a:pPr>
            <a:r>
              <a:rPr lang="en-US" sz="1400" dirty="0"/>
              <a:t>Create better interface of online application </a:t>
            </a:r>
            <a:endParaRPr lang="en-IN" sz="1400" dirty="0"/>
          </a:p>
        </p:txBody>
      </p:sp>
      <p:pic>
        <p:nvPicPr>
          <p:cNvPr id="5" name="Picture 4">
            <a:extLst>
              <a:ext uri="{FF2B5EF4-FFF2-40B4-BE49-F238E27FC236}">
                <a16:creationId xmlns:a16="http://schemas.microsoft.com/office/drawing/2014/main" id="{9F39B286-3BE0-D4C5-5F70-93F1AD5C64AA}"/>
              </a:ext>
            </a:extLst>
          </p:cNvPr>
          <p:cNvPicPr>
            <a:picLocks noChangeAspect="1"/>
          </p:cNvPicPr>
          <p:nvPr/>
        </p:nvPicPr>
        <p:blipFill>
          <a:blip r:embed="rId2"/>
          <a:stretch>
            <a:fillRect/>
          </a:stretch>
        </p:blipFill>
        <p:spPr>
          <a:xfrm>
            <a:off x="1044065" y="1549400"/>
            <a:ext cx="2433828" cy="2897124"/>
          </a:xfrm>
          <a:prstGeom prst="rect">
            <a:avLst/>
          </a:prstGeom>
        </p:spPr>
      </p:pic>
      <p:pic>
        <p:nvPicPr>
          <p:cNvPr id="6" name="Picture 5">
            <a:extLst>
              <a:ext uri="{FF2B5EF4-FFF2-40B4-BE49-F238E27FC236}">
                <a16:creationId xmlns:a16="http://schemas.microsoft.com/office/drawing/2014/main" id="{C35FEDA9-A8D4-5869-622B-50E5A492B53A}"/>
              </a:ext>
            </a:extLst>
          </p:cNvPr>
          <p:cNvPicPr>
            <a:picLocks noChangeAspect="1"/>
          </p:cNvPicPr>
          <p:nvPr/>
        </p:nvPicPr>
        <p:blipFill>
          <a:blip r:embed="rId3"/>
          <a:stretch>
            <a:fillRect/>
          </a:stretch>
        </p:blipFill>
        <p:spPr>
          <a:xfrm>
            <a:off x="8756779" y="1549400"/>
            <a:ext cx="2391156" cy="2929128"/>
          </a:xfrm>
          <a:prstGeom prst="rect">
            <a:avLst/>
          </a:prstGeom>
        </p:spPr>
      </p:pic>
    </p:spTree>
    <p:extLst>
      <p:ext uri="{BB962C8B-B14F-4D97-AF65-F5344CB8AC3E}">
        <p14:creationId xmlns:p14="http://schemas.microsoft.com/office/powerpoint/2010/main" val="32800546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7BCBE-BC93-8079-781C-2335D2015B5C}"/>
              </a:ext>
            </a:extLst>
          </p:cNvPr>
          <p:cNvSpPr>
            <a:spLocks noGrp="1"/>
          </p:cNvSpPr>
          <p:nvPr>
            <p:ph type="title"/>
          </p:nvPr>
        </p:nvSpPr>
        <p:spPr/>
        <p:txBody>
          <a:bodyPr/>
          <a:lstStyle/>
          <a:p>
            <a:r>
              <a:rPr lang="en-US" dirty="0"/>
              <a:t>State of </a:t>
            </a:r>
            <a:r>
              <a:rPr lang="en-US" dirty="0" err="1"/>
              <a:t>OneTimers</a:t>
            </a:r>
            <a:r>
              <a:rPr lang="en-US" dirty="0"/>
              <a:t> and Repeaters</a:t>
            </a:r>
            <a:endParaRPr lang="en-IN" dirty="0"/>
          </a:p>
        </p:txBody>
      </p:sp>
      <p:pic>
        <p:nvPicPr>
          <p:cNvPr id="5" name="Chart Placeholder 4">
            <a:extLst>
              <a:ext uri="{FF2B5EF4-FFF2-40B4-BE49-F238E27FC236}">
                <a16:creationId xmlns:a16="http://schemas.microsoft.com/office/drawing/2014/main" id="{3C0319AF-2ACA-B740-7620-547218CA9000}"/>
              </a:ext>
            </a:extLst>
          </p:cNvPr>
          <p:cNvPicPr>
            <a:picLocks noGrp="1" noChangeAspect="1"/>
          </p:cNvPicPr>
          <p:nvPr>
            <p:ph type="chart" sz="quarter" idx="11"/>
          </p:nvPr>
        </p:nvPicPr>
        <p:blipFill>
          <a:blip r:embed="rId2"/>
          <a:stretch>
            <a:fillRect/>
          </a:stretch>
        </p:blipFill>
        <p:spPr>
          <a:xfrm>
            <a:off x="403200" y="1276445"/>
            <a:ext cx="5306720" cy="3539395"/>
          </a:xfrm>
          <a:prstGeom prst="rect">
            <a:avLst/>
          </a:prstGeom>
        </p:spPr>
      </p:pic>
      <p:sp>
        <p:nvSpPr>
          <p:cNvPr id="4" name="Text Placeholder 3">
            <a:extLst>
              <a:ext uri="{FF2B5EF4-FFF2-40B4-BE49-F238E27FC236}">
                <a16:creationId xmlns:a16="http://schemas.microsoft.com/office/drawing/2014/main" id="{0FA29B6F-D289-214B-CE7C-9F9DC3F3AD2E}"/>
              </a:ext>
            </a:extLst>
          </p:cNvPr>
          <p:cNvSpPr>
            <a:spLocks noGrp="1"/>
          </p:cNvSpPr>
          <p:nvPr>
            <p:ph type="body" sz="quarter" idx="12"/>
          </p:nvPr>
        </p:nvSpPr>
        <p:spPr/>
        <p:txBody>
          <a:bodyPr numCol="2"/>
          <a:lstStyle/>
          <a:p>
            <a:pPr marL="285750" indent="-285750">
              <a:buFont typeface="Arial" panose="020B0604020202020204" pitchFamily="34" charset="0"/>
              <a:buChar char="•"/>
            </a:pPr>
            <a:r>
              <a:rPr lang="en-US" sz="1400" dirty="0"/>
              <a:t>Andhra Pradesh contributes around 60% of both One-timers and Repeaters whereas goa only contributes even less than 1%.</a:t>
            </a:r>
          </a:p>
          <a:p>
            <a:pPr marL="285750" indent="-285750">
              <a:buFont typeface="Arial" panose="020B0604020202020204" pitchFamily="34" charset="0"/>
              <a:buChar char="•"/>
            </a:pPr>
            <a:r>
              <a:rPr lang="en-US" sz="1400" dirty="0"/>
              <a:t>There is no Regional diversification.</a:t>
            </a:r>
          </a:p>
          <a:p>
            <a:pPr marL="285750" indent="-285750">
              <a:buFont typeface="Arial" panose="020B0604020202020204" pitchFamily="34" charset="0"/>
              <a:buChar char="•"/>
            </a:pPr>
            <a:r>
              <a:rPr lang="en-US" sz="1400" dirty="0"/>
              <a:t>Invest Resources to diversify sales by expanding demographical reach, channel optimization, promotions and campaigns in local languages.</a:t>
            </a:r>
          </a:p>
        </p:txBody>
      </p:sp>
      <p:pic>
        <p:nvPicPr>
          <p:cNvPr id="6" name="Picture 5">
            <a:extLst>
              <a:ext uri="{FF2B5EF4-FFF2-40B4-BE49-F238E27FC236}">
                <a16:creationId xmlns:a16="http://schemas.microsoft.com/office/drawing/2014/main" id="{24FC4BD3-AF1C-56FA-8990-D71918B25FD3}"/>
              </a:ext>
            </a:extLst>
          </p:cNvPr>
          <p:cNvPicPr>
            <a:picLocks noChangeAspect="1"/>
          </p:cNvPicPr>
          <p:nvPr/>
        </p:nvPicPr>
        <p:blipFill>
          <a:blip r:embed="rId3"/>
          <a:stretch>
            <a:fillRect/>
          </a:stretch>
        </p:blipFill>
        <p:spPr>
          <a:xfrm>
            <a:off x="6277970" y="1466603"/>
            <a:ext cx="5485405" cy="3159077"/>
          </a:xfrm>
          <a:prstGeom prst="rect">
            <a:avLst/>
          </a:prstGeom>
        </p:spPr>
      </p:pic>
    </p:spTree>
    <p:extLst>
      <p:ext uri="{BB962C8B-B14F-4D97-AF65-F5344CB8AC3E}">
        <p14:creationId xmlns:p14="http://schemas.microsoft.com/office/powerpoint/2010/main" val="167103064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3953F-21F3-DA11-A9D2-CDDA7536E7E2}"/>
              </a:ext>
            </a:extLst>
          </p:cNvPr>
          <p:cNvSpPr>
            <a:spLocks noGrp="1"/>
          </p:cNvSpPr>
          <p:nvPr>
            <p:ph type="title"/>
          </p:nvPr>
        </p:nvSpPr>
        <p:spPr/>
        <p:txBody>
          <a:bodyPr/>
          <a:lstStyle/>
          <a:p>
            <a:r>
              <a:rPr lang="en-US" dirty="0" err="1"/>
              <a:t>Prefered</a:t>
            </a:r>
            <a:r>
              <a:rPr lang="en-US" dirty="0"/>
              <a:t> Payment Mode of </a:t>
            </a:r>
            <a:r>
              <a:rPr lang="en-US" dirty="0" err="1"/>
              <a:t>Onetimers</a:t>
            </a:r>
            <a:r>
              <a:rPr lang="en-US" dirty="0"/>
              <a:t> and Repeaters</a:t>
            </a:r>
            <a:endParaRPr lang="en-IN" dirty="0"/>
          </a:p>
        </p:txBody>
      </p:sp>
      <p:sp>
        <p:nvSpPr>
          <p:cNvPr id="3" name="Chart Placeholder 2">
            <a:extLst>
              <a:ext uri="{FF2B5EF4-FFF2-40B4-BE49-F238E27FC236}">
                <a16:creationId xmlns:a16="http://schemas.microsoft.com/office/drawing/2014/main" id="{DD9A1701-21FE-EF6C-78C5-85DD1152004D}"/>
              </a:ext>
            </a:extLst>
          </p:cNvPr>
          <p:cNvSpPr>
            <a:spLocks noGrp="1"/>
          </p:cNvSpPr>
          <p:nvPr>
            <p:ph type="chart" sz="quarter" idx="11"/>
          </p:nvPr>
        </p:nvSpPr>
        <p:spPr/>
      </p:sp>
      <p:sp>
        <p:nvSpPr>
          <p:cNvPr id="4" name="Text Placeholder 3">
            <a:extLst>
              <a:ext uri="{FF2B5EF4-FFF2-40B4-BE49-F238E27FC236}">
                <a16:creationId xmlns:a16="http://schemas.microsoft.com/office/drawing/2014/main" id="{A769C8FF-169A-EF10-8D62-DFCD46F88C8A}"/>
              </a:ext>
            </a:extLst>
          </p:cNvPr>
          <p:cNvSpPr>
            <a:spLocks noGrp="1"/>
          </p:cNvSpPr>
          <p:nvPr>
            <p:ph type="body" sz="quarter" idx="12"/>
          </p:nvPr>
        </p:nvSpPr>
        <p:spPr/>
        <p:txBody>
          <a:bodyPr numCol="2"/>
          <a:lstStyle/>
          <a:p>
            <a:pPr marL="285750" indent="-285750">
              <a:buFont typeface="Arial" panose="020B0604020202020204" pitchFamily="34" charset="0"/>
              <a:buChar char="•"/>
            </a:pPr>
            <a:r>
              <a:rPr lang="en-US" sz="1400" dirty="0"/>
              <a:t>Credit card contributes around 75% of total transactions done by both One-Timers and Repeaters where as debit card and vouchers are contributing around 5%.</a:t>
            </a:r>
          </a:p>
          <a:p>
            <a:endParaRPr lang="en-US" sz="1400" dirty="0"/>
          </a:p>
          <a:p>
            <a:pPr marL="285750" indent="-285750">
              <a:buFont typeface="Arial" panose="020B0604020202020204" pitchFamily="34" charset="0"/>
              <a:buChar char="•"/>
            </a:pPr>
            <a:r>
              <a:rPr lang="en-US" sz="1400" dirty="0"/>
              <a:t>Establish collaboration with banks for offers.</a:t>
            </a:r>
          </a:p>
          <a:p>
            <a:pPr marL="285750" indent="-285750">
              <a:buFont typeface="Arial" panose="020B0604020202020204" pitchFamily="34" charset="0"/>
              <a:buChar char="•"/>
            </a:pPr>
            <a:r>
              <a:rPr lang="en-US" sz="1400" dirty="0"/>
              <a:t>Offer vouchers with great discount on minimum purchase value which will increase sales and retain customers.</a:t>
            </a:r>
          </a:p>
          <a:p>
            <a:pPr marL="285750" indent="-285750">
              <a:buFont typeface="Arial" panose="020B0604020202020204" pitchFamily="34" charset="0"/>
              <a:buChar char="•"/>
            </a:pPr>
            <a:endParaRPr lang="en-US" sz="1400" dirty="0"/>
          </a:p>
        </p:txBody>
      </p:sp>
      <p:pic>
        <p:nvPicPr>
          <p:cNvPr id="7" name="Picture 6">
            <a:extLst>
              <a:ext uri="{FF2B5EF4-FFF2-40B4-BE49-F238E27FC236}">
                <a16:creationId xmlns:a16="http://schemas.microsoft.com/office/drawing/2014/main" id="{01CDDC8F-AA8A-8DD9-B9C8-40A76FACEB87}"/>
              </a:ext>
            </a:extLst>
          </p:cNvPr>
          <p:cNvPicPr>
            <a:picLocks noChangeAspect="1"/>
          </p:cNvPicPr>
          <p:nvPr/>
        </p:nvPicPr>
        <p:blipFill>
          <a:blip r:embed="rId2"/>
          <a:stretch>
            <a:fillRect/>
          </a:stretch>
        </p:blipFill>
        <p:spPr>
          <a:xfrm>
            <a:off x="1088568" y="1549400"/>
            <a:ext cx="3136392" cy="2814828"/>
          </a:xfrm>
          <a:prstGeom prst="rect">
            <a:avLst/>
          </a:prstGeom>
        </p:spPr>
      </p:pic>
      <p:pic>
        <p:nvPicPr>
          <p:cNvPr id="8" name="Picture 7">
            <a:extLst>
              <a:ext uri="{FF2B5EF4-FFF2-40B4-BE49-F238E27FC236}">
                <a16:creationId xmlns:a16="http://schemas.microsoft.com/office/drawing/2014/main" id="{B1CD950D-D34F-E40F-9684-AEF6B2A6C35D}"/>
              </a:ext>
            </a:extLst>
          </p:cNvPr>
          <p:cNvPicPr>
            <a:picLocks noChangeAspect="1"/>
          </p:cNvPicPr>
          <p:nvPr/>
        </p:nvPicPr>
        <p:blipFill>
          <a:blip r:embed="rId3"/>
          <a:stretch>
            <a:fillRect/>
          </a:stretch>
        </p:blipFill>
        <p:spPr>
          <a:xfrm>
            <a:off x="8149169" y="1549400"/>
            <a:ext cx="3072384" cy="2859024"/>
          </a:xfrm>
          <a:prstGeom prst="rect">
            <a:avLst/>
          </a:prstGeom>
        </p:spPr>
      </p:pic>
    </p:spTree>
    <p:extLst>
      <p:ext uri="{BB962C8B-B14F-4D97-AF65-F5344CB8AC3E}">
        <p14:creationId xmlns:p14="http://schemas.microsoft.com/office/powerpoint/2010/main" val="400918875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E4089-AD08-C0A3-7CC4-62F996F2F4F1}"/>
              </a:ext>
            </a:extLst>
          </p:cNvPr>
          <p:cNvSpPr>
            <a:spLocks noGrp="1"/>
          </p:cNvSpPr>
          <p:nvPr>
            <p:ph type="title"/>
          </p:nvPr>
        </p:nvSpPr>
        <p:spPr/>
        <p:txBody>
          <a:bodyPr/>
          <a:lstStyle/>
          <a:p>
            <a:r>
              <a:rPr lang="en-US" dirty="0"/>
              <a:t>Preferred Quarter of </a:t>
            </a:r>
            <a:r>
              <a:rPr lang="en-US" dirty="0" err="1"/>
              <a:t>OneTimers</a:t>
            </a:r>
            <a:r>
              <a:rPr lang="en-US" dirty="0"/>
              <a:t> and </a:t>
            </a:r>
            <a:r>
              <a:rPr lang="en-US" dirty="0" err="1"/>
              <a:t>Repater</a:t>
            </a:r>
            <a:endParaRPr lang="en-IN" dirty="0"/>
          </a:p>
        </p:txBody>
      </p:sp>
      <p:sp>
        <p:nvSpPr>
          <p:cNvPr id="3" name="Chart Placeholder 2">
            <a:extLst>
              <a:ext uri="{FF2B5EF4-FFF2-40B4-BE49-F238E27FC236}">
                <a16:creationId xmlns:a16="http://schemas.microsoft.com/office/drawing/2014/main" id="{EA548010-6F68-3518-87B2-5405F8CBB4A9}"/>
              </a:ext>
            </a:extLst>
          </p:cNvPr>
          <p:cNvSpPr>
            <a:spLocks noGrp="1"/>
          </p:cNvSpPr>
          <p:nvPr>
            <p:ph type="chart" sz="quarter" idx="11"/>
          </p:nvPr>
        </p:nvSpPr>
        <p:spPr/>
      </p:sp>
      <p:sp>
        <p:nvSpPr>
          <p:cNvPr id="4" name="Text Placeholder 3">
            <a:extLst>
              <a:ext uri="{FF2B5EF4-FFF2-40B4-BE49-F238E27FC236}">
                <a16:creationId xmlns:a16="http://schemas.microsoft.com/office/drawing/2014/main" id="{BDA4380C-09C9-07EC-93DA-D0B9402A996B}"/>
              </a:ext>
            </a:extLst>
          </p:cNvPr>
          <p:cNvSpPr>
            <a:spLocks noGrp="1"/>
          </p:cNvSpPr>
          <p:nvPr>
            <p:ph type="body" sz="quarter" idx="12"/>
          </p:nvPr>
        </p:nvSpPr>
        <p:spPr/>
        <p:txBody>
          <a:bodyPr numCol="2"/>
          <a:lstStyle/>
          <a:p>
            <a:pPr marL="342900" indent="-342900">
              <a:buFont typeface="Arial" panose="020B0604020202020204" pitchFamily="34" charset="0"/>
              <a:buChar char="•"/>
            </a:pPr>
            <a:r>
              <a:rPr lang="en-US" sz="1400" dirty="0"/>
              <a:t>Quarters are diversified</a:t>
            </a:r>
          </a:p>
          <a:p>
            <a:endParaRPr lang="en-US" sz="1400" dirty="0"/>
          </a:p>
          <a:p>
            <a:endParaRPr lang="en-US" sz="1400" dirty="0"/>
          </a:p>
          <a:p>
            <a:pPr marL="285750" indent="-285750">
              <a:buFont typeface="Arial" panose="020B0604020202020204" pitchFamily="34" charset="0"/>
              <a:buChar char="•"/>
            </a:pPr>
            <a:r>
              <a:rPr lang="en-US" sz="1400" dirty="0"/>
              <a:t>Target Q2 and Q3 which will increase seasonal sales due to festive seasons like Diwali, Navratri, Independence day, Christmas, new year and more.</a:t>
            </a:r>
          </a:p>
        </p:txBody>
      </p:sp>
      <p:pic>
        <p:nvPicPr>
          <p:cNvPr id="7" name="Picture 6">
            <a:extLst>
              <a:ext uri="{FF2B5EF4-FFF2-40B4-BE49-F238E27FC236}">
                <a16:creationId xmlns:a16="http://schemas.microsoft.com/office/drawing/2014/main" id="{5E8DFE3F-9984-73F4-7C83-B9EC4EAC196E}"/>
              </a:ext>
            </a:extLst>
          </p:cNvPr>
          <p:cNvPicPr>
            <a:picLocks noChangeAspect="1"/>
          </p:cNvPicPr>
          <p:nvPr/>
        </p:nvPicPr>
        <p:blipFill>
          <a:blip r:embed="rId2"/>
          <a:stretch>
            <a:fillRect/>
          </a:stretch>
        </p:blipFill>
        <p:spPr>
          <a:xfrm>
            <a:off x="1082938" y="1549400"/>
            <a:ext cx="2656332" cy="2776728"/>
          </a:xfrm>
          <a:prstGeom prst="rect">
            <a:avLst/>
          </a:prstGeom>
        </p:spPr>
      </p:pic>
      <p:pic>
        <p:nvPicPr>
          <p:cNvPr id="8" name="Picture 7">
            <a:extLst>
              <a:ext uri="{FF2B5EF4-FFF2-40B4-BE49-F238E27FC236}">
                <a16:creationId xmlns:a16="http://schemas.microsoft.com/office/drawing/2014/main" id="{3FE51A9A-2005-3058-6839-7EBD12DD026C}"/>
              </a:ext>
            </a:extLst>
          </p:cNvPr>
          <p:cNvPicPr>
            <a:picLocks noChangeAspect="1"/>
          </p:cNvPicPr>
          <p:nvPr/>
        </p:nvPicPr>
        <p:blipFill>
          <a:blip r:embed="rId3"/>
          <a:stretch>
            <a:fillRect/>
          </a:stretch>
        </p:blipFill>
        <p:spPr>
          <a:xfrm>
            <a:off x="8595986" y="1549400"/>
            <a:ext cx="2513076" cy="2892552"/>
          </a:xfrm>
          <a:prstGeom prst="rect">
            <a:avLst/>
          </a:prstGeom>
        </p:spPr>
      </p:pic>
    </p:spTree>
    <p:extLst>
      <p:ext uri="{BB962C8B-B14F-4D97-AF65-F5344CB8AC3E}">
        <p14:creationId xmlns:p14="http://schemas.microsoft.com/office/powerpoint/2010/main" val="162119083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F2F3FA-80E4-F4A7-23C0-962F3C44269B}"/>
              </a:ext>
            </a:extLst>
          </p:cNvPr>
          <p:cNvSpPr>
            <a:spLocks noGrp="1"/>
          </p:cNvSpPr>
          <p:nvPr>
            <p:ph type="title"/>
          </p:nvPr>
        </p:nvSpPr>
        <p:spPr/>
        <p:txBody>
          <a:bodyPr/>
          <a:lstStyle/>
          <a:p>
            <a:endParaRPr lang="en-IN"/>
          </a:p>
        </p:txBody>
      </p:sp>
      <p:sp>
        <p:nvSpPr>
          <p:cNvPr id="4" name="Text Placeholder 3">
            <a:extLst>
              <a:ext uri="{FF2B5EF4-FFF2-40B4-BE49-F238E27FC236}">
                <a16:creationId xmlns:a16="http://schemas.microsoft.com/office/drawing/2014/main" id="{56EAD1F9-569F-C0B9-FDA2-57A56459C312}"/>
              </a:ext>
            </a:extLst>
          </p:cNvPr>
          <p:cNvSpPr>
            <a:spLocks noGrp="1"/>
          </p:cNvSpPr>
          <p:nvPr>
            <p:ph type="body" sz="quarter" idx="12"/>
          </p:nvPr>
        </p:nvSpPr>
        <p:spPr/>
        <p:txBody>
          <a:bodyPr/>
          <a:lstStyle/>
          <a:p>
            <a:pPr algn="r"/>
            <a:r>
              <a:rPr lang="en-US" sz="4000" b="1" dirty="0"/>
              <a:t>NIGHT-HAWK vs DAWN-SPARROW</a:t>
            </a:r>
            <a:endParaRPr lang="en-IN" sz="4000" b="1" dirty="0"/>
          </a:p>
        </p:txBody>
      </p:sp>
    </p:spTree>
    <p:extLst>
      <p:ext uri="{BB962C8B-B14F-4D97-AF65-F5344CB8AC3E}">
        <p14:creationId xmlns:p14="http://schemas.microsoft.com/office/powerpoint/2010/main" val="115001995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6BA0C-9913-7256-E4F8-651EC91137B7}"/>
              </a:ext>
            </a:extLst>
          </p:cNvPr>
          <p:cNvSpPr>
            <a:spLocks noGrp="1"/>
          </p:cNvSpPr>
          <p:nvPr>
            <p:ph type="title"/>
          </p:nvPr>
        </p:nvSpPr>
        <p:spPr/>
        <p:txBody>
          <a:bodyPr/>
          <a:lstStyle/>
          <a:p>
            <a:r>
              <a:rPr lang="en-US" dirty="0"/>
              <a:t>Store Wise Active Type</a:t>
            </a:r>
            <a:endParaRPr lang="en-IN" dirty="0"/>
          </a:p>
        </p:txBody>
      </p:sp>
      <p:sp>
        <p:nvSpPr>
          <p:cNvPr id="4" name="Text Placeholder 3">
            <a:extLst>
              <a:ext uri="{FF2B5EF4-FFF2-40B4-BE49-F238E27FC236}">
                <a16:creationId xmlns:a16="http://schemas.microsoft.com/office/drawing/2014/main" id="{AB01C655-59FC-E388-EE2C-8E6C496AAF8A}"/>
              </a:ext>
            </a:extLst>
          </p:cNvPr>
          <p:cNvSpPr>
            <a:spLocks noGrp="1"/>
          </p:cNvSpPr>
          <p:nvPr>
            <p:ph type="body" sz="quarter" idx="12"/>
          </p:nvPr>
        </p:nvSpPr>
        <p:spPr>
          <a:xfrm>
            <a:off x="7847463" y="1549400"/>
            <a:ext cx="3915912" cy="4500563"/>
          </a:xfrm>
        </p:spPr>
        <p:txBody>
          <a:bodyPr/>
          <a:lstStyle/>
          <a:p>
            <a:pPr marL="285750" indent="-285750">
              <a:buFont typeface="Arial" panose="020B0604020202020204" pitchFamily="34" charset="0"/>
              <a:buChar char="•"/>
            </a:pPr>
            <a:r>
              <a:rPr lang="en-US" sz="1400" dirty="0"/>
              <a:t>We see a Trend of south region having highest contribution which once broke buy west.</a:t>
            </a:r>
          </a:p>
          <a:p>
            <a:pPr marL="285750" indent="-285750">
              <a:buFont typeface="Arial" panose="020B0604020202020204" pitchFamily="34" charset="0"/>
              <a:buChar char="•"/>
            </a:pPr>
            <a:r>
              <a:rPr lang="en-US" sz="1400" dirty="0"/>
              <a:t>North contributes least.</a:t>
            </a:r>
          </a:p>
          <a:p>
            <a:pPr marL="285750" indent="-285750">
              <a:buFont typeface="Arial" panose="020B0604020202020204" pitchFamily="34" charset="0"/>
              <a:buChar char="•"/>
            </a:pPr>
            <a:r>
              <a:rPr lang="en-US" sz="1400" dirty="0"/>
              <a:t>The Distribution of Nighthawks and Dawnsparrows are similar for all store</a:t>
            </a:r>
          </a:p>
          <a:p>
            <a:endParaRPr lang="en-IN" sz="1400" dirty="0"/>
          </a:p>
          <a:p>
            <a:endParaRPr lang="en-IN" sz="1400" dirty="0"/>
          </a:p>
          <a:p>
            <a:endParaRPr lang="en-IN" sz="1400" dirty="0"/>
          </a:p>
          <a:p>
            <a:pPr marL="285750" indent="-285750">
              <a:buFont typeface="Arial" panose="020B0604020202020204" pitchFamily="34" charset="0"/>
              <a:buChar char="•"/>
            </a:pPr>
            <a:r>
              <a:rPr lang="en-IN" sz="1400" dirty="0"/>
              <a:t>Initiate Segment based promotion in North Region to boast engagement of customers</a:t>
            </a:r>
          </a:p>
          <a:p>
            <a:pPr marL="285750" indent="-285750">
              <a:buFont typeface="Arial" panose="020B0604020202020204" pitchFamily="34" charset="0"/>
              <a:buChar char="•"/>
            </a:pPr>
            <a:r>
              <a:rPr lang="en-IN" sz="1400" dirty="0"/>
              <a:t>Optimize channel for better delivery at night and provide early bird discounts </a:t>
            </a:r>
          </a:p>
        </p:txBody>
      </p:sp>
      <p:pic>
        <p:nvPicPr>
          <p:cNvPr id="6" name="Chart Placeholder 5">
            <a:extLst>
              <a:ext uri="{FF2B5EF4-FFF2-40B4-BE49-F238E27FC236}">
                <a16:creationId xmlns:a16="http://schemas.microsoft.com/office/drawing/2014/main" id="{33D27D76-F1CF-CC88-FAC4-5A1EA6A11F6A}"/>
              </a:ext>
            </a:extLst>
          </p:cNvPr>
          <p:cNvPicPr>
            <a:picLocks noGrp="1" noChangeAspect="1"/>
          </p:cNvPicPr>
          <p:nvPr>
            <p:ph type="chart" sz="quarter" idx="11"/>
          </p:nvPr>
        </p:nvPicPr>
        <p:blipFill>
          <a:blip r:embed="rId2"/>
          <a:stretch>
            <a:fillRect/>
          </a:stretch>
        </p:blipFill>
        <p:spPr>
          <a:xfrm>
            <a:off x="403225" y="1576276"/>
            <a:ext cx="7443788" cy="4446811"/>
          </a:xfrm>
          <a:prstGeom prst="rect">
            <a:avLst/>
          </a:prstGeom>
        </p:spPr>
      </p:pic>
    </p:spTree>
    <p:extLst>
      <p:ext uri="{BB962C8B-B14F-4D97-AF65-F5344CB8AC3E}">
        <p14:creationId xmlns:p14="http://schemas.microsoft.com/office/powerpoint/2010/main" val="82425228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9192B-7D85-B8F3-7CD8-A5D61DA1D9EE}"/>
              </a:ext>
            </a:extLst>
          </p:cNvPr>
          <p:cNvSpPr>
            <a:spLocks noGrp="1"/>
          </p:cNvSpPr>
          <p:nvPr>
            <p:ph type="title"/>
          </p:nvPr>
        </p:nvSpPr>
        <p:spPr/>
        <p:txBody>
          <a:bodyPr>
            <a:normAutofit fontScale="90000"/>
          </a:bodyPr>
          <a:lstStyle/>
          <a:p>
            <a:r>
              <a:rPr lang="en-US" dirty="0"/>
              <a:t>Dawnsparrows vs Nighthawks Preferred Category Percent Distribution</a:t>
            </a:r>
            <a:br>
              <a:rPr lang="en-US" dirty="0"/>
            </a:br>
            <a:endParaRPr lang="en-IN" dirty="0"/>
          </a:p>
        </p:txBody>
      </p:sp>
      <p:pic>
        <p:nvPicPr>
          <p:cNvPr id="5" name="Chart Placeholder 4">
            <a:extLst>
              <a:ext uri="{FF2B5EF4-FFF2-40B4-BE49-F238E27FC236}">
                <a16:creationId xmlns:a16="http://schemas.microsoft.com/office/drawing/2014/main" id="{4F1F687C-1EC7-AC1A-795F-9D618FAC5479}"/>
              </a:ext>
            </a:extLst>
          </p:cNvPr>
          <p:cNvPicPr>
            <a:picLocks noGrp="1" noChangeAspect="1"/>
          </p:cNvPicPr>
          <p:nvPr>
            <p:ph type="chart" sz="quarter" idx="11"/>
          </p:nvPr>
        </p:nvPicPr>
        <p:blipFill>
          <a:blip r:embed="rId2"/>
          <a:stretch>
            <a:fillRect/>
          </a:stretch>
        </p:blipFill>
        <p:spPr>
          <a:xfrm>
            <a:off x="403200" y="1255594"/>
            <a:ext cx="6802818" cy="3534770"/>
          </a:xfrm>
          <a:prstGeom prst="rect">
            <a:avLst/>
          </a:prstGeom>
        </p:spPr>
      </p:pic>
      <p:sp>
        <p:nvSpPr>
          <p:cNvPr id="4" name="Text Placeholder 3">
            <a:extLst>
              <a:ext uri="{FF2B5EF4-FFF2-40B4-BE49-F238E27FC236}">
                <a16:creationId xmlns:a16="http://schemas.microsoft.com/office/drawing/2014/main" id="{899DEB51-FB41-4B33-7991-EE52A3DF3D28}"/>
              </a:ext>
            </a:extLst>
          </p:cNvPr>
          <p:cNvSpPr>
            <a:spLocks noGrp="1"/>
          </p:cNvSpPr>
          <p:nvPr>
            <p:ph type="body" sz="quarter" idx="12"/>
          </p:nvPr>
        </p:nvSpPr>
        <p:spPr/>
        <p:txBody>
          <a:bodyPr numCol="2"/>
          <a:lstStyle/>
          <a:p>
            <a:pPr marL="285750" indent="-285750">
              <a:buFont typeface="Arial" panose="020B0604020202020204" pitchFamily="34" charset="0"/>
              <a:buChar char="•"/>
            </a:pPr>
            <a:r>
              <a:rPr lang="en-US" sz="1400" dirty="0"/>
              <a:t>Fashion, Pet shop, Electronics are categories with lowest penetration</a:t>
            </a:r>
            <a:r>
              <a:rPr lang="en-IN" sz="1400" dirty="0"/>
              <a:t> where as Home appliances, Baby products and Toys gifts are with highest penetration.</a:t>
            </a:r>
          </a:p>
          <a:p>
            <a:pPr marL="285750" indent="-285750">
              <a:buFont typeface="Arial" panose="020B0604020202020204" pitchFamily="34" charset="0"/>
              <a:buChar char="•"/>
            </a:pPr>
            <a:r>
              <a:rPr lang="en-IN" sz="1400" dirty="0"/>
              <a:t>Optimize inventory with latest fashion.</a:t>
            </a:r>
          </a:p>
          <a:p>
            <a:pPr marL="285750" indent="-285750">
              <a:buFont typeface="Arial" panose="020B0604020202020204" pitchFamily="34" charset="0"/>
              <a:buChar char="•"/>
            </a:pPr>
            <a:r>
              <a:rPr lang="en-IN" sz="1400" dirty="0"/>
              <a:t>Offer services like on-site veterinarian clinic and pet grooming</a:t>
            </a:r>
          </a:p>
          <a:p>
            <a:pPr marL="285750" indent="-285750">
              <a:buFont typeface="Arial" panose="020B0604020202020204" pitchFamily="34" charset="0"/>
              <a:buChar char="•"/>
            </a:pPr>
            <a:r>
              <a:rPr lang="en-IN" sz="1400" dirty="0"/>
              <a:t>Offer private space for baby feeding and play areas for parents</a:t>
            </a:r>
          </a:p>
        </p:txBody>
      </p:sp>
      <p:pic>
        <p:nvPicPr>
          <p:cNvPr id="6" name="Picture 5">
            <a:extLst>
              <a:ext uri="{FF2B5EF4-FFF2-40B4-BE49-F238E27FC236}">
                <a16:creationId xmlns:a16="http://schemas.microsoft.com/office/drawing/2014/main" id="{EB5BACBD-C832-2BE1-F2BE-E0172E3237CD}"/>
              </a:ext>
            </a:extLst>
          </p:cNvPr>
          <p:cNvPicPr>
            <a:picLocks noChangeAspect="1"/>
          </p:cNvPicPr>
          <p:nvPr/>
        </p:nvPicPr>
        <p:blipFill>
          <a:blip r:embed="rId3"/>
          <a:stretch>
            <a:fillRect/>
          </a:stretch>
        </p:blipFill>
        <p:spPr>
          <a:xfrm>
            <a:off x="7206018" y="1375024"/>
            <a:ext cx="4557356" cy="3127276"/>
          </a:xfrm>
          <a:prstGeom prst="rect">
            <a:avLst/>
          </a:prstGeom>
        </p:spPr>
      </p:pic>
    </p:spTree>
    <p:extLst>
      <p:ext uri="{BB962C8B-B14F-4D97-AF65-F5344CB8AC3E}">
        <p14:creationId xmlns:p14="http://schemas.microsoft.com/office/powerpoint/2010/main" val="291697372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BA756-1E37-5BE2-0B56-A3A8E6AD57D6}"/>
              </a:ext>
            </a:extLst>
          </p:cNvPr>
          <p:cNvSpPr>
            <a:spLocks noGrp="1"/>
          </p:cNvSpPr>
          <p:nvPr>
            <p:ph type="title"/>
          </p:nvPr>
        </p:nvSpPr>
        <p:spPr/>
        <p:txBody>
          <a:bodyPr>
            <a:normAutofit fontScale="90000"/>
          </a:bodyPr>
          <a:lstStyle/>
          <a:p>
            <a:r>
              <a:rPr lang="en-US" dirty="0"/>
              <a:t>Payment Mode Percent Distribution of Dawnsparrows and Nighthawks</a:t>
            </a:r>
            <a:endParaRPr lang="en-IN" dirty="0"/>
          </a:p>
        </p:txBody>
      </p:sp>
      <p:pic>
        <p:nvPicPr>
          <p:cNvPr id="8" name="Chart Placeholder 7">
            <a:extLst>
              <a:ext uri="{FF2B5EF4-FFF2-40B4-BE49-F238E27FC236}">
                <a16:creationId xmlns:a16="http://schemas.microsoft.com/office/drawing/2014/main" id="{22A4AC7B-3EA4-212D-1A07-C8E1D386C26D}"/>
              </a:ext>
            </a:extLst>
          </p:cNvPr>
          <p:cNvPicPr>
            <a:picLocks noGrp="1" noChangeAspect="1"/>
          </p:cNvPicPr>
          <p:nvPr>
            <p:ph type="chart" sz="quarter" idx="11"/>
          </p:nvPr>
        </p:nvPicPr>
        <p:blipFill>
          <a:blip r:embed="rId2"/>
          <a:stretch>
            <a:fillRect/>
          </a:stretch>
        </p:blipFill>
        <p:spPr>
          <a:xfrm>
            <a:off x="8222389" y="1549400"/>
            <a:ext cx="2906268" cy="2520696"/>
          </a:xfrm>
          <a:prstGeom prst="rect">
            <a:avLst/>
          </a:prstGeom>
        </p:spPr>
      </p:pic>
      <p:sp>
        <p:nvSpPr>
          <p:cNvPr id="4" name="Text Placeholder 3">
            <a:extLst>
              <a:ext uri="{FF2B5EF4-FFF2-40B4-BE49-F238E27FC236}">
                <a16:creationId xmlns:a16="http://schemas.microsoft.com/office/drawing/2014/main" id="{A4E7AB27-E1D3-FC2E-6CCB-343D0E15A6B4}"/>
              </a:ext>
            </a:extLst>
          </p:cNvPr>
          <p:cNvSpPr>
            <a:spLocks noGrp="1"/>
          </p:cNvSpPr>
          <p:nvPr>
            <p:ph type="body" sz="quarter" idx="12"/>
          </p:nvPr>
        </p:nvSpPr>
        <p:spPr/>
        <p:txBody>
          <a:bodyPr numCol="2"/>
          <a:lstStyle/>
          <a:p>
            <a:pPr marL="285750" indent="-285750">
              <a:buFont typeface="Arial" panose="020B0604020202020204" pitchFamily="34" charset="0"/>
              <a:buChar char="•"/>
            </a:pPr>
            <a:r>
              <a:rPr lang="en-US" sz="1400" dirty="0"/>
              <a:t>D</a:t>
            </a:r>
            <a:r>
              <a:rPr lang="en-IN" sz="1400" dirty="0" err="1"/>
              <a:t>awnSparrows</a:t>
            </a:r>
            <a:r>
              <a:rPr lang="en-IN" sz="1400" dirty="0"/>
              <a:t> prefer Credit card which is around 90% as payment mode where as </a:t>
            </a:r>
            <a:r>
              <a:rPr lang="en-IN" sz="1400" dirty="0" err="1"/>
              <a:t>NightHawks</a:t>
            </a:r>
            <a:r>
              <a:rPr lang="en-IN" sz="1400" dirty="0"/>
              <a:t> prefer UPI/Cash.</a:t>
            </a:r>
          </a:p>
          <a:p>
            <a:endParaRPr lang="en-IN" sz="1400" dirty="0"/>
          </a:p>
          <a:p>
            <a:endParaRPr lang="en-IN" sz="1400" dirty="0"/>
          </a:p>
          <a:p>
            <a:pPr marL="285750" indent="-285750">
              <a:buFont typeface="Arial" panose="020B0604020202020204" pitchFamily="34" charset="0"/>
              <a:buChar char="•"/>
            </a:pPr>
            <a:r>
              <a:rPr lang="en-IN" sz="1400" dirty="0"/>
              <a:t>Offer exclusive credit card promotions to attract and retain DS.</a:t>
            </a:r>
          </a:p>
          <a:p>
            <a:pPr marL="285750" indent="-285750">
              <a:buFont typeface="Arial" panose="020B0604020202020204" pitchFamily="34" charset="0"/>
              <a:buChar char="•"/>
            </a:pPr>
            <a:r>
              <a:rPr lang="en-IN" sz="1400" dirty="0"/>
              <a:t>Enable fast UPI/Cash counters and instant payment offers to cater  to NH preferences.</a:t>
            </a:r>
          </a:p>
          <a:p>
            <a:pPr marL="285750" indent="-285750">
              <a:buFont typeface="Arial" panose="020B0604020202020204" pitchFamily="34" charset="0"/>
              <a:buChar char="•"/>
            </a:pPr>
            <a:endParaRPr lang="en-US" sz="1400" dirty="0"/>
          </a:p>
        </p:txBody>
      </p:sp>
      <p:pic>
        <p:nvPicPr>
          <p:cNvPr id="7" name="Picture 6">
            <a:extLst>
              <a:ext uri="{FF2B5EF4-FFF2-40B4-BE49-F238E27FC236}">
                <a16:creationId xmlns:a16="http://schemas.microsoft.com/office/drawing/2014/main" id="{0AA21699-A605-EAEC-24F5-0E3DCE7935D9}"/>
              </a:ext>
            </a:extLst>
          </p:cNvPr>
          <p:cNvPicPr>
            <a:picLocks noChangeAspect="1"/>
          </p:cNvPicPr>
          <p:nvPr/>
        </p:nvPicPr>
        <p:blipFill>
          <a:blip r:embed="rId3"/>
          <a:stretch>
            <a:fillRect/>
          </a:stretch>
        </p:blipFill>
        <p:spPr>
          <a:xfrm>
            <a:off x="1063343" y="1549400"/>
            <a:ext cx="2913888" cy="2561844"/>
          </a:xfrm>
          <a:prstGeom prst="rect">
            <a:avLst/>
          </a:prstGeom>
        </p:spPr>
      </p:pic>
    </p:spTree>
    <p:extLst>
      <p:ext uri="{BB962C8B-B14F-4D97-AF65-F5344CB8AC3E}">
        <p14:creationId xmlns:p14="http://schemas.microsoft.com/office/powerpoint/2010/main" val="213352853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F306-0044-5581-5588-4D3A8FCCFA2F}"/>
              </a:ext>
            </a:extLst>
          </p:cNvPr>
          <p:cNvSpPr>
            <a:spLocks noGrp="1"/>
          </p:cNvSpPr>
          <p:nvPr>
            <p:ph type="title"/>
          </p:nvPr>
        </p:nvSpPr>
        <p:spPr/>
        <p:txBody>
          <a:bodyPr/>
          <a:lstStyle/>
          <a:p>
            <a:r>
              <a:rPr lang="en-US" dirty="0"/>
              <a:t>Channel Preference Distribution of Active Type</a:t>
            </a:r>
            <a:endParaRPr lang="en-IN" dirty="0"/>
          </a:p>
        </p:txBody>
      </p:sp>
      <p:sp>
        <p:nvSpPr>
          <p:cNvPr id="4" name="Text Placeholder 3">
            <a:extLst>
              <a:ext uri="{FF2B5EF4-FFF2-40B4-BE49-F238E27FC236}">
                <a16:creationId xmlns:a16="http://schemas.microsoft.com/office/drawing/2014/main" id="{DCC07C5C-52DD-6137-C10F-384894A72BD7}"/>
              </a:ext>
            </a:extLst>
          </p:cNvPr>
          <p:cNvSpPr>
            <a:spLocks noGrp="1"/>
          </p:cNvSpPr>
          <p:nvPr>
            <p:ph type="body" sz="quarter" idx="12"/>
          </p:nvPr>
        </p:nvSpPr>
        <p:spPr/>
        <p:txBody>
          <a:bodyPr numCol="2"/>
          <a:lstStyle/>
          <a:p>
            <a:pPr marL="285750" indent="-285750">
              <a:buFont typeface="Arial" panose="020B0604020202020204" pitchFamily="34" charset="0"/>
              <a:buChar char="•"/>
            </a:pPr>
            <a:r>
              <a:rPr lang="en-US" sz="1400" dirty="0"/>
              <a:t>Around 85% customers prefer buying threw instore channel</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endParaRPr lang="en-US" sz="1400" dirty="0"/>
          </a:p>
          <a:p>
            <a:endParaRPr lang="en-US" sz="1400" dirty="0"/>
          </a:p>
          <a:p>
            <a:pPr marL="285750" indent="-285750">
              <a:buFont typeface="Arial" panose="020B0604020202020204" pitchFamily="34" charset="0"/>
              <a:buChar char="•"/>
            </a:pPr>
            <a:r>
              <a:rPr lang="en-US" sz="1400" dirty="0"/>
              <a:t>Optimize product positioning with cross selling and positioning strategies like V-Shaped display, Pyramid, </a:t>
            </a:r>
          </a:p>
          <a:p>
            <a:pPr marL="285750" indent="-285750">
              <a:buFont typeface="Arial" panose="020B0604020202020204" pitchFamily="34" charset="0"/>
              <a:buChar char="•"/>
            </a:pPr>
            <a:r>
              <a:rPr lang="en-US" sz="1400" dirty="0"/>
              <a:t>Create better interface of online application </a:t>
            </a:r>
            <a:endParaRPr lang="en-IN" sz="1400" dirty="0"/>
          </a:p>
          <a:p>
            <a:pPr marL="285750" indent="-285750">
              <a:buFont typeface="Arial" panose="020B0604020202020204" pitchFamily="34" charset="0"/>
              <a:buChar char="•"/>
            </a:pPr>
            <a:endParaRPr lang="en-IN" sz="1400" dirty="0"/>
          </a:p>
        </p:txBody>
      </p:sp>
      <p:pic>
        <p:nvPicPr>
          <p:cNvPr id="8" name="Chart Placeholder 7">
            <a:extLst>
              <a:ext uri="{FF2B5EF4-FFF2-40B4-BE49-F238E27FC236}">
                <a16:creationId xmlns:a16="http://schemas.microsoft.com/office/drawing/2014/main" id="{F7D969E1-365B-D034-859E-42061CF78077}"/>
              </a:ext>
            </a:extLst>
          </p:cNvPr>
          <p:cNvPicPr>
            <a:picLocks noGrp="1" noChangeAspect="1"/>
          </p:cNvPicPr>
          <p:nvPr>
            <p:ph type="chart" sz="quarter" idx="11"/>
          </p:nvPr>
        </p:nvPicPr>
        <p:blipFill>
          <a:blip r:embed="rId2"/>
          <a:stretch>
            <a:fillRect/>
          </a:stretch>
        </p:blipFill>
        <p:spPr>
          <a:xfrm>
            <a:off x="1049437" y="1519508"/>
            <a:ext cx="2179320" cy="2653284"/>
          </a:xfrm>
          <a:prstGeom prst="rect">
            <a:avLst/>
          </a:prstGeom>
        </p:spPr>
      </p:pic>
      <p:pic>
        <p:nvPicPr>
          <p:cNvPr id="9" name="Picture 8">
            <a:extLst>
              <a:ext uri="{FF2B5EF4-FFF2-40B4-BE49-F238E27FC236}">
                <a16:creationId xmlns:a16="http://schemas.microsoft.com/office/drawing/2014/main" id="{0C6C133A-B69F-F3D0-03A7-9F10E1BCF95C}"/>
              </a:ext>
            </a:extLst>
          </p:cNvPr>
          <p:cNvPicPr>
            <a:picLocks noChangeAspect="1"/>
          </p:cNvPicPr>
          <p:nvPr/>
        </p:nvPicPr>
        <p:blipFill>
          <a:blip r:embed="rId3"/>
          <a:stretch>
            <a:fillRect/>
          </a:stretch>
        </p:blipFill>
        <p:spPr>
          <a:xfrm>
            <a:off x="8801699" y="1519508"/>
            <a:ext cx="2340864" cy="2598420"/>
          </a:xfrm>
          <a:prstGeom prst="rect">
            <a:avLst/>
          </a:prstGeom>
        </p:spPr>
      </p:pic>
    </p:spTree>
    <p:extLst>
      <p:ext uri="{BB962C8B-B14F-4D97-AF65-F5344CB8AC3E}">
        <p14:creationId xmlns:p14="http://schemas.microsoft.com/office/powerpoint/2010/main" val="381634441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5562C-2582-63D7-9800-020E29323C62}"/>
              </a:ext>
            </a:extLst>
          </p:cNvPr>
          <p:cNvSpPr>
            <a:spLocks noGrp="1"/>
          </p:cNvSpPr>
          <p:nvPr>
            <p:ph type="title"/>
          </p:nvPr>
        </p:nvSpPr>
        <p:spPr/>
        <p:txBody>
          <a:bodyPr/>
          <a:lstStyle/>
          <a:p>
            <a:r>
              <a:rPr lang="en-US" dirty="0"/>
              <a:t>Gender Distribution of Active Type</a:t>
            </a:r>
            <a:endParaRPr lang="en-IN" dirty="0"/>
          </a:p>
        </p:txBody>
      </p:sp>
      <p:sp>
        <p:nvSpPr>
          <p:cNvPr id="3" name="Chart Placeholder 2">
            <a:extLst>
              <a:ext uri="{FF2B5EF4-FFF2-40B4-BE49-F238E27FC236}">
                <a16:creationId xmlns:a16="http://schemas.microsoft.com/office/drawing/2014/main" id="{11F8D2B0-EC4C-DDB3-98DB-DEF46070F7B4}"/>
              </a:ext>
            </a:extLst>
          </p:cNvPr>
          <p:cNvSpPr>
            <a:spLocks noGrp="1"/>
          </p:cNvSpPr>
          <p:nvPr>
            <p:ph type="chart" sz="quarter" idx="11"/>
          </p:nvPr>
        </p:nvSpPr>
        <p:spPr/>
      </p:sp>
      <p:sp>
        <p:nvSpPr>
          <p:cNvPr id="4" name="Text Placeholder 3">
            <a:extLst>
              <a:ext uri="{FF2B5EF4-FFF2-40B4-BE49-F238E27FC236}">
                <a16:creationId xmlns:a16="http://schemas.microsoft.com/office/drawing/2014/main" id="{1CE4C302-0B74-AB3F-35D6-3903EE1E850E}"/>
              </a:ext>
            </a:extLst>
          </p:cNvPr>
          <p:cNvSpPr>
            <a:spLocks noGrp="1"/>
          </p:cNvSpPr>
          <p:nvPr>
            <p:ph type="body" sz="quarter" idx="12"/>
          </p:nvPr>
        </p:nvSpPr>
        <p:spPr/>
        <p:txBody>
          <a:bodyPr numCol="2"/>
          <a:lstStyle/>
          <a:p>
            <a:pPr marL="285750" indent="-285750">
              <a:buFont typeface="Arial" panose="020B0604020202020204" pitchFamily="34" charset="0"/>
              <a:buChar char="•"/>
            </a:pPr>
            <a:r>
              <a:rPr lang="en-US" sz="1400" dirty="0"/>
              <a:t>Females are dominant with around 70% share as both </a:t>
            </a:r>
            <a:r>
              <a:rPr lang="en-US" sz="1400" dirty="0" err="1"/>
              <a:t>DawnSparrows</a:t>
            </a:r>
            <a:r>
              <a:rPr lang="en-US" sz="1400" dirty="0"/>
              <a:t> as well as </a:t>
            </a:r>
            <a:r>
              <a:rPr lang="en-US" sz="1400" dirty="0" err="1"/>
              <a:t>NightHawks</a:t>
            </a:r>
            <a:r>
              <a:rPr lang="en-IN" sz="1400" dirty="0"/>
              <a:t>.</a:t>
            </a:r>
          </a:p>
          <a:p>
            <a:pPr marL="285750" indent="-285750">
              <a:buFont typeface="Arial" panose="020B0604020202020204" pitchFamily="34" charset="0"/>
              <a:buChar char="•"/>
            </a:pPr>
            <a:endParaRPr lang="en-IN" sz="1400" dirty="0"/>
          </a:p>
          <a:p>
            <a:pPr marL="285750" indent="-285750">
              <a:buFont typeface="Arial" panose="020B0604020202020204" pitchFamily="34" charset="0"/>
              <a:buChar char="•"/>
            </a:pPr>
            <a:r>
              <a:rPr lang="en-IN" sz="1400" dirty="0"/>
              <a:t>Add Male centric categories like sports product, fashions, perfume.</a:t>
            </a:r>
          </a:p>
          <a:p>
            <a:endParaRPr lang="en-IN" sz="1400" dirty="0"/>
          </a:p>
        </p:txBody>
      </p:sp>
      <p:pic>
        <p:nvPicPr>
          <p:cNvPr id="7" name="Picture 6">
            <a:extLst>
              <a:ext uri="{FF2B5EF4-FFF2-40B4-BE49-F238E27FC236}">
                <a16:creationId xmlns:a16="http://schemas.microsoft.com/office/drawing/2014/main" id="{4570F883-4CC7-B3E0-3E43-043CB04F77AC}"/>
              </a:ext>
            </a:extLst>
          </p:cNvPr>
          <p:cNvPicPr>
            <a:picLocks noChangeAspect="1"/>
          </p:cNvPicPr>
          <p:nvPr/>
        </p:nvPicPr>
        <p:blipFill>
          <a:blip r:embed="rId2"/>
          <a:stretch>
            <a:fillRect/>
          </a:stretch>
        </p:blipFill>
        <p:spPr>
          <a:xfrm>
            <a:off x="1043019" y="1549400"/>
            <a:ext cx="2244852" cy="2694432"/>
          </a:xfrm>
          <a:prstGeom prst="rect">
            <a:avLst/>
          </a:prstGeom>
        </p:spPr>
      </p:pic>
      <p:pic>
        <p:nvPicPr>
          <p:cNvPr id="8" name="Picture 7">
            <a:extLst>
              <a:ext uri="{FF2B5EF4-FFF2-40B4-BE49-F238E27FC236}">
                <a16:creationId xmlns:a16="http://schemas.microsoft.com/office/drawing/2014/main" id="{86403F98-0798-DB0F-0553-94C0AF1DAAF0}"/>
              </a:ext>
            </a:extLst>
          </p:cNvPr>
          <p:cNvPicPr>
            <a:picLocks noChangeAspect="1"/>
          </p:cNvPicPr>
          <p:nvPr/>
        </p:nvPicPr>
        <p:blipFill>
          <a:blip r:embed="rId3"/>
          <a:stretch>
            <a:fillRect/>
          </a:stretch>
        </p:blipFill>
        <p:spPr>
          <a:xfrm>
            <a:off x="8928513" y="1549400"/>
            <a:ext cx="2220468" cy="2641092"/>
          </a:xfrm>
          <a:prstGeom prst="rect">
            <a:avLst/>
          </a:prstGeom>
        </p:spPr>
      </p:pic>
    </p:spTree>
    <p:extLst>
      <p:ext uri="{BB962C8B-B14F-4D97-AF65-F5344CB8AC3E}">
        <p14:creationId xmlns:p14="http://schemas.microsoft.com/office/powerpoint/2010/main" val="338648340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54ADB-8456-5A25-EDA6-29C56100DF3E}"/>
              </a:ext>
            </a:extLst>
          </p:cNvPr>
          <p:cNvSpPr>
            <a:spLocks noGrp="1"/>
          </p:cNvSpPr>
          <p:nvPr>
            <p:ph type="title"/>
          </p:nvPr>
        </p:nvSpPr>
        <p:spPr/>
        <p:txBody>
          <a:bodyPr/>
          <a:lstStyle/>
          <a:p>
            <a:r>
              <a:rPr lang="en-US" dirty="0"/>
              <a:t>State Wise Distribution of Active Type</a:t>
            </a:r>
            <a:endParaRPr lang="en-IN" dirty="0"/>
          </a:p>
        </p:txBody>
      </p:sp>
      <p:sp>
        <p:nvSpPr>
          <p:cNvPr id="3" name="Chart Placeholder 2">
            <a:extLst>
              <a:ext uri="{FF2B5EF4-FFF2-40B4-BE49-F238E27FC236}">
                <a16:creationId xmlns:a16="http://schemas.microsoft.com/office/drawing/2014/main" id="{D84E0FB8-86C1-419B-E641-706FBD3AB792}"/>
              </a:ext>
            </a:extLst>
          </p:cNvPr>
          <p:cNvSpPr>
            <a:spLocks noGrp="1"/>
          </p:cNvSpPr>
          <p:nvPr>
            <p:ph type="chart" sz="quarter" idx="11"/>
          </p:nvPr>
        </p:nvSpPr>
        <p:spPr/>
      </p:sp>
      <p:sp>
        <p:nvSpPr>
          <p:cNvPr id="4" name="Text Placeholder 3">
            <a:extLst>
              <a:ext uri="{FF2B5EF4-FFF2-40B4-BE49-F238E27FC236}">
                <a16:creationId xmlns:a16="http://schemas.microsoft.com/office/drawing/2014/main" id="{03D9D215-DB8F-029D-28FA-60300ABFBABE}"/>
              </a:ext>
            </a:extLst>
          </p:cNvPr>
          <p:cNvSpPr>
            <a:spLocks noGrp="1"/>
          </p:cNvSpPr>
          <p:nvPr>
            <p:ph type="body" sz="quarter" idx="12"/>
          </p:nvPr>
        </p:nvSpPr>
        <p:spPr>
          <a:xfrm>
            <a:off x="403225" y="5106988"/>
            <a:ext cx="11360150" cy="1090612"/>
          </a:xfrm>
        </p:spPr>
        <p:txBody>
          <a:bodyPr numCol="2"/>
          <a:lstStyle/>
          <a:p>
            <a:pPr marL="285750" indent="-285750">
              <a:buFont typeface="Arial" panose="020B0604020202020204" pitchFamily="34" charset="0"/>
              <a:buChar char="•"/>
            </a:pPr>
            <a:r>
              <a:rPr lang="en-US" sz="1400" dirty="0"/>
              <a:t>Andhra contributes almost 60% in both </a:t>
            </a:r>
            <a:r>
              <a:rPr lang="en-US" sz="1400" dirty="0" err="1"/>
              <a:t>NightHawks</a:t>
            </a:r>
            <a:r>
              <a:rPr lang="en-US" sz="1400" dirty="0"/>
              <a:t> and </a:t>
            </a:r>
            <a:r>
              <a:rPr lang="en-US" sz="1400" dirty="0" err="1"/>
              <a:t>DawnSparrows</a:t>
            </a:r>
            <a:r>
              <a:rPr lang="en-US" sz="1400" dirty="0"/>
              <a:t>.</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Upgrade inventory with environmentally friendly and healthier options and charge premium for it.</a:t>
            </a:r>
          </a:p>
          <a:p>
            <a:pPr marL="285750" indent="-285750">
              <a:buFont typeface="Arial" panose="020B0604020202020204" pitchFamily="34" charset="0"/>
              <a:buChar char="•"/>
            </a:pPr>
            <a:r>
              <a:rPr lang="en-US" sz="1400" dirty="0"/>
              <a:t>Increase Demographical reach.</a:t>
            </a:r>
          </a:p>
          <a:p>
            <a:pPr marL="285750" indent="-285750">
              <a:buFont typeface="Arial" panose="020B0604020202020204" pitchFamily="34" charset="0"/>
              <a:buChar char="•"/>
            </a:pPr>
            <a:r>
              <a:rPr lang="en-US" sz="1400" dirty="0"/>
              <a:t>Create space for anchor stores to attract traffic</a:t>
            </a:r>
            <a:endParaRPr lang="en-IN" sz="1400" dirty="0"/>
          </a:p>
          <a:p>
            <a:pPr marL="285750" indent="-285750">
              <a:buFont typeface="Arial" panose="020B0604020202020204" pitchFamily="34" charset="0"/>
              <a:buChar char="•"/>
            </a:pPr>
            <a:endParaRPr lang="en-IN" sz="1400" dirty="0"/>
          </a:p>
        </p:txBody>
      </p:sp>
      <p:pic>
        <p:nvPicPr>
          <p:cNvPr id="5" name="Picture 4">
            <a:extLst>
              <a:ext uri="{FF2B5EF4-FFF2-40B4-BE49-F238E27FC236}">
                <a16:creationId xmlns:a16="http://schemas.microsoft.com/office/drawing/2014/main" id="{8A978CAA-D363-E58D-C84A-AA467ED9A7FD}"/>
              </a:ext>
            </a:extLst>
          </p:cNvPr>
          <p:cNvPicPr>
            <a:picLocks noChangeAspect="1"/>
          </p:cNvPicPr>
          <p:nvPr/>
        </p:nvPicPr>
        <p:blipFill>
          <a:blip r:embed="rId2"/>
          <a:stretch>
            <a:fillRect/>
          </a:stretch>
        </p:blipFill>
        <p:spPr>
          <a:xfrm>
            <a:off x="403199" y="1549399"/>
            <a:ext cx="6611749" cy="3324225"/>
          </a:xfrm>
          <a:prstGeom prst="rect">
            <a:avLst/>
          </a:prstGeom>
        </p:spPr>
      </p:pic>
      <p:pic>
        <p:nvPicPr>
          <p:cNvPr id="6" name="Picture 5">
            <a:extLst>
              <a:ext uri="{FF2B5EF4-FFF2-40B4-BE49-F238E27FC236}">
                <a16:creationId xmlns:a16="http://schemas.microsoft.com/office/drawing/2014/main" id="{DABDA1BA-5358-5DFB-1B2D-354E49FAB425}"/>
              </a:ext>
            </a:extLst>
          </p:cNvPr>
          <p:cNvPicPr>
            <a:picLocks noChangeAspect="1"/>
          </p:cNvPicPr>
          <p:nvPr/>
        </p:nvPicPr>
        <p:blipFill>
          <a:blip r:embed="rId3"/>
          <a:stretch>
            <a:fillRect/>
          </a:stretch>
        </p:blipFill>
        <p:spPr>
          <a:xfrm>
            <a:off x="7014947" y="1549399"/>
            <a:ext cx="4773827" cy="3324224"/>
          </a:xfrm>
          <a:prstGeom prst="rect">
            <a:avLst/>
          </a:prstGeom>
        </p:spPr>
      </p:pic>
    </p:spTree>
    <p:extLst>
      <p:ext uri="{BB962C8B-B14F-4D97-AF65-F5344CB8AC3E}">
        <p14:creationId xmlns:p14="http://schemas.microsoft.com/office/powerpoint/2010/main" val="329401904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116E4-5004-A446-4F82-9BE20AD44C67}"/>
              </a:ext>
            </a:extLst>
          </p:cNvPr>
          <p:cNvSpPr>
            <a:spLocks noGrp="1"/>
          </p:cNvSpPr>
          <p:nvPr>
            <p:ph type="title"/>
          </p:nvPr>
        </p:nvSpPr>
        <p:spPr/>
        <p:txBody>
          <a:bodyPr/>
          <a:lstStyle/>
          <a:p>
            <a:r>
              <a:rPr lang="en-US" dirty="0"/>
              <a:t>Region Wise Active Type</a:t>
            </a:r>
            <a:endParaRPr lang="en-IN" dirty="0"/>
          </a:p>
        </p:txBody>
      </p:sp>
      <p:sp>
        <p:nvSpPr>
          <p:cNvPr id="4" name="Text Placeholder 3">
            <a:extLst>
              <a:ext uri="{FF2B5EF4-FFF2-40B4-BE49-F238E27FC236}">
                <a16:creationId xmlns:a16="http://schemas.microsoft.com/office/drawing/2014/main" id="{EAF308A3-EA65-7F99-DD11-C782081E3962}"/>
              </a:ext>
            </a:extLst>
          </p:cNvPr>
          <p:cNvSpPr>
            <a:spLocks noGrp="1"/>
          </p:cNvSpPr>
          <p:nvPr>
            <p:ph type="body" sz="quarter" idx="12"/>
          </p:nvPr>
        </p:nvSpPr>
        <p:spPr/>
        <p:txBody>
          <a:bodyPr numCol="2"/>
          <a:lstStyle/>
          <a:p>
            <a:pPr marL="285750" indent="-285750">
              <a:buFont typeface="Arial" panose="020B0604020202020204" pitchFamily="34" charset="0"/>
              <a:buChar char="•"/>
            </a:pPr>
            <a:r>
              <a:rPr lang="en-US" sz="1400" dirty="0"/>
              <a:t>Both NH and DS more saturated in south region and East contributes only 2%.</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Optimize channel to deliver in harsh environment of East </a:t>
            </a:r>
          </a:p>
          <a:p>
            <a:pPr marL="285750" indent="-285750">
              <a:buFont typeface="Arial" panose="020B0604020202020204" pitchFamily="34" charset="0"/>
              <a:buChar char="•"/>
            </a:pPr>
            <a:r>
              <a:rPr lang="en-US" sz="1400" dirty="0"/>
              <a:t>Increase demographical reach in East.</a:t>
            </a:r>
          </a:p>
          <a:p>
            <a:endParaRPr lang="en-IN" sz="1400" dirty="0"/>
          </a:p>
        </p:txBody>
      </p:sp>
      <p:pic>
        <p:nvPicPr>
          <p:cNvPr id="8" name="Chart Placeholder 7">
            <a:extLst>
              <a:ext uri="{FF2B5EF4-FFF2-40B4-BE49-F238E27FC236}">
                <a16:creationId xmlns:a16="http://schemas.microsoft.com/office/drawing/2014/main" id="{CA318650-A36A-D1BC-D82C-F933A30908E2}"/>
              </a:ext>
            </a:extLst>
          </p:cNvPr>
          <p:cNvPicPr>
            <a:picLocks noGrp="1" noChangeAspect="1"/>
          </p:cNvPicPr>
          <p:nvPr>
            <p:ph type="chart" sz="quarter" idx="11"/>
          </p:nvPr>
        </p:nvPicPr>
        <p:blipFill>
          <a:blip r:embed="rId2"/>
          <a:stretch>
            <a:fillRect/>
          </a:stretch>
        </p:blipFill>
        <p:spPr>
          <a:xfrm>
            <a:off x="1031081" y="1485691"/>
            <a:ext cx="2243328" cy="2788920"/>
          </a:xfrm>
          <a:prstGeom prst="rect">
            <a:avLst/>
          </a:prstGeom>
        </p:spPr>
      </p:pic>
      <p:pic>
        <p:nvPicPr>
          <p:cNvPr id="9" name="Picture 8">
            <a:extLst>
              <a:ext uri="{FF2B5EF4-FFF2-40B4-BE49-F238E27FC236}">
                <a16:creationId xmlns:a16="http://schemas.microsoft.com/office/drawing/2014/main" id="{4E9EE7CA-57B2-955E-54C2-96473F3DE06A}"/>
              </a:ext>
            </a:extLst>
          </p:cNvPr>
          <p:cNvPicPr>
            <a:picLocks noChangeAspect="1"/>
          </p:cNvPicPr>
          <p:nvPr/>
        </p:nvPicPr>
        <p:blipFill>
          <a:blip r:embed="rId3"/>
          <a:stretch>
            <a:fillRect/>
          </a:stretch>
        </p:blipFill>
        <p:spPr>
          <a:xfrm>
            <a:off x="8447964" y="1470451"/>
            <a:ext cx="2712955" cy="2804160"/>
          </a:xfrm>
          <a:prstGeom prst="rect">
            <a:avLst/>
          </a:prstGeom>
        </p:spPr>
      </p:pic>
    </p:spTree>
    <p:extLst>
      <p:ext uri="{BB962C8B-B14F-4D97-AF65-F5344CB8AC3E}">
        <p14:creationId xmlns:p14="http://schemas.microsoft.com/office/powerpoint/2010/main" val="152236567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45CB60-A30A-3A71-B303-11B193D77FE6}"/>
              </a:ext>
            </a:extLst>
          </p:cNvPr>
          <p:cNvSpPr>
            <a:spLocks noGrp="1"/>
          </p:cNvSpPr>
          <p:nvPr>
            <p:ph type="title"/>
          </p:nvPr>
        </p:nvSpPr>
        <p:spPr/>
        <p:txBody>
          <a:bodyPr/>
          <a:lstStyle/>
          <a:p>
            <a:r>
              <a:rPr lang="en-US" dirty="0"/>
              <a:t>Quarter Wise Distribution of Active Type</a:t>
            </a:r>
            <a:endParaRPr lang="en-IN" dirty="0"/>
          </a:p>
        </p:txBody>
      </p:sp>
      <p:sp>
        <p:nvSpPr>
          <p:cNvPr id="3" name="Chart Placeholder 2">
            <a:extLst>
              <a:ext uri="{FF2B5EF4-FFF2-40B4-BE49-F238E27FC236}">
                <a16:creationId xmlns:a16="http://schemas.microsoft.com/office/drawing/2014/main" id="{05D675D4-1BA7-2C94-58BE-F30BF90100EB}"/>
              </a:ext>
            </a:extLst>
          </p:cNvPr>
          <p:cNvSpPr>
            <a:spLocks noGrp="1"/>
          </p:cNvSpPr>
          <p:nvPr>
            <p:ph type="chart" sz="quarter" idx="11"/>
          </p:nvPr>
        </p:nvSpPr>
        <p:spPr/>
      </p:sp>
      <p:sp>
        <p:nvSpPr>
          <p:cNvPr id="4" name="Text Placeholder 3">
            <a:extLst>
              <a:ext uri="{FF2B5EF4-FFF2-40B4-BE49-F238E27FC236}">
                <a16:creationId xmlns:a16="http://schemas.microsoft.com/office/drawing/2014/main" id="{FCB8AE1D-33F0-28DC-CD7E-382F232E00F7}"/>
              </a:ext>
            </a:extLst>
          </p:cNvPr>
          <p:cNvSpPr>
            <a:spLocks noGrp="1"/>
          </p:cNvSpPr>
          <p:nvPr>
            <p:ph type="body" sz="quarter" idx="12"/>
          </p:nvPr>
        </p:nvSpPr>
        <p:spPr/>
        <p:txBody>
          <a:bodyPr numCol="2"/>
          <a:lstStyle/>
          <a:p>
            <a:pPr marL="342900" indent="-342900">
              <a:buFont typeface="Arial" panose="020B0604020202020204" pitchFamily="34" charset="0"/>
              <a:buChar char="•"/>
            </a:pPr>
            <a:r>
              <a:rPr lang="en-US" sz="1400" dirty="0"/>
              <a:t>Quarters are diversified</a:t>
            </a:r>
          </a:p>
          <a:p>
            <a:endParaRPr lang="en-US" sz="1400" dirty="0"/>
          </a:p>
          <a:p>
            <a:endParaRPr lang="en-US" sz="1400" dirty="0"/>
          </a:p>
          <a:p>
            <a:endParaRPr lang="en-US" sz="1400" dirty="0"/>
          </a:p>
          <a:p>
            <a:pPr marL="285750" indent="-285750">
              <a:buFont typeface="Arial" panose="020B0604020202020204" pitchFamily="34" charset="0"/>
              <a:buChar char="•"/>
            </a:pPr>
            <a:r>
              <a:rPr lang="en-US" sz="1400" dirty="0"/>
              <a:t>Target Q2 and Q3 which will increase seasonal sales due to festive seasons like Diwali, Navratri, Independence day, Christmas, new year and more.</a:t>
            </a:r>
          </a:p>
          <a:p>
            <a:pPr marL="285750" indent="-285750">
              <a:buFont typeface="Arial" panose="020B0604020202020204" pitchFamily="34" charset="0"/>
              <a:buChar char="•"/>
            </a:pPr>
            <a:endParaRPr lang="en-IN" sz="1400" dirty="0"/>
          </a:p>
        </p:txBody>
      </p:sp>
      <p:pic>
        <p:nvPicPr>
          <p:cNvPr id="7" name="Picture 6">
            <a:extLst>
              <a:ext uri="{FF2B5EF4-FFF2-40B4-BE49-F238E27FC236}">
                <a16:creationId xmlns:a16="http://schemas.microsoft.com/office/drawing/2014/main" id="{C7B5951A-0105-E2AE-BACF-2CDE32053022}"/>
              </a:ext>
            </a:extLst>
          </p:cNvPr>
          <p:cNvPicPr>
            <a:picLocks noChangeAspect="1"/>
          </p:cNvPicPr>
          <p:nvPr/>
        </p:nvPicPr>
        <p:blipFill>
          <a:blip r:embed="rId2"/>
          <a:stretch>
            <a:fillRect/>
          </a:stretch>
        </p:blipFill>
        <p:spPr>
          <a:xfrm>
            <a:off x="1032146" y="1549400"/>
            <a:ext cx="2348484" cy="2636520"/>
          </a:xfrm>
          <a:prstGeom prst="rect">
            <a:avLst/>
          </a:prstGeom>
        </p:spPr>
      </p:pic>
      <p:pic>
        <p:nvPicPr>
          <p:cNvPr id="8" name="Picture 7">
            <a:extLst>
              <a:ext uri="{FF2B5EF4-FFF2-40B4-BE49-F238E27FC236}">
                <a16:creationId xmlns:a16="http://schemas.microsoft.com/office/drawing/2014/main" id="{1391B740-EECE-2D38-CDAB-38CE24779A40}"/>
              </a:ext>
            </a:extLst>
          </p:cNvPr>
          <p:cNvPicPr>
            <a:picLocks noChangeAspect="1"/>
          </p:cNvPicPr>
          <p:nvPr/>
        </p:nvPicPr>
        <p:blipFill>
          <a:blip r:embed="rId3"/>
          <a:stretch>
            <a:fillRect/>
          </a:stretch>
        </p:blipFill>
        <p:spPr>
          <a:xfrm>
            <a:off x="8537050" y="1549400"/>
            <a:ext cx="2622804" cy="2689860"/>
          </a:xfrm>
          <a:prstGeom prst="rect">
            <a:avLst/>
          </a:prstGeom>
        </p:spPr>
      </p:pic>
    </p:spTree>
    <p:extLst>
      <p:ext uri="{BB962C8B-B14F-4D97-AF65-F5344CB8AC3E}">
        <p14:creationId xmlns:p14="http://schemas.microsoft.com/office/powerpoint/2010/main" val="412645580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9E10C-3F03-D0CC-2E48-8A90FD2CC94B}"/>
              </a:ext>
            </a:extLst>
          </p:cNvPr>
          <p:cNvSpPr>
            <a:spLocks noGrp="1"/>
          </p:cNvSpPr>
          <p:nvPr>
            <p:ph type="title"/>
          </p:nvPr>
        </p:nvSpPr>
        <p:spPr/>
        <p:txBody>
          <a:bodyPr/>
          <a:lstStyle/>
          <a:p>
            <a:r>
              <a:rPr lang="en-US" dirty="0"/>
              <a:t>Average Order, Average Discount, Average Profit </a:t>
            </a:r>
            <a:r>
              <a:rPr lang="en-US" dirty="0" err="1"/>
              <a:t>wrt</a:t>
            </a:r>
            <a:r>
              <a:rPr lang="en-US" dirty="0"/>
              <a:t> Active Type</a:t>
            </a:r>
            <a:endParaRPr lang="en-IN" dirty="0"/>
          </a:p>
        </p:txBody>
      </p:sp>
      <p:sp>
        <p:nvSpPr>
          <p:cNvPr id="4" name="Text Placeholder 3">
            <a:extLst>
              <a:ext uri="{FF2B5EF4-FFF2-40B4-BE49-F238E27FC236}">
                <a16:creationId xmlns:a16="http://schemas.microsoft.com/office/drawing/2014/main" id="{9C2A80DC-7CA0-46A5-61B9-6275C1984F2F}"/>
              </a:ext>
            </a:extLst>
          </p:cNvPr>
          <p:cNvSpPr>
            <a:spLocks noGrp="1"/>
          </p:cNvSpPr>
          <p:nvPr>
            <p:ph type="body" sz="quarter" idx="12"/>
          </p:nvPr>
        </p:nvSpPr>
        <p:spPr/>
        <p:txBody>
          <a:bodyPr numCol="2"/>
          <a:lstStyle/>
          <a:p>
            <a:pPr marL="285750" indent="-285750">
              <a:buFont typeface="Arial" panose="020B0604020202020204" pitchFamily="34" charset="0"/>
              <a:buChar char="•"/>
            </a:pPr>
            <a:r>
              <a:rPr lang="en-US" sz="1400" dirty="0" err="1"/>
              <a:t>DawnSparrows</a:t>
            </a:r>
            <a:r>
              <a:rPr lang="en-US" sz="1400" dirty="0"/>
              <a:t> have a higher AOV indicating stronger spending potential where as Profit per order for both are similar around </a:t>
            </a:r>
            <a:r>
              <a:rPr lang="en-IN" sz="1400" dirty="0"/>
              <a:t>₹20.64, showing similar margins.</a:t>
            </a:r>
          </a:p>
          <a:p>
            <a:pPr marL="285750" indent="-285750">
              <a:buFont typeface="Arial" panose="020B0604020202020204" pitchFamily="34" charset="0"/>
              <a:buChar char="•"/>
            </a:pPr>
            <a:r>
              <a:rPr lang="en-IN" sz="1400" dirty="0"/>
              <a:t>Target </a:t>
            </a:r>
            <a:r>
              <a:rPr lang="en-IN" sz="1400" dirty="0" err="1"/>
              <a:t>DawnSparrows</a:t>
            </a:r>
            <a:r>
              <a:rPr lang="en-IN" sz="1400" dirty="0"/>
              <a:t> with premium product promotions and loyalty programs for sustain high-value purchases.</a:t>
            </a:r>
          </a:p>
          <a:p>
            <a:pPr marL="285750" indent="-285750">
              <a:buFont typeface="Arial" panose="020B0604020202020204" pitchFamily="34" charset="0"/>
              <a:buChar char="•"/>
            </a:pPr>
            <a:r>
              <a:rPr lang="en-IN" sz="1400" dirty="0"/>
              <a:t>Introduce late night bundles or time-limited offers.</a:t>
            </a:r>
          </a:p>
        </p:txBody>
      </p:sp>
      <p:pic>
        <p:nvPicPr>
          <p:cNvPr id="11" name="Chart Placeholder 10">
            <a:extLst>
              <a:ext uri="{FF2B5EF4-FFF2-40B4-BE49-F238E27FC236}">
                <a16:creationId xmlns:a16="http://schemas.microsoft.com/office/drawing/2014/main" id="{3CE9B90D-8A70-8468-71A0-72612738273D}"/>
              </a:ext>
            </a:extLst>
          </p:cNvPr>
          <p:cNvPicPr>
            <a:picLocks noGrp="1" noChangeAspect="1"/>
          </p:cNvPicPr>
          <p:nvPr>
            <p:ph type="chart" sz="quarter" idx="11"/>
          </p:nvPr>
        </p:nvPicPr>
        <p:blipFill>
          <a:blip r:embed="rId2"/>
          <a:stretch>
            <a:fillRect/>
          </a:stretch>
        </p:blipFill>
        <p:spPr>
          <a:xfrm>
            <a:off x="403200" y="1479235"/>
            <a:ext cx="5510831" cy="1182624"/>
          </a:xfrm>
          <a:prstGeom prst="rect">
            <a:avLst/>
          </a:prstGeom>
        </p:spPr>
      </p:pic>
      <p:pic>
        <p:nvPicPr>
          <p:cNvPr id="12" name="Picture 11">
            <a:extLst>
              <a:ext uri="{FF2B5EF4-FFF2-40B4-BE49-F238E27FC236}">
                <a16:creationId xmlns:a16="http://schemas.microsoft.com/office/drawing/2014/main" id="{8320D69E-29C5-2C89-DC65-1B2C9623B15A}"/>
              </a:ext>
            </a:extLst>
          </p:cNvPr>
          <p:cNvPicPr>
            <a:picLocks noChangeAspect="1"/>
          </p:cNvPicPr>
          <p:nvPr/>
        </p:nvPicPr>
        <p:blipFill>
          <a:blip r:embed="rId3"/>
          <a:stretch>
            <a:fillRect/>
          </a:stretch>
        </p:blipFill>
        <p:spPr>
          <a:xfrm>
            <a:off x="6277970" y="1479235"/>
            <a:ext cx="5670690" cy="1182624"/>
          </a:xfrm>
          <a:prstGeom prst="rect">
            <a:avLst/>
          </a:prstGeom>
        </p:spPr>
      </p:pic>
      <p:pic>
        <p:nvPicPr>
          <p:cNvPr id="13" name="Picture 12">
            <a:extLst>
              <a:ext uri="{FF2B5EF4-FFF2-40B4-BE49-F238E27FC236}">
                <a16:creationId xmlns:a16="http://schemas.microsoft.com/office/drawing/2014/main" id="{26BE4A54-B0BA-A6D1-3854-FDEDFC939E71}"/>
              </a:ext>
            </a:extLst>
          </p:cNvPr>
          <p:cNvPicPr>
            <a:picLocks noChangeAspect="1"/>
          </p:cNvPicPr>
          <p:nvPr/>
        </p:nvPicPr>
        <p:blipFill>
          <a:blip r:embed="rId4"/>
          <a:stretch>
            <a:fillRect/>
          </a:stretch>
        </p:blipFill>
        <p:spPr>
          <a:xfrm>
            <a:off x="3190460" y="3082694"/>
            <a:ext cx="5870448" cy="1182624"/>
          </a:xfrm>
          <a:prstGeom prst="rect">
            <a:avLst/>
          </a:prstGeom>
        </p:spPr>
      </p:pic>
    </p:spTree>
    <p:extLst>
      <p:ext uri="{BB962C8B-B14F-4D97-AF65-F5344CB8AC3E}">
        <p14:creationId xmlns:p14="http://schemas.microsoft.com/office/powerpoint/2010/main" val="353911360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76F07-89B7-809D-F69B-6B6C1F683CBE}"/>
              </a:ext>
            </a:extLst>
          </p:cNvPr>
          <p:cNvSpPr>
            <a:spLocks noGrp="1"/>
          </p:cNvSpPr>
          <p:nvPr>
            <p:ph type="title"/>
          </p:nvPr>
        </p:nvSpPr>
        <p:spPr/>
        <p:txBody>
          <a:bodyPr/>
          <a:lstStyle/>
          <a:p>
            <a:r>
              <a:rPr lang="en-US" dirty="0"/>
              <a:t>Average Rating and Average </a:t>
            </a:r>
            <a:r>
              <a:rPr lang="en-US" dirty="0" err="1"/>
              <a:t>LifeTime</a:t>
            </a:r>
            <a:r>
              <a:rPr lang="en-US" dirty="0"/>
              <a:t> </a:t>
            </a:r>
            <a:r>
              <a:rPr lang="en-US" dirty="0" err="1"/>
              <a:t>wrt</a:t>
            </a:r>
            <a:r>
              <a:rPr lang="en-US" dirty="0"/>
              <a:t> Active Type</a:t>
            </a:r>
            <a:endParaRPr lang="en-IN" dirty="0"/>
          </a:p>
        </p:txBody>
      </p:sp>
      <p:sp>
        <p:nvSpPr>
          <p:cNvPr id="3" name="Chart Placeholder 2">
            <a:extLst>
              <a:ext uri="{FF2B5EF4-FFF2-40B4-BE49-F238E27FC236}">
                <a16:creationId xmlns:a16="http://schemas.microsoft.com/office/drawing/2014/main" id="{DF52DD7F-E624-F6BA-4346-F8F08D2B7999}"/>
              </a:ext>
            </a:extLst>
          </p:cNvPr>
          <p:cNvSpPr>
            <a:spLocks noGrp="1"/>
          </p:cNvSpPr>
          <p:nvPr>
            <p:ph type="chart" sz="quarter" idx="11"/>
          </p:nvPr>
        </p:nvSpPr>
        <p:spPr/>
      </p:sp>
      <p:sp>
        <p:nvSpPr>
          <p:cNvPr id="4" name="Text Placeholder 3">
            <a:extLst>
              <a:ext uri="{FF2B5EF4-FFF2-40B4-BE49-F238E27FC236}">
                <a16:creationId xmlns:a16="http://schemas.microsoft.com/office/drawing/2014/main" id="{CDCE6DAA-4B59-38ED-3011-2C1855BEA25D}"/>
              </a:ext>
            </a:extLst>
          </p:cNvPr>
          <p:cNvSpPr>
            <a:spLocks noGrp="1"/>
          </p:cNvSpPr>
          <p:nvPr>
            <p:ph type="body" sz="quarter" idx="12"/>
          </p:nvPr>
        </p:nvSpPr>
        <p:spPr/>
        <p:txBody>
          <a:bodyPr/>
          <a:lstStyle/>
          <a:p>
            <a:endParaRPr lang="en-IN" dirty="0"/>
          </a:p>
        </p:txBody>
      </p:sp>
      <p:pic>
        <p:nvPicPr>
          <p:cNvPr id="5" name="Picture 4">
            <a:extLst>
              <a:ext uri="{FF2B5EF4-FFF2-40B4-BE49-F238E27FC236}">
                <a16:creationId xmlns:a16="http://schemas.microsoft.com/office/drawing/2014/main" id="{832BAC6D-1C41-9E27-1571-E32642DFB2AF}"/>
              </a:ext>
            </a:extLst>
          </p:cNvPr>
          <p:cNvPicPr>
            <a:picLocks noChangeAspect="1"/>
          </p:cNvPicPr>
          <p:nvPr/>
        </p:nvPicPr>
        <p:blipFill>
          <a:blip r:embed="rId2"/>
          <a:stretch>
            <a:fillRect/>
          </a:stretch>
        </p:blipFill>
        <p:spPr>
          <a:xfrm>
            <a:off x="403200" y="2334410"/>
            <a:ext cx="5692800" cy="1496568"/>
          </a:xfrm>
          <a:prstGeom prst="rect">
            <a:avLst/>
          </a:prstGeom>
        </p:spPr>
      </p:pic>
      <p:pic>
        <p:nvPicPr>
          <p:cNvPr id="6" name="Picture 5">
            <a:extLst>
              <a:ext uri="{FF2B5EF4-FFF2-40B4-BE49-F238E27FC236}">
                <a16:creationId xmlns:a16="http://schemas.microsoft.com/office/drawing/2014/main" id="{D6A79B30-B089-BF4A-5AC6-A30371078185}"/>
              </a:ext>
            </a:extLst>
          </p:cNvPr>
          <p:cNvPicPr>
            <a:picLocks noChangeAspect="1"/>
          </p:cNvPicPr>
          <p:nvPr/>
        </p:nvPicPr>
        <p:blipFill>
          <a:blip r:embed="rId3"/>
          <a:stretch>
            <a:fillRect/>
          </a:stretch>
        </p:blipFill>
        <p:spPr>
          <a:xfrm>
            <a:off x="6095999" y="2334410"/>
            <a:ext cx="5667375" cy="1496568"/>
          </a:xfrm>
          <a:prstGeom prst="rect">
            <a:avLst/>
          </a:prstGeom>
        </p:spPr>
      </p:pic>
    </p:spTree>
    <p:extLst>
      <p:ext uri="{BB962C8B-B14F-4D97-AF65-F5344CB8AC3E}">
        <p14:creationId xmlns:p14="http://schemas.microsoft.com/office/powerpoint/2010/main" val="85329690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6B929-32FF-1F37-1991-45F8F02500B6}"/>
              </a:ext>
            </a:extLst>
          </p:cNvPr>
          <p:cNvSpPr>
            <a:spLocks noGrp="1"/>
          </p:cNvSpPr>
          <p:nvPr>
            <p:ph type="title"/>
          </p:nvPr>
        </p:nvSpPr>
        <p:spPr/>
        <p:txBody>
          <a:bodyPr/>
          <a:lstStyle/>
          <a:p>
            <a:endParaRPr lang="en-IN"/>
          </a:p>
        </p:txBody>
      </p:sp>
      <p:sp>
        <p:nvSpPr>
          <p:cNvPr id="3" name="Chart Placeholder 2">
            <a:extLst>
              <a:ext uri="{FF2B5EF4-FFF2-40B4-BE49-F238E27FC236}">
                <a16:creationId xmlns:a16="http://schemas.microsoft.com/office/drawing/2014/main" id="{01BD45AC-9F3D-E211-7E51-97E81A823889}"/>
              </a:ext>
            </a:extLst>
          </p:cNvPr>
          <p:cNvSpPr>
            <a:spLocks noGrp="1"/>
          </p:cNvSpPr>
          <p:nvPr>
            <p:ph type="chart" sz="quarter" idx="11"/>
          </p:nvPr>
        </p:nvSpPr>
        <p:spPr/>
      </p:sp>
      <p:sp>
        <p:nvSpPr>
          <p:cNvPr id="4" name="Text Placeholder 3">
            <a:extLst>
              <a:ext uri="{FF2B5EF4-FFF2-40B4-BE49-F238E27FC236}">
                <a16:creationId xmlns:a16="http://schemas.microsoft.com/office/drawing/2014/main" id="{69708691-A0EF-5FFF-09FD-A9F39AE38094}"/>
              </a:ext>
            </a:extLst>
          </p:cNvPr>
          <p:cNvSpPr>
            <a:spLocks noGrp="1"/>
          </p:cNvSpPr>
          <p:nvPr>
            <p:ph type="body" sz="quarter" idx="12"/>
          </p:nvPr>
        </p:nvSpPr>
        <p:spPr/>
        <p:txBody>
          <a:bodyPr/>
          <a:lstStyle/>
          <a:p>
            <a:pPr algn="r"/>
            <a:r>
              <a:rPr lang="en-US" sz="4000" b="1" dirty="0"/>
              <a:t>INTER-CITY vs INTRA-CITY</a:t>
            </a:r>
            <a:endParaRPr lang="en-IN" sz="4000" b="1" dirty="0"/>
          </a:p>
        </p:txBody>
      </p:sp>
    </p:spTree>
    <p:extLst>
      <p:ext uri="{BB962C8B-B14F-4D97-AF65-F5344CB8AC3E}">
        <p14:creationId xmlns:p14="http://schemas.microsoft.com/office/powerpoint/2010/main" val="147681939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881CF-2331-70F8-C57B-4B57DD85BC70}"/>
              </a:ext>
            </a:extLst>
          </p:cNvPr>
          <p:cNvSpPr>
            <a:spLocks noGrp="1"/>
          </p:cNvSpPr>
          <p:nvPr>
            <p:ph type="title"/>
          </p:nvPr>
        </p:nvSpPr>
        <p:spPr/>
        <p:txBody>
          <a:bodyPr/>
          <a:lstStyle/>
          <a:p>
            <a:r>
              <a:rPr lang="en-US" dirty="0"/>
              <a:t>Customer Distribution by InterCity Intra City</a:t>
            </a:r>
            <a:endParaRPr lang="en-IN" dirty="0"/>
          </a:p>
        </p:txBody>
      </p:sp>
      <p:pic>
        <p:nvPicPr>
          <p:cNvPr id="5" name="Chart Placeholder 4">
            <a:extLst>
              <a:ext uri="{FF2B5EF4-FFF2-40B4-BE49-F238E27FC236}">
                <a16:creationId xmlns:a16="http://schemas.microsoft.com/office/drawing/2014/main" id="{79EED7B3-9E8C-62E5-0AC3-078D504A637B}"/>
              </a:ext>
            </a:extLst>
          </p:cNvPr>
          <p:cNvPicPr>
            <a:picLocks noGrp="1" noChangeAspect="1"/>
          </p:cNvPicPr>
          <p:nvPr>
            <p:ph type="chart" sz="quarter" idx="11"/>
          </p:nvPr>
        </p:nvPicPr>
        <p:blipFill>
          <a:blip r:embed="rId2"/>
          <a:stretch>
            <a:fillRect/>
          </a:stretch>
        </p:blipFill>
        <p:spPr>
          <a:xfrm>
            <a:off x="1174027" y="1549400"/>
            <a:ext cx="5657709" cy="4500563"/>
          </a:xfrm>
          <a:prstGeom prst="rect">
            <a:avLst/>
          </a:prstGeom>
        </p:spPr>
      </p:pic>
      <p:sp>
        <p:nvSpPr>
          <p:cNvPr id="4" name="Text Placeholder 3">
            <a:extLst>
              <a:ext uri="{FF2B5EF4-FFF2-40B4-BE49-F238E27FC236}">
                <a16:creationId xmlns:a16="http://schemas.microsoft.com/office/drawing/2014/main" id="{F7956468-DB35-9807-2223-49ABEB6DFEA0}"/>
              </a:ext>
            </a:extLst>
          </p:cNvPr>
          <p:cNvSpPr>
            <a:spLocks noGrp="1"/>
          </p:cNvSpPr>
          <p:nvPr>
            <p:ph type="body" sz="quarter" idx="12"/>
          </p:nvPr>
        </p:nvSpPr>
        <p:spPr>
          <a:xfrm>
            <a:off x="8161361" y="1549400"/>
            <a:ext cx="3602014" cy="4500563"/>
          </a:xfrm>
        </p:spPr>
        <p:txBody>
          <a:bodyPr/>
          <a:lstStyle/>
          <a:p>
            <a:pPr marL="285750" indent="-285750">
              <a:buFont typeface="Arial" panose="020B0604020202020204" pitchFamily="34" charset="0"/>
              <a:buChar char="•"/>
            </a:pPr>
            <a:r>
              <a:rPr lang="en-US" sz="1400" dirty="0" err="1"/>
              <a:t>InteCity</a:t>
            </a:r>
            <a:r>
              <a:rPr lang="en-US" sz="1400" dirty="0"/>
              <a:t> Orders shows consistent trend while Intracity Distributions has multiple lows and highs.</a:t>
            </a:r>
          </a:p>
          <a:p>
            <a:pPr marL="285750" indent="-285750">
              <a:buFont typeface="Arial" panose="020B0604020202020204" pitchFamily="34" charset="0"/>
              <a:buChar char="•"/>
            </a:pPr>
            <a:r>
              <a:rPr lang="en-US" sz="1400" dirty="0"/>
              <a:t>Stroe with 2</a:t>
            </a:r>
            <a:r>
              <a:rPr lang="en-US" sz="1400" baseline="30000" dirty="0"/>
              <a:t>nd</a:t>
            </a:r>
            <a:r>
              <a:rPr lang="en-US" sz="1400" dirty="0"/>
              <a:t> highest customer count performs poorly and contributes even less than 1%.</a:t>
            </a:r>
          </a:p>
          <a:p>
            <a:pPr marL="285750" indent="-285750">
              <a:buFont typeface="Arial" panose="020B0604020202020204" pitchFamily="34" charset="0"/>
              <a:buChar char="•"/>
            </a:pPr>
            <a:r>
              <a:rPr lang="en-US" sz="1400" dirty="0"/>
              <a:t>Demographical Reach is very weak.</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Strengthen Demographical Reach with local campaigns in local language.</a:t>
            </a:r>
          </a:p>
          <a:p>
            <a:pPr marL="285750" indent="-285750">
              <a:buFont typeface="Arial" panose="020B0604020202020204" pitchFamily="34" charset="0"/>
              <a:buChar char="•"/>
            </a:pPr>
            <a:r>
              <a:rPr lang="en-US" sz="1400" dirty="0"/>
              <a:t>Provide offers on national as well as Regional festivals.</a:t>
            </a:r>
          </a:p>
          <a:p>
            <a:pPr marL="285750" indent="-285750">
              <a:buFont typeface="Arial" panose="020B0604020202020204" pitchFamily="34" charset="0"/>
              <a:buChar char="•"/>
            </a:pPr>
            <a:r>
              <a:rPr lang="en-US" sz="1400" dirty="0"/>
              <a:t>Build strategies to compete with local vendors and stores.</a:t>
            </a:r>
            <a:endParaRPr lang="en-IN" sz="1400" dirty="0"/>
          </a:p>
        </p:txBody>
      </p:sp>
    </p:spTree>
    <p:extLst>
      <p:ext uri="{BB962C8B-B14F-4D97-AF65-F5344CB8AC3E}">
        <p14:creationId xmlns:p14="http://schemas.microsoft.com/office/powerpoint/2010/main" val="393730710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9F93A-3E26-B71E-9125-AFFEACFC1152}"/>
              </a:ext>
            </a:extLst>
          </p:cNvPr>
          <p:cNvSpPr>
            <a:spLocks noGrp="1"/>
          </p:cNvSpPr>
          <p:nvPr>
            <p:ph type="title"/>
          </p:nvPr>
        </p:nvSpPr>
        <p:spPr/>
        <p:txBody>
          <a:bodyPr/>
          <a:lstStyle/>
          <a:p>
            <a:r>
              <a:rPr lang="en-US" dirty="0"/>
              <a:t>InterCity vs </a:t>
            </a:r>
            <a:r>
              <a:rPr lang="en-US" dirty="0" err="1"/>
              <a:t>IntraCity</a:t>
            </a:r>
            <a:r>
              <a:rPr lang="en-US" dirty="0"/>
              <a:t> of Weekend and Weekday Sales</a:t>
            </a:r>
            <a:endParaRPr lang="en-IN" dirty="0"/>
          </a:p>
        </p:txBody>
      </p:sp>
      <p:sp>
        <p:nvSpPr>
          <p:cNvPr id="4" name="Text Placeholder 3">
            <a:extLst>
              <a:ext uri="{FF2B5EF4-FFF2-40B4-BE49-F238E27FC236}">
                <a16:creationId xmlns:a16="http://schemas.microsoft.com/office/drawing/2014/main" id="{C827BD2A-900F-EDA2-1C29-0C357A58A1C1}"/>
              </a:ext>
            </a:extLst>
          </p:cNvPr>
          <p:cNvSpPr>
            <a:spLocks noGrp="1"/>
          </p:cNvSpPr>
          <p:nvPr>
            <p:ph type="body" sz="quarter" idx="12"/>
          </p:nvPr>
        </p:nvSpPr>
        <p:spPr/>
        <p:txBody>
          <a:bodyPr numCol="2"/>
          <a:lstStyle/>
          <a:p>
            <a:pPr marL="285750" indent="-285750">
              <a:buFont typeface="Arial" panose="020B0604020202020204" pitchFamily="34" charset="0"/>
              <a:buChar char="•"/>
            </a:pPr>
            <a:r>
              <a:rPr lang="en-US" sz="1400" dirty="0"/>
              <a:t>Weekend contributes 21% of total sales.</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Launch weekend-specific promotions, offer discounts on paid games in play areas to attract parents.</a:t>
            </a:r>
          </a:p>
          <a:p>
            <a:endParaRPr lang="en-US" sz="1400" dirty="0"/>
          </a:p>
        </p:txBody>
      </p:sp>
      <p:pic>
        <p:nvPicPr>
          <p:cNvPr id="8" name="Chart Placeholder 7">
            <a:extLst>
              <a:ext uri="{FF2B5EF4-FFF2-40B4-BE49-F238E27FC236}">
                <a16:creationId xmlns:a16="http://schemas.microsoft.com/office/drawing/2014/main" id="{C64339F4-681B-3896-FF2D-FBFD4EBF3A59}"/>
              </a:ext>
            </a:extLst>
          </p:cNvPr>
          <p:cNvPicPr>
            <a:picLocks noGrp="1" noChangeAspect="1"/>
          </p:cNvPicPr>
          <p:nvPr>
            <p:ph type="chart" sz="quarter" idx="11"/>
          </p:nvPr>
        </p:nvPicPr>
        <p:blipFill>
          <a:blip r:embed="rId2"/>
          <a:stretch>
            <a:fillRect/>
          </a:stretch>
        </p:blipFill>
        <p:spPr>
          <a:xfrm>
            <a:off x="1066645" y="1488607"/>
            <a:ext cx="2881884" cy="2845308"/>
          </a:xfrm>
          <a:prstGeom prst="rect">
            <a:avLst/>
          </a:prstGeom>
        </p:spPr>
      </p:pic>
      <p:pic>
        <p:nvPicPr>
          <p:cNvPr id="9" name="Picture 8">
            <a:extLst>
              <a:ext uri="{FF2B5EF4-FFF2-40B4-BE49-F238E27FC236}">
                <a16:creationId xmlns:a16="http://schemas.microsoft.com/office/drawing/2014/main" id="{37072A01-B224-409E-ECB5-55E87FB0F55B}"/>
              </a:ext>
            </a:extLst>
          </p:cNvPr>
          <p:cNvPicPr>
            <a:picLocks noChangeAspect="1"/>
          </p:cNvPicPr>
          <p:nvPr/>
        </p:nvPicPr>
        <p:blipFill>
          <a:blip r:embed="rId3"/>
          <a:stretch>
            <a:fillRect/>
          </a:stretch>
        </p:blipFill>
        <p:spPr>
          <a:xfrm>
            <a:off x="8450735" y="1488607"/>
            <a:ext cx="2674620" cy="2674620"/>
          </a:xfrm>
          <a:prstGeom prst="rect">
            <a:avLst/>
          </a:prstGeom>
        </p:spPr>
      </p:pic>
    </p:spTree>
    <p:extLst>
      <p:ext uri="{BB962C8B-B14F-4D97-AF65-F5344CB8AC3E}">
        <p14:creationId xmlns:p14="http://schemas.microsoft.com/office/powerpoint/2010/main" val="271487184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49C58-02F7-A206-9FD2-A2322F1B9506}"/>
              </a:ext>
            </a:extLst>
          </p:cNvPr>
          <p:cNvSpPr>
            <a:spLocks noGrp="1"/>
          </p:cNvSpPr>
          <p:nvPr>
            <p:ph type="title"/>
          </p:nvPr>
        </p:nvSpPr>
        <p:spPr/>
        <p:txBody>
          <a:bodyPr/>
          <a:lstStyle/>
          <a:p>
            <a:r>
              <a:rPr lang="en-US" dirty="0"/>
              <a:t>InterCity vs </a:t>
            </a:r>
            <a:r>
              <a:rPr lang="en-US" dirty="0" err="1"/>
              <a:t>IntraCity</a:t>
            </a:r>
            <a:r>
              <a:rPr lang="en-US" dirty="0"/>
              <a:t> by Channel Preference</a:t>
            </a:r>
            <a:endParaRPr lang="en-IN" dirty="0"/>
          </a:p>
        </p:txBody>
      </p:sp>
      <p:sp>
        <p:nvSpPr>
          <p:cNvPr id="4" name="Text Placeholder 3">
            <a:extLst>
              <a:ext uri="{FF2B5EF4-FFF2-40B4-BE49-F238E27FC236}">
                <a16:creationId xmlns:a16="http://schemas.microsoft.com/office/drawing/2014/main" id="{F20CA903-E97E-7E8E-EFBB-898AA3C285E1}"/>
              </a:ext>
            </a:extLst>
          </p:cNvPr>
          <p:cNvSpPr>
            <a:spLocks noGrp="1"/>
          </p:cNvSpPr>
          <p:nvPr>
            <p:ph type="body" sz="quarter" idx="12"/>
          </p:nvPr>
        </p:nvSpPr>
        <p:spPr/>
        <p:txBody>
          <a:bodyPr numCol="2"/>
          <a:lstStyle/>
          <a:p>
            <a:pPr marL="285750" indent="-285750">
              <a:buFont typeface="Arial" panose="020B0604020202020204" pitchFamily="34" charset="0"/>
              <a:buChar char="•"/>
            </a:pPr>
            <a:r>
              <a:rPr lang="en-US" sz="1400" dirty="0"/>
              <a:t>Around 85% customers prefer buying threw instore channel</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endParaRPr lang="en-US" sz="1400" dirty="0"/>
          </a:p>
          <a:p>
            <a:endParaRPr lang="en-US" sz="1400" dirty="0"/>
          </a:p>
          <a:p>
            <a:pPr marL="285750" indent="-285750">
              <a:buFont typeface="Arial" panose="020B0604020202020204" pitchFamily="34" charset="0"/>
              <a:buChar char="•"/>
            </a:pPr>
            <a:r>
              <a:rPr lang="en-US" sz="1400" dirty="0"/>
              <a:t>Optimize product positioning with cross selling and positioning strategies like V-Shaped display, Pyramid, </a:t>
            </a:r>
          </a:p>
          <a:p>
            <a:pPr marL="285750" indent="-285750">
              <a:buFont typeface="Arial" panose="020B0604020202020204" pitchFamily="34" charset="0"/>
              <a:buChar char="•"/>
            </a:pPr>
            <a:r>
              <a:rPr lang="en-US" sz="1400" dirty="0"/>
              <a:t>Create better interface of online application </a:t>
            </a:r>
            <a:endParaRPr lang="en-IN" sz="1400" dirty="0"/>
          </a:p>
          <a:p>
            <a:endParaRPr lang="en-IN" sz="1400" dirty="0"/>
          </a:p>
        </p:txBody>
      </p:sp>
      <p:pic>
        <p:nvPicPr>
          <p:cNvPr id="3" name="Picture 2">
            <a:extLst>
              <a:ext uri="{FF2B5EF4-FFF2-40B4-BE49-F238E27FC236}">
                <a16:creationId xmlns:a16="http://schemas.microsoft.com/office/drawing/2014/main" id="{8B3E0932-53B8-55D6-5A84-3794FFF899D6}"/>
              </a:ext>
            </a:extLst>
          </p:cNvPr>
          <p:cNvPicPr>
            <a:picLocks noChangeAspect="1"/>
          </p:cNvPicPr>
          <p:nvPr/>
        </p:nvPicPr>
        <p:blipFill>
          <a:blip r:embed="rId2"/>
          <a:stretch>
            <a:fillRect/>
          </a:stretch>
        </p:blipFill>
        <p:spPr>
          <a:xfrm>
            <a:off x="1046226" y="1525967"/>
            <a:ext cx="2784348" cy="2714244"/>
          </a:xfrm>
          <a:prstGeom prst="rect">
            <a:avLst/>
          </a:prstGeom>
        </p:spPr>
      </p:pic>
      <p:pic>
        <p:nvPicPr>
          <p:cNvPr id="7" name="Picture 6">
            <a:extLst>
              <a:ext uri="{FF2B5EF4-FFF2-40B4-BE49-F238E27FC236}">
                <a16:creationId xmlns:a16="http://schemas.microsoft.com/office/drawing/2014/main" id="{1A09AF60-5554-4CD0-C2DE-767137A00344}"/>
              </a:ext>
            </a:extLst>
          </p:cNvPr>
          <p:cNvPicPr>
            <a:picLocks noChangeAspect="1"/>
          </p:cNvPicPr>
          <p:nvPr/>
        </p:nvPicPr>
        <p:blipFill>
          <a:blip r:embed="rId3"/>
          <a:stretch>
            <a:fillRect/>
          </a:stretch>
        </p:blipFill>
        <p:spPr>
          <a:xfrm>
            <a:off x="8602218" y="1525967"/>
            <a:ext cx="2543556" cy="2586228"/>
          </a:xfrm>
          <a:prstGeom prst="rect">
            <a:avLst/>
          </a:prstGeom>
        </p:spPr>
      </p:pic>
    </p:spTree>
    <p:extLst>
      <p:ext uri="{BB962C8B-B14F-4D97-AF65-F5344CB8AC3E}">
        <p14:creationId xmlns:p14="http://schemas.microsoft.com/office/powerpoint/2010/main" val="171863184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57440-8686-C059-7345-173BD1BD5BF8}"/>
              </a:ext>
            </a:extLst>
          </p:cNvPr>
          <p:cNvSpPr>
            <a:spLocks noGrp="1"/>
          </p:cNvSpPr>
          <p:nvPr>
            <p:ph type="title"/>
          </p:nvPr>
        </p:nvSpPr>
        <p:spPr/>
        <p:txBody>
          <a:bodyPr/>
          <a:lstStyle/>
          <a:p>
            <a:r>
              <a:rPr lang="en-US" dirty="0"/>
              <a:t>Time Slot Distribution</a:t>
            </a:r>
            <a:endParaRPr lang="en-IN" dirty="0"/>
          </a:p>
        </p:txBody>
      </p:sp>
      <p:sp>
        <p:nvSpPr>
          <p:cNvPr id="4" name="Text Placeholder 3">
            <a:extLst>
              <a:ext uri="{FF2B5EF4-FFF2-40B4-BE49-F238E27FC236}">
                <a16:creationId xmlns:a16="http://schemas.microsoft.com/office/drawing/2014/main" id="{184D1CB7-0F5D-91C6-9E3C-4DAD91DE21F6}"/>
              </a:ext>
            </a:extLst>
          </p:cNvPr>
          <p:cNvSpPr>
            <a:spLocks noGrp="1"/>
          </p:cNvSpPr>
          <p:nvPr>
            <p:ph type="body" sz="quarter" idx="12"/>
          </p:nvPr>
        </p:nvSpPr>
        <p:spPr/>
        <p:txBody>
          <a:bodyPr numCol="2"/>
          <a:lstStyle/>
          <a:p>
            <a:pPr marL="285750" indent="-285750">
              <a:buFont typeface="Arial" panose="020B0604020202020204" pitchFamily="34" charset="0"/>
              <a:buChar char="•"/>
            </a:pPr>
            <a:r>
              <a:rPr lang="en-US" sz="1400" dirty="0"/>
              <a:t>Both InterCity and </a:t>
            </a:r>
            <a:r>
              <a:rPr lang="en-US" sz="1400" dirty="0" err="1"/>
              <a:t>IntraCity</a:t>
            </a:r>
            <a:r>
              <a:rPr lang="en-US" sz="1400" dirty="0"/>
              <a:t> sales peaks at Night and </a:t>
            </a:r>
            <a:r>
              <a:rPr lang="en-US" sz="1400" dirty="0" err="1"/>
              <a:t>LateNight</a:t>
            </a:r>
            <a:r>
              <a:rPr lang="en-US" sz="1400" dirty="0"/>
              <a:t> contributing around 50% of total sales.</a:t>
            </a:r>
          </a:p>
          <a:p>
            <a:endParaRPr lang="en-US" sz="1400" dirty="0"/>
          </a:p>
          <a:p>
            <a:endParaRPr lang="en-US" sz="1400" dirty="0"/>
          </a:p>
          <a:p>
            <a:endParaRPr lang="en-US" sz="1400" dirty="0"/>
          </a:p>
          <a:p>
            <a:endParaRPr lang="en-US" sz="1400" dirty="0"/>
          </a:p>
          <a:p>
            <a:pPr marL="285750" indent="-285750">
              <a:buFont typeface="Arial" panose="020B0604020202020204" pitchFamily="34" charset="0"/>
              <a:buChar char="•"/>
            </a:pPr>
            <a:r>
              <a:rPr lang="en-US" sz="1400" dirty="0"/>
              <a:t>Increase Night slot staffing and promotions.</a:t>
            </a:r>
          </a:p>
          <a:p>
            <a:pPr marL="285750" indent="-285750">
              <a:buFont typeface="Arial" panose="020B0604020202020204" pitchFamily="34" charset="0"/>
              <a:buChar char="•"/>
            </a:pPr>
            <a:r>
              <a:rPr lang="en-IN" sz="1400" dirty="0"/>
              <a:t>Enable fast billing counters and instant payment offers to cater  more traffic.</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endParaRPr lang="en-US" sz="1400" dirty="0"/>
          </a:p>
        </p:txBody>
      </p:sp>
      <p:pic>
        <p:nvPicPr>
          <p:cNvPr id="3" name="Picture 2">
            <a:extLst>
              <a:ext uri="{FF2B5EF4-FFF2-40B4-BE49-F238E27FC236}">
                <a16:creationId xmlns:a16="http://schemas.microsoft.com/office/drawing/2014/main" id="{4C7599B3-6C8E-4089-5286-C28EFC4C2AD0}"/>
              </a:ext>
            </a:extLst>
          </p:cNvPr>
          <p:cNvPicPr>
            <a:picLocks noChangeAspect="1"/>
          </p:cNvPicPr>
          <p:nvPr/>
        </p:nvPicPr>
        <p:blipFill>
          <a:blip r:embed="rId2"/>
          <a:stretch>
            <a:fillRect/>
          </a:stretch>
        </p:blipFill>
        <p:spPr>
          <a:xfrm>
            <a:off x="1051582" y="1541969"/>
            <a:ext cx="3374136" cy="2682240"/>
          </a:xfrm>
          <a:prstGeom prst="rect">
            <a:avLst/>
          </a:prstGeom>
        </p:spPr>
      </p:pic>
      <p:pic>
        <p:nvPicPr>
          <p:cNvPr id="7" name="Picture 6">
            <a:extLst>
              <a:ext uri="{FF2B5EF4-FFF2-40B4-BE49-F238E27FC236}">
                <a16:creationId xmlns:a16="http://schemas.microsoft.com/office/drawing/2014/main" id="{1A929C53-FBA9-74EB-C0C1-7FA61885819A}"/>
              </a:ext>
            </a:extLst>
          </p:cNvPr>
          <p:cNvPicPr>
            <a:picLocks noChangeAspect="1"/>
          </p:cNvPicPr>
          <p:nvPr/>
        </p:nvPicPr>
        <p:blipFill>
          <a:blip r:embed="rId3"/>
          <a:stretch>
            <a:fillRect/>
          </a:stretch>
        </p:blipFill>
        <p:spPr>
          <a:xfrm>
            <a:off x="7651982" y="1561781"/>
            <a:ext cx="3488436" cy="2662428"/>
          </a:xfrm>
          <a:prstGeom prst="rect">
            <a:avLst/>
          </a:prstGeom>
        </p:spPr>
      </p:pic>
    </p:spTree>
    <p:extLst>
      <p:ext uri="{BB962C8B-B14F-4D97-AF65-F5344CB8AC3E}">
        <p14:creationId xmlns:p14="http://schemas.microsoft.com/office/powerpoint/2010/main" val="148142393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CAF4B-3B50-7114-4EC6-E1A4C0FFE177}"/>
              </a:ext>
            </a:extLst>
          </p:cNvPr>
          <p:cNvSpPr>
            <a:spLocks noGrp="1"/>
          </p:cNvSpPr>
          <p:nvPr>
            <p:ph type="title"/>
          </p:nvPr>
        </p:nvSpPr>
        <p:spPr/>
        <p:txBody>
          <a:bodyPr/>
          <a:lstStyle/>
          <a:p>
            <a:r>
              <a:rPr lang="en-US" dirty="0"/>
              <a:t>Preferred Payment Mode</a:t>
            </a:r>
            <a:endParaRPr lang="en-IN" dirty="0"/>
          </a:p>
        </p:txBody>
      </p:sp>
      <p:sp>
        <p:nvSpPr>
          <p:cNvPr id="4" name="Text Placeholder 3">
            <a:extLst>
              <a:ext uri="{FF2B5EF4-FFF2-40B4-BE49-F238E27FC236}">
                <a16:creationId xmlns:a16="http://schemas.microsoft.com/office/drawing/2014/main" id="{F4BBD37E-DA14-449D-2AA5-D14EB4888834}"/>
              </a:ext>
            </a:extLst>
          </p:cNvPr>
          <p:cNvSpPr>
            <a:spLocks noGrp="1"/>
          </p:cNvSpPr>
          <p:nvPr>
            <p:ph type="body" sz="quarter" idx="12"/>
          </p:nvPr>
        </p:nvSpPr>
        <p:spPr/>
        <p:txBody>
          <a:bodyPr numCol="2"/>
          <a:lstStyle/>
          <a:p>
            <a:pPr marL="285750" indent="-285750">
              <a:buFont typeface="Arial" panose="020B0604020202020204" pitchFamily="34" charset="0"/>
              <a:buChar char="•"/>
            </a:pPr>
            <a:r>
              <a:rPr lang="en-US" sz="1400" dirty="0"/>
              <a:t>Credit card contributes around 75% of total transactions done by both One-Timers and Repeaters where as debit card and vouchers are contributing around 5%.</a:t>
            </a:r>
          </a:p>
          <a:p>
            <a:endParaRPr lang="en-US" sz="1400" dirty="0"/>
          </a:p>
          <a:p>
            <a:pPr marL="285750" indent="-285750">
              <a:buFont typeface="Arial" panose="020B0604020202020204" pitchFamily="34" charset="0"/>
              <a:buChar char="•"/>
            </a:pPr>
            <a:r>
              <a:rPr lang="en-US" sz="1400" dirty="0"/>
              <a:t>Establish collaboration with banks for offers.</a:t>
            </a:r>
          </a:p>
          <a:p>
            <a:pPr marL="285750" indent="-285750">
              <a:buFont typeface="Arial" panose="020B0604020202020204" pitchFamily="34" charset="0"/>
              <a:buChar char="•"/>
            </a:pPr>
            <a:r>
              <a:rPr lang="en-US" sz="1400" dirty="0"/>
              <a:t>Offer vouchers with great discount on minimum purchase value which will increase sales and retain customers.</a:t>
            </a:r>
          </a:p>
          <a:p>
            <a:endParaRPr lang="en-IN" sz="1400" dirty="0"/>
          </a:p>
        </p:txBody>
      </p:sp>
      <p:pic>
        <p:nvPicPr>
          <p:cNvPr id="3" name="Picture 2">
            <a:extLst>
              <a:ext uri="{FF2B5EF4-FFF2-40B4-BE49-F238E27FC236}">
                <a16:creationId xmlns:a16="http://schemas.microsoft.com/office/drawing/2014/main" id="{B500ECB8-CF2C-A32A-5C44-F72F13217658}"/>
              </a:ext>
            </a:extLst>
          </p:cNvPr>
          <p:cNvPicPr>
            <a:picLocks noChangeAspect="1"/>
          </p:cNvPicPr>
          <p:nvPr/>
        </p:nvPicPr>
        <p:blipFill>
          <a:blip r:embed="rId2"/>
          <a:stretch>
            <a:fillRect/>
          </a:stretch>
        </p:blipFill>
        <p:spPr>
          <a:xfrm>
            <a:off x="1057668" y="1527844"/>
            <a:ext cx="3061716" cy="2874264"/>
          </a:xfrm>
          <a:prstGeom prst="rect">
            <a:avLst/>
          </a:prstGeom>
        </p:spPr>
      </p:pic>
      <p:pic>
        <p:nvPicPr>
          <p:cNvPr id="7" name="Picture 6">
            <a:extLst>
              <a:ext uri="{FF2B5EF4-FFF2-40B4-BE49-F238E27FC236}">
                <a16:creationId xmlns:a16="http://schemas.microsoft.com/office/drawing/2014/main" id="{AE43E7CF-8990-432C-7BE2-0316E5A6C392}"/>
              </a:ext>
            </a:extLst>
          </p:cNvPr>
          <p:cNvPicPr>
            <a:picLocks noChangeAspect="1"/>
          </p:cNvPicPr>
          <p:nvPr/>
        </p:nvPicPr>
        <p:blipFill>
          <a:blip r:embed="rId3"/>
          <a:stretch>
            <a:fillRect/>
          </a:stretch>
        </p:blipFill>
        <p:spPr>
          <a:xfrm>
            <a:off x="7851636" y="1527844"/>
            <a:ext cx="3282696" cy="2849880"/>
          </a:xfrm>
          <a:prstGeom prst="rect">
            <a:avLst/>
          </a:prstGeom>
        </p:spPr>
      </p:pic>
    </p:spTree>
    <p:extLst>
      <p:ext uri="{BB962C8B-B14F-4D97-AF65-F5344CB8AC3E}">
        <p14:creationId xmlns:p14="http://schemas.microsoft.com/office/powerpoint/2010/main" val="276632219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EAF3B-0C87-329F-E15D-8F3478D0517E}"/>
              </a:ext>
            </a:extLst>
          </p:cNvPr>
          <p:cNvSpPr>
            <a:spLocks noGrp="1"/>
          </p:cNvSpPr>
          <p:nvPr>
            <p:ph type="title"/>
          </p:nvPr>
        </p:nvSpPr>
        <p:spPr/>
        <p:txBody>
          <a:bodyPr/>
          <a:lstStyle/>
          <a:p>
            <a:r>
              <a:rPr lang="en-US" dirty="0"/>
              <a:t>Hourly traffic</a:t>
            </a:r>
            <a:endParaRPr lang="en-IN" dirty="0"/>
          </a:p>
        </p:txBody>
      </p:sp>
      <p:sp>
        <p:nvSpPr>
          <p:cNvPr id="3" name="Chart Placeholder 2">
            <a:extLst>
              <a:ext uri="{FF2B5EF4-FFF2-40B4-BE49-F238E27FC236}">
                <a16:creationId xmlns:a16="http://schemas.microsoft.com/office/drawing/2014/main" id="{74774E7E-65B0-48F9-517E-60AF74E38D29}"/>
              </a:ext>
            </a:extLst>
          </p:cNvPr>
          <p:cNvSpPr>
            <a:spLocks noGrp="1"/>
          </p:cNvSpPr>
          <p:nvPr>
            <p:ph type="chart" sz="quarter" idx="11"/>
          </p:nvPr>
        </p:nvSpPr>
        <p:spPr/>
      </p:sp>
      <p:sp>
        <p:nvSpPr>
          <p:cNvPr id="4" name="Text Placeholder 3">
            <a:extLst>
              <a:ext uri="{FF2B5EF4-FFF2-40B4-BE49-F238E27FC236}">
                <a16:creationId xmlns:a16="http://schemas.microsoft.com/office/drawing/2014/main" id="{C2CA9227-D17A-8CEB-C700-C7254DF2A4BF}"/>
              </a:ext>
            </a:extLst>
          </p:cNvPr>
          <p:cNvSpPr>
            <a:spLocks noGrp="1"/>
          </p:cNvSpPr>
          <p:nvPr>
            <p:ph type="body" sz="quarter" idx="12"/>
          </p:nvPr>
        </p:nvSpPr>
        <p:spPr/>
        <p:txBody>
          <a:bodyPr/>
          <a:lstStyle/>
          <a:p>
            <a:endParaRPr lang="en-IN" dirty="0"/>
          </a:p>
        </p:txBody>
      </p:sp>
      <p:pic>
        <p:nvPicPr>
          <p:cNvPr id="5" name="Picture 4">
            <a:extLst>
              <a:ext uri="{FF2B5EF4-FFF2-40B4-BE49-F238E27FC236}">
                <a16:creationId xmlns:a16="http://schemas.microsoft.com/office/drawing/2014/main" id="{14C9C8A0-F1C2-F039-1694-2CB6276FC9F7}"/>
              </a:ext>
            </a:extLst>
          </p:cNvPr>
          <p:cNvPicPr>
            <a:picLocks noChangeAspect="1"/>
          </p:cNvPicPr>
          <p:nvPr/>
        </p:nvPicPr>
        <p:blipFill>
          <a:blip r:embed="rId2"/>
          <a:stretch>
            <a:fillRect/>
          </a:stretch>
        </p:blipFill>
        <p:spPr>
          <a:xfrm>
            <a:off x="403200" y="1549399"/>
            <a:ext cx="6627921" cy="3324225"/>
          </a:xfrm>
          <a:prstGeom prst="rect">
            <a:avLst/>
          </a:prstGeom>
        </p:spPr>
      </p:pic>
      <p:pic>
        <p:nvPicPr>
          <p:cNvPr id="7" name="Picture 6">
            <a:extLst>
              <a:ext uri="{FF2B5EF4-FFF2-40B4-BE49-F238E27FC236}">
                <a16:creationId xmlns:a16="http://schemas.microsoft.com/office/drawing/2014/main" id="{C1EBCBE1-9F07-2AE0-3813-3952CF615CCF}"/>
              </a:ext>
            </a:extLst>
          </p:cNvPr>
          <p:cNvPicPr>
            <a:picLocks noChangeAspect="1"/>
          </p:cNvPicPr>
          <p:nvPr/>
        </p:nvPicPr>
        <p:blipFill>
          <a:blip r:embed="rId3"/>
          <a:stretch>
            <a:fillRect/>
          </a:stretch>
        </p:blipFill>
        <p:spPr>
          <a:xfrm>
            <a:off x="7031121" y="1549399"/>
            <a:ext cx="4815840" cy="3324225"/>
          </a:xfrm>
          <a:prstGeom prst="rect">
            <a:avLst/>
          </a:prstGeom>
        </p:spPr>
      </p:pic>
    </p:spTree>
    <p:extLst>
      <p:ext uri="{BB962C8B-B14F-4D97-AF65-F5344CB8AC3E}">
        <p14:creationId xmlns:p14="http://schemas.microsoft.com/office/powerpoint/2010/main" val="39203077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CEE06-05C2-8441-07E2-D5309CDFC393}"/>
              </a:ext>
            </a:extLst>
          </p:cNvPr>
          <p:cNvSpPr>
            <a:spLocks noGrp="1"/>
          </p:cNvSpPr>
          <p:nvPr>
            <p:ph type="title"/>
          </p:nvPr>
        </p:nvSpPr>
        <p:spPr/>
        <p:txBody>
          <a:bodyPr/>
          <a:lstStyle/>
          <a:p>
            <a:r>
              <a:rPr lang="en-US" dirty="0"/>
              <a:t>Quarters Wise Distribution</a:t>
            </a:r>
            <a:endParaRPr lang="en-IN" dirty="0"/>
          </a:p>
        </p:txBody>
      </p:sp>
      <p:sp>
        <p:nvSpPr>
          <p:cNvPr id="4" name="Text Placeholder 3">
            <a:extLst>
              <a:ext uri="{FF2B5EF4-FFF2-40B4-BE49-F238E27FC236}">
                <a16:creationId xmlns:a16="http://schemas.microsoft.com/office/drawing/2014/main" id="{CEA0CDCB-431D-3CAF-06E9-33ECDC6BE607}"/>
              </a:ext>
            </a:extLst>
          </p:cNvPr>
          <p:cNvSpPr>
            <a:spLocks noGrp="1"/>
          </p:cNvSpPr>
          <p:nvPr>
            <p:ph type="body" sz="quarter" idx="12"/>
          </p:nvPr>
        </p:nvSpPr>
        <p:spPr/>
        <p:txBody>
          <a:bodyPr numCol="2"/>
          <a:lstStyle/>
          <a:p>
            <a:pPr marL="342900" indent="-342900">
              <a:buFont typeface="Arial" panose="020B0604020202020204" pitchFamily="34" charset="0"/>
              <a:buChar char="•"/>
            </a:pPr>
            <a:r>
              <a:rPr lang="en-US" sz="1400" dirty="0"/>
              <a:t>Quarters are diversified</a:t>
            </a:r>
          </a:p>
          <a:p>
            <a:endParaRPr lang="en-US" sz="1400" dirty="0"/>
          </a:p>
          <a:p>
            <a:endParaRPr lang="en-US" sz="1400" dirty="0"/>
          </a:p>
          <a:p>
            <a:endParaRPr lang="en-US" sz="1400" dirty="0"/>
          </a:p>
          <a:p>
            <a:pPr marL="285750" indent="-285750">
              <a:buFont typeface="Arial" panose="020B0604020202020204" pitchFamily="34" charset="0"/>
              <a:buChar char="•"/>
            </a:pPr>
            <a:r>
              <a:rPr lang="en-US" sz="1400" dirty="0"/>
              <a:t>Target Q2 and Q3 which will increase seasonal sales due to festive seasons like Diwali, Navratri, Independence day, Christmas, new year and more.</a:t>
            </a:r>
          </a:p>
          <a:p>
            <a:pPr marL="285750" indent="-285750">
              <a:buFont typeface="Arial" panose="020B0604020202020204" pitchFamily="34" charset="0"/>
              <a:buChar char="•"/>
            </a:pPr>
            <a:endParaRPr lang="en-IN" sz="1400" dirty="0"/>
          </a:p>
        </p:txBody>
      </p:sp>
      <p:pic>
        <p:nvPicPr>
          <p:cNvPr id="3" name="Picture 2">
            <a:extLst>
              <a:ext uri="{FF2B5EF4-FFF2-40B4-BE49-F238E27FC236}">
                <a16:creationId xmlns:a16="http://schemas.microsoft.com/office/drawing/2014/main" id="{3124456C-8358-F54A-2AB8-7A71684376D0}"/>
              </a:ext>
            </a:extLst>
          </p:cNvPr>
          <p:cNvPicPr>
            <a:picLocks noChangeAspect="1"/>
          </p:cNvPicPr>
          <p:nvPr/>
        </p:nvPicPr>
        <p:blipFill>
          <a:blip r:embed="rId2"/>
          <a:stretch>
            <a:fillRect/>
          </a:stretch>
        </p:blipFill>
        <p:spPr>
          <a:xfrm>
            <a:off x="1084258" y="1534839"/>
            <a:ext cx="2735580" cy="2805684"/>
          </a:xfrm>
          <a:prstGeom prst="rect">
            <a:avLst/>
          </a:prstGeom>
        </p:spPr>
      </p:pic>
      <p:pic>
        <p:nvPicPr>
          <p:cNvPr id="7" name="Picture 6">
            <a:extLst>
              <a:ext uri="{FF2B5EF4-FFF2-40B4-BE49-F238E27FC236}">
                <a16:creationId xmlns:a16="http://schemas.microsoft.com/office/drawing/2014/main" id="{B8824082-F9D2-0277-33DC-E6CAF4234A16}"/>
              </a:ext>
            </a:extLst>
          </p:cNvPr>
          <p:cNvPicPr>
            <a:picLocks noChangeAspect="1"/>
          </p:cNvPicPr>
          <p:nvPr/>
        </p:nvPicPr>
        <p:blipFill>
          <a:blip r:embed="rId3"/>
          <a:stretch>
            <a:fillRect/>
          </a:stretch>
        </p:blipFill>
        <p:spPr>
          <a:xfrm>
            <a:off x="8372164" y="1534839"/>
            <a:ext cx="2766060" cy="2801112"/>
          </a:xfrm>
          <a:prstGeom prst="rect">
            <a:avLst/>
          </a:prstGeom>
        </p:spPr>
      </p:pic>
    </p:spTree>
    <p:extLst>
      <p:ext uri="{BB962C8B-B14F-4D97-AF65-F5344CB8AC3E}">
        <p14:creationId xmlns:p14="http://schemas.microsoft.com/office/powerpoint/2010/main" val="118697786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ECB3C-7F5A-BA27-6F1B-99C6F6D5C37A}"/>
              </a:ext>
            </a:extLst>
          </p:cNvPr>
          <p:cNvSpPr>
            <a:spLocks noGrp="1"/>
          </p:cNvSpPr>
          <p:nvPr>
            <p:ph type="title"/>
          </p:nvPr>
        </p:nvSpPr>
        <p:spPr/>
        <p:txBody>
          <a:bodyPr/>
          <a:lstStyle/>
          <a:p>
            <a:r>
              <a:rPr lang="en-US" dirty="0"/>
              <a:t>Average Sales , Discount, Profit </a:t>
            </a:r>
            <a:endParaRPr lang="en-IN" dirty="0"/>
          </a:p>
        </p:txBody>
      </p:sp>
      <p:pic>
        <p:nvPicPr>
          <p:cNvPr id="5" name="Chart Placeholder 4">
            <a:extLst>
              <a:ext uri="{FF2B5EF4-FFF2-40B4-BE49-F238E27FC236}">
                <a16:creationId xmlns:a16="http://schemas.microsoft.com/office/drawing/2014/main" id="{CFAC5FEF-F6FB-BB88-8D07-4A7F6A547D2B}"/>
              </a:ext>
            </a:extLst>
          </p:cNvPr>
          <p:cNvPicPr>
            <a:picLocks noGrp="1" noChangeAspect="1"/>
          </p:cNvPicPr>
          <p:nvPr>
            <p:ph type="chart" sz="quarter" idx="11"/>
          </p:nvPr>
        </p:nvPicPr>
        <p:blipFill>
          <a:blip r:embed="rId2"/>
          <a:stretch>
            <a:fillRect/>
          </a:stretch>
        </p:blipFill>
        <p:spPr>
          <a:xfrm>
            <a:off x="403200" y="1556368"/>
            <a:ext cx="4744212" cy="1208532"/>
          </a:xfrm>
          <a:prstGeom prst="rect">
            <a:avLst/>
          </a:prstGeom>
        </p:spPr>
      </p:pic>
      <p:sp>
        <p:nvSpPr>
          <p:cNvPr id="4" name="Text Placeholder 3">
            <a:extLst>
              <a:ext uri="{FF2B5EF4-FFF2-40B4-BE49-F238E27FC236}">
                <a16:creationId xmlns:a16="http://schemas.microsoft.com/office/drawing/2014/main" id="{93BE5427-C45C-F98C-F588-61C157A96594}"/>
              </a:ext>
            </a:extLst>
          </p:cNvPr>
          <p:cNvSpPr>
            <a:spLocks noGrp="1"/>
          </p:cNvSpPr>
          <p:nvPr>
            <p:ph type="body" sz="quarter" idx="12"/>
          </p:nvPr>
        </p:nvSpPr>
        <p:spPr/>
        <p:txBody>
          <a:bodyPr/>
          <a:lstStyle/>
          <a:p>
            <a:endParaRPr lang="en-IN"/>
          </a:p>
        </p:txBody>
      </p:sp>
      <p:pic>
        <p:nvPicPr>
          <p:cNvPr id="6" name="Picture 5">
            <a:extLst>
              <a:ext uri="{FF2B5EF4-FFF2-40B4-BE49-F238E27FC236}">
                <a16:creationId xmlns:a16="http://schemas.microsoft.com/office/drawing/2014/main" id="{71AB2178-53BE-DF51-6FB7-25198E62AA79}"/>
              </a:ext>
            </a:extLst>
          </p:cNvPr>
          <p:cNvPicPr>
            <a:picLocks noChangeAspect="1"/>
          </p:cNvPicPr>
          <p:nvPr/>
        </p:nvPicPr>
        <p:blipFill>
          <a:blip r:embed="rId3"/>
          <a:stretch>
            <a:fillRect/>
          </a:stretch>
        </p:blipFill>
        <p:spPr>
          <a:xfrm>
            <a:off x="6083300" y="1556368"/>
            <a:ext cx="4744212" cy="1292352"/>
          </a:xfrm>
          <a:prstGeom prst="rect">
            <a:avLst/>
          </a:prstGeom>
        </p:spPr>
      </p:pic>
      <p:pic>
        <p:nvPicPr>
          <p:cNvPr id="7" name="Picture 6">
            <a:extLst>
              <a:ext uri="{FF2B5EF4-FFF2-40B4-BE49-F238E27FC236}">
                <a16:creationId xmlns:a16="http://schemas.microsoft.com/office/drawing/2014/main" id="{70B033B8-7C3B-8D4A-E1C8-3A48A25B94F9}"/>
              </a:ext>
            </a:extLst>
          </p:cNvPr>
          <p:cNvPicPr>
            <a:picLocks noChangeAspect="1"/>
          </p:cNvPicPr>
          <p:nvPr/>
        </p:nvPicPr>
        <p:blipFill>
          <a:blip r:embed="rId4"/>
          <a:stretch>
            <a:fillRect/>
          </a:stretch>
        </p:blipFill>
        <p:spPr>
          <a:xfrm>
            <a:off x="3724656" y="3014836"/>
            <a:ext cx="4742688" cy="1292352"/>
          </a:xfrm>
          <a:prstGeom prst="rect">
            <a:avLst/>
          </a:prstGeom>
        </p:spPr>
      </p:pic>
    </p:spTree>
    <p:extLst>
      <p:ext uri="{BB962C8B-B14F-4D97-AF65-F5344CB8AC3E}">
        <p14:creationId xmlns:p14="http://schemas.microsoft.com/office/powerpoint/2010/main" val="146172981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EE0BC-0598-8CA7-ACD7-60EF262044E1}"/>
              </a:ext>
            </a:extLst>
          </p:cNvPr>
          <p:cNvSpPr>
            <a:spLocks noGrp="1"/>
          </p:cNvSpPr>
          <p:nvPr>
            <p:ph type="title"/>
          </p:nvPr>
        </p:nvSpPr>
        <p:spPr/>
        <p:txBody>
          <a:bodyPr/>
          <a:lstStyle/>
          <a:p>
            <a:r>
              <a:rPr lang="en-US" dirty="0"/>
              <a:t>Average Days Between Orders</a:t>
            </a:r>
            <a:endParaRPr lang="en-IN" dirty="0"/>
          </a:p>
        </p:txBody>
      </p:sp>
      <p:pic>
        <p:nvPicPr>
          <p:cNvPr id="5" name="Chart Placeholder 4">
            <a:extLst>
              <a:ext uri="{FF2B5EF4-FFF2-40B4-BE49-F238E27FC236}">
                <a16:creationId xmlns:a16="http://schemas.microsoft.com/office/drawing/2014/main" id="{650B48F9-2E33-1D83-1870-8CE0D68B6DF0}"/>
              </a:ext>
            </a:extLst>
          </p:cNvPr>
          <p:cNvPicPr>
            <a:picLocks noGrp="1" noChangeAspect="1"/>
          </p:cNvPicPr>
          <p:nvPr>
            <p:ph type="chart" sz="quarter" idx="11"/>
          </p:nvPr>
        </p:nvPicPr>
        <p:blipFill>
          <a:blip r:embed="rId2"/>
          <a:stretch>
            <a:fillRect/>
          </a:stretch>
        </p:blipFill>
        <p:spPr>
          <a:xfrm>
            <a:off x="3596894" y="2601912"/>
            <a:ext cx="4972812" cy="1219200"/>
          </a:xfrm>
          <a:prstGeom prst="rect">
            <a:avLst/>
          </a:prstGeom>
        </p:spPr>
      </p:pic>
      <p:sp>
        <p:nvSpPr>
          <p:cNvPr id="4" name="Text Placeholder 3">
            <a:extLst>
              <a:ext uri="{FF2B5EF4-FFF2-40B4-BE49-F238E27FC236}">
                <a16:creationId xmlns:a16="http://schemas.microsoft.com/office/drawing/2014/main" id="{655AF77F-79A9-188D-B404-EA9FB12B6134}"/>
              </a:ext>
            </a:extLst>
          </p:cNvPr>
          <p:cNvSpPr>
            <a:spLocks noGrp="1"/>
          </p:cNvSpPr>
          <p:nvPr>
            <p:ph type="body" sz="quarter" idx="12"/>
          </p:nvPr>
        </p:nvSpPr>
        <p:spPr/>
        <p:txBody>
          <a:bodyPr/>
          <a:lstStyle/>
          <a:p>
            <a:endParaRPr lang="en-IN"/>
          </a:p>
        </p:txBody>
      </p:sp>
    </p:spTree>
    <p:extLst>
      <p:ext uri="{BB962C8B-B14F-4D97-AF65-F5344CB8AC3E}">
        <p14:creationId xmlns:p14="http://schemas.microsoft.com/office/powerpoint/2010/main" val="10150669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B842C-37DB-4ED6-52CA-FE7C3550522C}"/>
              </a:ext>
            </a:extLst>
          </p:cNvPr>
          <p:cNvSpPr>
            <a:spLocks noGrp="1"/>
          </p:cNvSpPr>
          <p:nvPr>
            <p:ph type="title"/>
          </p:nvPr>
        </p:nvSpPr>
        <p:spPr/>
        <p:txBody>
          <a:bodyPr/>
          <a:lstStyle/>
          <a:p>
            <a:endParaRPr lang="en-IN" dirty="0"/>
          </a:p>
        </p:txBody>
      </p:sp>
      <p:sp>
        <p:nvSpPr>
          <p:cNvPr id="4" name="Text Placeholder 3">
            <a:extLst>
              <a:ext uri="{FF2B5EF4-FFF2-40B4-BE49-F238E27FC236}">
                <a16:creationId xmlns:a16="http://schemas.microsoft.com/office/drawing/2014/main" id="{C0B1806C-5A21-8F12-87B3-ABE77B4EAC89}"/>
              </a:ext>
            </a:extLst>
          </p:cNvPr>
          <p:cNvSpPr>
            <a:spLocks noGrp="1"/>
          </p:cNvSpPr>
          <p:nvPr>
            <p:ph type="body" sz="quarter" idx="12"/>
          </p:nvPr>
        </p:nvSpPr>
        <p:spPr/>
        <p:txBody>
          <a:bodyPr/>
          <a:lstStyle/>
          <a:p>
            <a:pPr algn="ctr"/>
            <a:r>
              <a:rPr lang="en-US" sz="4000" b="1" dirty="0"/>
              <a:t>                              INTER-STATE vs INTRA-STATE</a:t>
            </a:r>
            <a:endParaRPr lang="en-IN" sz="4000" b="1" dirty="0"/>
          </a:p>
        </p:txBody>
      </p:sp>
    </p:spTree>
    <p:extLst>
      <p:ext uri="{BB962C8B-B14F-4D97-AF65-F5344CB8AC3E}">
        <p14:creationId xmlns:p14="http://schemas.microsoft.com/office/powerpoint/2010/main" val="336738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C1DBC5-F689-D722-041C-6FF192DC9680}"/>
              </a:ext>
            </a:extLst>
          </p:cNvPr>
          <p:cNvSpPr>
            <a:spLocks noGrp="1"/>
          </p:cNvSpPr>
          <p:nvPr>
            <p:ph type="title"/>
          </p:nvPr>
        </p:nvSpPr>
        <p:spPr/>
        <p:txBody>
          <a:bodyPr/>
          <a:lstStyle/>
          <a:p>
            <a:r>
              <a:rPr lang="en-US" dirty="0"/>
              <a:t>Customer Distribution of </a:t>
            </a:r>
            <a:r>
              <a:rPr lang="en-US" dirty="0" err="1"/>
              <a:t>InterState</a:t>
            </a:r>
            <a:r>
              <a:rPr lang="en-US" dirty="0"/>
              <a:t> </a:t>
            </a:r>
            <a:r>
              <a:rPr lang="en-US" dirty="0" err="1"/>
              <a:t>IntraState</a:t>
            </a:r>
            <a:endParaRPr lang="en-IN" dirty="0"/>
          </a:p>
        </p:txBody>
      </p:sp>
      <p:pic>
        <p:nvPicPr>
          <p:cNvPr id="5" name="Chart Placeholder 4">
            <a:extLst>
              <a:ext uri="{FF2B5EF4-FFF2-40B4-BE49-F238E27FC236}">
                <a16:creationId xmlns:a16="http://schemas.microsoft.com/office/drawing/2014/main" id="{FD9C715F-93A0-496A-B03A-725E0E56CAD1}"/>
              </a:ext>
            </a:extLst>
          </p:cNvPr>
          <p:cNvPicPr>
            <a:picLocks noGrp="1" noChangeAspect="1"/>
          </p:cNvPicPr>
          <p:nvPr>
            <p:ph type="chart" sz="quarter" idx="11"/>
          </p:nvPr>
        </p:nvPicPr>
        <p:blipFill>
          <a:blip r:embed="rId2"/>
          <a:stretch>
            <a:fillRect/>
          </a:stretch>
        </p:blipFill>
        <p:spPr>
          <a:xfrm>
            <a:off x="1177171" y="1549400"/>
            <a:ext cx="6046708" cy="4500563"/>
          </a:xfrm>
          <a:prstGeom prst="rect">
            <a:avLst/>
          </a:prstGeom>
        </p:spPr>
      </p:pic>
      <p:sp>
        <p:nvSpPr>
          <p:cNvPr id="4" name="Text Placeholder 3">
            <a:extLst>
              <a:ext uri="{FF2B5EF4-FFF2-40B4-BE49-F238E27FC236}">
                <a16:creationId xmlns:a16="http://schemas.microsoft.com/office/drawing/2014/main" id="{7A92171E-F0F6-75EC-42A6-DA9BAF649C92}"/>
              </a:ext>
            </a:extLst>
          </p:cNvPr>
          <p:cNvSpPr>
            <a:spLocks noGrp="1"/>
          </p:cNvSpPr>
          <p:nvPr>
            <p:ph type="body" sz="quarter" idx="12"/>
          </p:nvPr>
        </p:nvSpPr>
        <p:spPr>
          <a:xfrm>
            <a:off x="8338783" y="1549400"/>
            <a:ext cx="3424592" cy="4500563"/>
          </a:xfrm>
        </p:spPr>
        <p:txBody>
          <a:bodyPr/>
          <a:lstStyle/>
          <a:p>
            <a:pPr marL="342900" indent="-342900">
              <a:buFont typeface="Arial" panose="020B0604020202020204" pitchFamily="34" charset="0"/>
              <a:buChar char="•"/>
            </a:pPr>
            <a:r>
              <a:rPr lang="en-US" sz="1400" dirty="0"/>
              <a:t>West Region store with second highest customers perform very poor in its own state as its </a:t>
            </a:r>
            <a:r>
              <a:rPr lang="en-US" sz="1400" dirty="0" err="1"/>
              <a:t>IntraState</a:t>
            </a:r>
            <a:r>
              <a:rPr lang="en-US" sz="1400" dirty="0"/>
              <a:t> transaction Percent is less then 2%..</a:t>
            </a:r>
          </a:p>
          <a:p>
            <a:endParaRPr lang="en-US" sz="1400" dirty="0"/>
          </a:p>
          <a:p>
            <a:pPr marL="342900" indent="-342900">
              <a:buFont typeface="Arial" panose="020B0604020202020204" pitchFamily="34" charset="0"/>
              <a:buChar char="•"/>
            </a:pPr>
            <a:r>
              <a:rPr lang="en-US" sz="1400" dirty="0" err="1"/>
              <a:t>InterState</a:t>
            </a:r>
            <a:r>
              <a:rPr lang="en-US" sz="1400" dirty="0"/>
              <a:t> Distribution shows consistent trend but </a:t>
            </a:r>
            <a:r>
              <a:rPr lang="en-US" sz="1400" dirty="0" err="1"/>
              <a:t>IntraState</a:t>
            </a:r>
            <a:r>
              <a:rPr lang="en-US" sz="1400" dirty="0"/>
              <a:t> Distribution shows impulsive trend with multiple lows and highs.</a:t>
            </a:r>
          </a:p>
          <a:p>
            <a:pPr marL="342900" indent="-342900">
              <a:buFont typeface="Arial" panose="020B0604020202020204" pitchFamily="34" charset="0"/>
              <a:buChar char="•"/>
            </a:pPr>
            <a:endParaRPr lang="en-US" sz="1400" dirty="0"/>
          </a:p>
          <a:p>
            <a:pPr marL="342900" indent="-342900">
              <a:buFont typeface="Arial" panose="020B0604020202020204" pitchFamily="34" charset="0"/>
              <a:buChar char="•"/>
            </a:pPr>
            <a:endParaRPr lang="en-US" sz="1400" dirty="0"/>
          </a:p>
          <a:p>
            <a:pPr marL="342900" indent="-342900">
              <a:buFont typeface="Arial" panose="020B0604020202020204" pitchFamily="34" charset="0"/>
              <a:buChar char="•"/>
            </a:pPr>
            <a:r>
              <a:rPr lang="en-US" sz="1400" dirty="0"/>
              <a:t>Promote local campaigns , to strengthen demographical reach.</a:t>
            </a:r>
          </a:p>
          <a:p>
            <a:pPr marL="342900" indent="-342900">
              <a:buFont typeface="Arial" panose="020B0604020202020204" pitchFamily="34" charset="0"/>
              <a:buChar char="•"/>
            </a:pPr>
            <a:r>
              <a:rPr lang="en-US" sz="1400" dirty="0"/>
              <a:t>Optimize Channels for </a:t>
            </a:r>
            <a:r>
              <a:rPr lang="en-US" sz="1400" dirty="0" err="1"/>
              <a:t>IntraState</a:t>
            </a:r>
            <a:r>
              <a:rPr lang="en-US" sz="1400" dirty="0"/>
              <a:t> orders</a:t>
            </a:r>
          </a:p>
          <a:p>
            <a:pPr marL="342900" indent="-342900">
              <a:buFont typeface="Arial" panose="020B0604020202020204" pitchFamily="34" charset="0"/>
              <a:buChar char="•"/>
            </a:pPr>
            <a:r>
              <a:rPr lang="en-US" sz="1400" dirty="0"/>
              <a:t>Use local languages to attract more local customers </a:t>
            </a:r>
            <a:endParaRPr lang="en-IN" sz="1400" dirty="0"/>
          </a:p>
        </p:txBody>
      </p:sp>
    </p:spTree>
    <p:extLst>
      <p:ext uri="{BB962C8B-B14F-4D97-AF65-F5344CB8AC3E}">
        <p14:creationId xmlns:p14="http://schemas.microsoft.com/office/powerpoint/2010/main" val="176905745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FE402-34F2-86D6-F8FB-C609E33B7FA8}"/>
              </a:ext>
            </a:extLst>
          </p:cNvPr>
          <p:cNvSpPr>
            <a:spLocks noGrp="1"/>
          </p:cNvSpPr>
          <p:nvPr>
            <p:ph type="title"/>
          </p:nvPr>
        </p:nvSpPr>
        <p:spPr/>
        <p:txBody>
          <a:bodyPr/>
          <a:lstStyle/>
          <a:p>
            <a:r>
              <a:rPr lang="en-US" dirty="0" err="1"/>
              <a:t>InterState</a:t>
            </a:r>
            <a:r>
              <a:rPr lang="en-US" dirty="0"/>
              <a:t> vs </a:t>
            </a:r>
            <a:r>
              <a:rPr lang="en-US" dirty="0" err="1"/>
              <a:t>IntraState</a:t>
            </a:r>
            <a:r>
              <a:rPr lang="en-US" dirty="0"/>
              <a:t> of Weekend and Weekdays Sales</a:t>
            </a:r>
            <a:endParaRPr lang="en-IN" dirty="0"/>
          </a:p>
        </p:txBody>
      </p:sp>
      <p:sp>
        <p:nvSpPr>
          <p:cNvPr id="3" name="Chart Placeholder 2">
            <a:extLst>
              <a:ext uri="{FF2B5EF4-FFF2-40B4-BE49-F238E27FC236}">
                <a16:creationId xmlns:a16="http://schemas.microsoft.com/office/drawing/2014/main" id="{EF56F8DC-6F2A-0E41-F694-CF27F91E51A4}"/>
              </a:ext>
            </a:extLst>
          </p:cNvPr>
          <p:cNvSpPr>
            <a:spLocks noGrp="1"/>
          </p:cNvSpPr>
          <p:nvPr>
            <p:ph type="chart" sz="quarter" idx="11"/>
          </p:nvPr>
        </p:nvSpPr>
        <p:spPr/>
      </p:sp>
      <p:sp>
        <p:nvSpPr>
          <p:cNvPr id="4" name="Text Placeholder 3">
            <a:extLst>
              <a:ext uri="{FF2B5EF4-FFF2-40B4-BE49-F238E27FC236}">
                <a16:creationId xmlns:a16="http://schemas.microsoft.com/office/drawing/2014/main" id="{64B64B4C-2E6C-D82B-156B-B73731AC0432}"/>
              </a:ext>
            </a:extLst>
          </p:cNvPr>
          <p:cNvSpPr>
            <a:spLocks noGrp="1"/>
          </p:cNvSpPr>
          <p:nvPr>
            <p:ph type="body" sz="quarter" idx="12"/>
          </p:nvPr>
        </p:nvSpPr>
        <p:spPr/>
        <p:txBody>
          <a:bodyPr numCol="2"/>
          <a:lstStyle/>
          <a:p>
            <a:pPr marL="285750" indent="-285750">
              <a:buFont typeface="Arial" panose="020B0604020202020204" pitchFamily="34" charset="0"/>
              <a:buChar char="•"/>
            </a:pPr>
            <a:r>
              <a:rPr lang="en-US" sz="1400" dirty="0"/>
              <a:t>Weekend contributes 21% of total sales.</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Launch weekend-specific promotions, offer discounts on paid games in play areas to attract parents.</a:t>
            </a:r>
          </a:p>
          <a:p>
            <a:endParaRPr lang="en-IN" sz="1400" dirty="0"/>
          </a:p>
        </p:txBody>
      </p:sp>
      <p:pic>
        <p:nvPicPr>
          <p:cNvPr id="8" name="Picture 7">
            <a:extLst>
              <a:ext uri="{FF2B5EF4-FFF2-40B4-BE49-F238E27FC236}">
                <a16:creationId xmlns:a16="http://schemas.microsoft.com/office/drawing/2014/main" id="{AF889AC5-8EEC-1008-5AC6-97C032A90A3B}"/>
              </a:ext>
            </a:extLst>
          </p:cNvPr>
          <p:cNvPicPr>
            <a:picLocks noChangeAspect="1"/>
          </p:cNvPicPr>
          <p:nvPr/>
        </p:nvPicPr>
        <p:blipFill>
          <a:blip r:embed="rId2"/>
          <a:stretch>
            <a:fillRect/>
          </a:stretch>
        </p:blipFill>
        <p:spPr>
          <a:xfrm>
            <a:off x="1068119" y="1549400"/>
            <a:ext cx="2822448" cy="2781300"/>
          </a:xfrm>
          <a:prstGeom prst="rect">
            <a:avLst/>
          </a:prstGeom>
        </p:spPr>
      </p:pic>
      <p:pic>
        <p:nvPicPr>
          <p:cNvPr id="9" name="Picture 8">
            <a:extLst>
              <a:ext uri="{FF2B5EF4-FFF2-40B4-BE49-F238E27FC236}">
                <a16:creationId xmlns:a16="http://schemas.microsoft.com/office/drawing/2014/main" id="{4099F66B-C2E7-51D4-E73B-F2D98E9D28DD}"/>
              </a:ext>
            </a:extLst>
          </p:cNvPr>
          <p:cNvPicPr>
            <a:picLocks noChangeAspect="1"/>
          </p:cNvPicPr>
          <p:nvPr/>
        </p:nvPicPr>
        <p:blipFill>
          <a:blip r:embed="rId3"/>
          <a:stretch>
            <a:fillRect/>
          </a:stretch>
        </p:blipFill>
        <p:spPr>
          <a:xfrm>
            <a:off x="8574229" y="1549400"/>
            <a:ext cx="2549652" cy="2695956"/>
          </a:xfrm>
          <a:prstGeom prst="rect">
            <a:avLst/>
          </a:prstGeom>
        </p:spPr>
      </p:pic>
    </p:spTree>
    <p:extLst>
      <p:ext uri="{BB962C8B-B14F-4D97-AF65-F5344CB8AC3E}">
        <p14:creationId xmlns:p14="http://schemas.microsoft.com/office/powerpoint/2010/main" val="139037806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C0759-F4A2-FF5E-7193-3CE70B065C11}"/>
              </a:ext>
            </a:extLst>
          </p:cNvPr>
          <p:cNvSpPr>
            <a:spLocks noGrp="1"/>
          </p:cNvSpPr>
          <p:nvPr>
            <p:ph type="title"/>
          </p:nvPr>
        </p:nvSpPr>
        <p:spPr/>
        <p:txBody>
          <a:bodyPr/>
          <a:lstStyle/>
          <a:p>
            <a:r>
              <a:rPr lang="en-US" dirty="0"/>
              <a:t>Distribution of Preferred Channel</a:t>
            </a:r>
            <a:endParaRPr lang="en-IN" dirty="0"/>
          </a:p>
        </p:txBody>
      </p:sp>
      <p:sp>
        <p:nvSpPr>
          <p:cNvPr id="4" name="Text Placeholder 3">
            <a:extLst>
              <a:ext uri="{FF2B5EF4-FFF2-40B4-BE49-F238E27FC236}">
                <a16:creationId xmlns:a16="http://schemas.microsoft.com/office/drawing/2014/main" id="{B75FF33C-9E65-8BAB-3D4A-5893DE80809B}"/>
              </a:ext>
            </a:extLst>
          </p:cNvPr>
          <p:cNvSpPr>
            <a:spLocks noGrp="1"/>
          </p:cNvSpPr>
          <p:nvPr>
            <p:ph type="body" sz="quarter" idx="12"/>
          </p:nvPr>
        </p:nvSpPr>
        <p:spPr/>
        <p:txBody>
          <a:bodyPr numCol="2"/>
          <a:lstStyle/>
          <a:p>
            <a:pPr marL="285750" indent="-285750">
              <a:buFont typeface="Arial" panose="020B0604020202020204" pitchFamily="34" charset="0"/>
              <a:buChar char="•"/>
            </a:pPr>
            <a:r>
              <a:rPr lang="en-US" sz="1400" dirty="0"/>
              <a:t>Around 85% customers prefer buying threw instore channel</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endParaRPr lang="en-US" sz="1400" dirty="0"/>
          </a:p>
          <a:p>
            <a:endParaRPr lang="en-US" sz="1400" dirty="0"/>
          </a:p>
          <a:p>
            <a:pPr marL="285750" indent="-285750">
              <a:buFont typeface="Arial" panose="020B0604020202020204" pitchFamily="34" charset="0"/>
              <a:buChar char="•"/>
            </a:pPr>
            <a:r>
              <a:rPr lang="en-US" sz="1400" dirty="0"/>
              <a:t>Optimize product positioning with cross selling and positioning strategies like V-Shaped display, Pyramid, </a:t>
            </a:r>
          </a:p>
          <a:p>
            <a:pPr marL="285750" indent="-285750">
              <a:buFont typeface="Arial" panose="020B0604020202020204" pitchFamily="34" charset="0"/>
              <a:buChar char="•"/>
            </a:pPr>
            <a:r>
              <a:rPr lang="en-US" sz="1400" dirty="0"/>
              <a:t>Create better interface of online application </a:t>
            </a:r>
            <a:endParaRPr lang="en-IN" sz="1400" dirty="0"/>
          </a:p>
          <a:p>
            <a:pPr marL="285750" indent="-285750">
              <a:buFont typeface="Arial" panose="020B0604020202020204" pitchFamily="34" charset="0"/>
              <a:buChar char="•"/>
            </a:pPr>
            <a:endParaRPr lang="en-IN" sz="1400" dirty="0"/>
          </a:p>
        </p:txBody>
      </p:sp>
      <p:pic>
        <p:nvPicPr>
          <p:cNvPr id="8" name="Picture 7">
            <a:extLst>
              <a:ext uri="{FF2B5EF4-FFF2-40B4-BE49-F238E27FC236}">
                <a16:creationId xmlns:a16="http://schemas.microsoft.com/office/drawing/2014/main" id="{C0BF7AD3-C450-7036-0974-C7E8F0B40DC6}"/>
              </a:ext>
            </a:extLst>
          </p:cNvPr>
          <p:cNvPicPr>
            <a:picLocks noChangeAspect="1"/>
          </p:cNvPicPr>
          <p:nvPr/>
        </p:nvPicPr>
        <p:blipFill>
          <a:blip r:embed="rId2"/>
          <a:stretch>
            <a:fillRect/>
          </a:stretch>
        </p:blipFill>
        <p:spPr>
          <a:xfrm>
            <a:off x="1051355" y="1520770"/>
            <a:ext cx="2855976" cy="2670048"/>
          </a:xfrm>
          <a:prstGeom prst="rect">
            <a:avLst/>
          </a:prstGeom>
        </p:spPr>
      </p:pic>
      <p:pic>
        <p:nvPicPr>
          <p:cNvPr id="9" name="Picture 8">
            <a:extLst>
              <a:ext uri="{FF2B5EF4-FFF2-40B4-BE49-F238E27FC236}">
                <a16:creationId xmlns:a16="http://schemas.microsoft.com/office/drawing/2014/main" id="{31E9DD31-45CD-7539-CB1C-C721226611FD}"/>
              </a:ext>
            </a:extLst>
          </p:cNvPr>
          <p:cNvPicPr>
            <a:picLocks noChangeAspect="1"/>
          </p:cNvPicPr>
          <p:nvPr/>
        </p:nvPicPr>
        <p:blipFill>
          <a:blip r:embed="rId3"/>
          <a:stretch>
            <a:fillRect/>
          </a:stretch>
        </p:blipFill>
        <p:spPr>
          <a:xfrm>
            <a:off x="8668717" y="1514674"/>
            <a:ext cx="2471928" cy="2676144"/>
          </a:xfrm>
          <a:prstGeom prst="rect">
            <a:avLst/>
          </a:prstGeom>
        </p:spPr>
      </p:pic>
    </p:spTree>
    <p:extLst>
      <p:ext uri="{BB962C8B-B14F-4D97-AF65-F5344CB8AC3E}">
        <p14:creationId xmlns:p14="http://schemas.microsoft.com/office/powerpoint/2010/main" val="131779805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50D04-844C-A04D-62B7-95FFFDA98D30}"/>
              </a:ext>
            </a:extLst>
          </p:cNvPr>
          <p:cNvSpPr>
            <a:spLocks noGrp="1"/>
          </p:cNvSpPr>
          <p:nvPr>
            <p:ph type="title"/>
          </p:nvPr>
        </p:nvSpPr>
        <p:spPr/>
        <p:txBody>
          <a:bodyPr/>
          <a:lstStyle/>
          <a:p>
            <a:r>
              <a:rPr lang="en-US" dirty="0"/>
              <a:t>Distribution of Time Slot</a:t>
            </a:r>
            <a:endParaRPr lang="en-IN" dirty="0"/>
          </a:p>
        </p:txBody>
      </p:sp>
      <p:sp>
        <p:nvSpPr>
          <p:cNvPr id="3" name="Chart Placeholder 2">
            <a:extLst>
              <a:ext uri="{FF2B5EF4-FFF2-40B4-BE49-F238E27FC236}">
                <a16:creationId xmlns:a16="http://schemas.microsoft.com/office/drawing/2014/main" id="{BBBDBAF8-AA0B-D1BB-0937-C8F4A6E71ADE}"/>
              </a:ext>
            </a:extLst>
          </p:cNvPr>
          <p:cNvSpPr>
            <a:spLocks noGrp="1"/>
          </p:cNvSpPr>
          <p:nvPr>
            <p:ph type="chart" sz="quarter" idx="11"/>
          </p:nvPr>
        </p:nvSpPr>
        <p:spPr/>
      </p:sp>
      <p:sp>
        <p:nvSpPr>
          <p:cNvPr id="4" name="Text Placeholder 3">
            <a:extLst>
              <a:ext uri="{FF2B5EF4-FFF2-40B4-BE49-F238E27FC236}">
                <a16:creationId xmlns:a16="http://schemas.microsoft.com/office/drawing/2014/main" id="{43152FEE-B2D4-E37D-8F9B-830B9CE75E02}"/>
              </a:ext>
            </a:extLst>
          </p:cNvPr>
          <p:cNvSpPr>
            <a:spLocks noGrp="1"/>
          </p:cNvSpPr>
          <p:nvPr>
            <p:ph type="body" sz="quarter" idx="12"/>
          </p:nvPr>
        </p:nvSpPr>
        <p:spPr/>
        <p:txBody>
          <a:bodyPr numCol="2"/>
          <a:lstStyle/>
          <a:p>
            <a:pPr marL="285750" indent="-285750">
              <a:buFont typeface="Arial" panose="020B0604020202020204" pitchFamily="34" charset="0"/>
              <a:buChar char="•"/>
            </a:pPr>
            <a:r>
              <a:rPr lang="en-US" sz="1400" dirty="0"/>
              <a:t>Both </a:t>
            </a:r>
            <a:r>
              <a:rPr lang="en-US" sz="1400" dirty="0" err="1"/>
              <a:t>InterState</a:t>
            </a:r>
            <a:r>
              <a:rPr lang="en-US" sz="1400" dirty="0"/>
              <a:t> and </a:t>
            </a:r>
            <a:r>
              <a:rPr lang="en-US" sz="1400" dirty="0" err="1"/>
              <a:t>IntraState</a:t>
            </a:r>
            <a:r>
              <a:rPr lang="en-US" sz="1400" dirty="0"/>
              <a:t> sales peaks at Night and </a:t>
            </a:r>
            <a:r>
              <a:rPr lang="en-US" sz="1400" dirty="0" err="1"/>
              <a:t>LateNight</a:t>
            </a:r>
            <a:r>
              <a:rPr lang="en-US" sz="1400" dirty="0"/>
              <a:t> contributing around 50% of total sales.</a:t>
            </a:r>
          </a:p>
          <a:p>
            <a:endParaRPr lang="en-US" sz="1400" dirty="0"/>
          </a:p>
          <a:p>
            <a:endParaRPr lang="en-US" sz="1400" dirty="0"/>
          </a:p>
          <a:p>
            <a:endParaRPr lang="en-US" sz="1400" dirty="0"/>
          </a:p>
          <a:p>
            <a:pPr marL="285750" indent="-285750">
              <a:buFont typeface="Arial" panose="020B0604020202020204" pitchFamily="34" charset="0"/>
              <a:buChar char="•"/>
            </a:pPr>
            <a:r>
              <a:rPr lang="en-US" sz="1400" dirty="0"/>
              <a:t>Increase Night slot staffing and promotions.</a:t>
            </a:r>
          </a:p>
          <a:p>
            <a:pPr marL="285750" indent="-285750">
              <a:buFont typeface="Arial" panose="020B0604020202020204" pitchFamily="34" charset="0"/>
              <a:buChar char="•"/>
            </a:pPr>
            <a:r>
              <a:rPr lang="en-IN" sz="1400" dirty="0"/>
              <a:t>Enable fast billing counters and instant payment offers to cater  more traffic.</a:t>
            </a:r>
          </a:p>
          <a:p>
            <a:pPr marL="285750" indent="-285750">
              <a:buFont typeface="Arial" panose="020B0604020202020204" pitchFamily="34" charset="0"/>
              <a:buChar char="•"/>
            </a:pPr>
            <a:endParaRPr lang="en-IN" sz="1400" dirty="0"/>
          </a:p>
        </p:txBody>
      </p:sp>
      <p:pic>
        <p:nvPicPr>
          <p:cNvPr id="7" name="Picture 6">
            <a:extLst>
              <a:ext uri="{FF2B5EF4-FFF2-40B4-BE49-F238E27FC236}">
                <a16:creationId xmlns:a16="http://schemas.microsoft.com/office/drawing/2014/main" id="{DBAA923D-C923-116A-347D-A6160A3A6852}"/>
              </a:ext>
            </a:extLst>
          </p:cNvPr>
          <p:cNvPicPr>
            <a:picLocks noChangeAspect="1"/>
          </p:cNvPicPr>
          <p:nvPr/>
        </p:nvPicPr>
        <p:blipFill>
          <a:blip r:embed="rId2"/>
          <a:stretch>
            <a:fillRect/>
          </a:stretch>
        </p:blipFill>
        <p:spPr>
          <a:xfrm>
            <a:off x="1014859" y="1549400"/>
            <a:ext cx="3201924" cy="2775204"/>
          </a:xfrm>
          <a:prstGeom prst="rect">
            <a:avLst/>
          </a:prstGeom>
        </p:spPr>
      </p:pic>
      <p:pic>
        <p:nvPicPr>
          <p:cNvPr id="8" name="Picture 7">
            <a:extLst>
              <a:ext uri="{FF2B5EF4-FFF2-40B4-BE49-F238E27FC236}">
                <a16:creationId xmlns:a16="http://schemas.microsoft.com/office/drawing/2014/main" id="{0D190DA9-0B0E-B3FB-8E70-3FFA75F1BC75}"/>
              </a:ext>
            </a:extLst>
          </p:cNvPr>
          <p:cNvPicPr>
            <a:picLocks noChangeAspect="1"/>
          </p:cNvPicPr>
          <p:nvPr/>
        </p:nvPicPr>
        <p:blipFill>
          <a:blip r:embed="rId3"/>
          <a:stretch>
            <a:fillRect/>
          </a:stretch>
        </p:blipFill>
        <p:spPr>
          <a:xfrm>
            <a:off x="7883777" y="1549400"/>
            <a:ext cx="3293364" cy="2817876"/>
          </a:xfrm>
          <a:prstGeom prst="rect">
            <a:avLst/>
          </a:prstGeom>
        </p:spPr>
      </p:pic>
    </p:spTree>
    <p:extLst>
      <p:ext uri="{BB962C8B-B14F-4D97-AF65-F5344CB8AC3E}">
        <p14:creationId xmlns:p14="http://schemas.microsoft.com/office/powerpoint/2010/main" val="51952986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BD089-BBF4-5473-D8A3-75D1A4773900}"/>
              </a:ext>
            </a:extLst>
          </p:cNvPr>
          <p:cNvSpPr>
            <a:spLocks noGrp="1"/>
          </p:cNvSpPr>
          <p:nvPr>
            <p:ph type="title"/>
          </p:nvPr>
        </p:nvSpPr>
        <p:spPr/>
        <p:txBody>
          <a:bodyPr/>
          <a:lstStyle/>
          <a:p>
            <a:r>
              <a:rPr lang="en-US" dirty="0"/>
              <a:t>Distribution of Preferred Payment mode</a:t>
            </a:r>
            <a:endParaRPr lang="en-IN" dirty="0"/>
          </a:p>
        </p:txBody>
      </p:sp>
      <p:sp>
        <p:nvSpPr>
          <p:cNvPr id="4" name="Text Placeholder 3">
            <a:extLst>
              <a:ext uri="{FF2B5EF4-FFF2-40B4-BE49-F238E27FC236}">
                <a16:creationId xmlns:a16="http://schemas.microsoft.com/office/drawing/2014/main" id="{B3283936-85D5-28E7-48DA-64D2E805C7C9}"/>
              </a:ext>
            </a:extLst>
          </p:cNvPr>
          <p:cNvSpPr>
            <a:spLocks noGrp="1"/>
          </p:cNvSpPr>
          <p:nvPr>
            <p:ph type="body" sz="quarter" idx="12"/>
          </p:nvPr>
        </p:nvSpPr>
        <p:spPr/>
        <p:txBody>
          <a:bodyPr numCol="2"/>
          <a:lstStyle/>
          <a:p>
            <a:pPr marL="285750" indent="-285750">
              <a:buFont typeface="Arial" panose="020B0604020202020204" pitchFamily="34" charset="0"/>
              <a:buChar char="•"/>
            </a:pPr>
            <a:r>
              <a:rPr lang="en-US" sz="1400" dirty="0"/>
              <a:t>Credit card contributes around 75% of total transactions done by both One-Timers and Repeaters where as debit card and vouchers are contributing around 5%.</a:t>
            </a:r>
          </a:p>
          <a:p>
            <a:endParaRPr lang="en-US" sz="1400" dirty="0"/>
          </a:p>
          <a:p>
            <a:pPr marL="285750" indent="-285750">
              <a:buFont typeface="Arial" panose="020B0604020202020204" pitchFamily="34" charset="0"/>
              <a:buChar char="•"/>
            </a:pPr>
            <a:r>
              <a:rPr lang="en-US" sz="1400" dirty="0"/>
              <a:t>Establish collaboration with banks for offers.</a:t>
            </a:r>
          </a:p>
          <a:p>
            <a:pPr marL="285750" indent="-285750">
              <a:buFont typeface="Arial" panose="020B0604020202020204" pitchFamily="34" charset="0"/>
              <a:buChar char="•"/>
            </a:pPr>
            <a:r>
              <a:rPr lang="en-US" sz="1400" dirty="0"/>
              <a:t>Offer vouchers with great discount on minimum purchase value which will increase sales and retain customers.</a:t>
            </a:r>
          </a:p>
          <a:p>
            <a:endParaRPr lang="en-IN" sz="1400" dirty="0"/>
          </a:p>
        </p:txBody>
      </p:sp>
      <p:pic>
        <p:nvPicPr>
          <p:cNvPr id="8" name="Picture 7">
            <a:extLst>
              <a:ext uri="{FF2B5EF4-FFF2-40B4-BE49-F238E27FC236}">
                <a16:creationId xmlns:a16="http://schemas.microsoft.com/office/drawing/2014/main" id="{23662E6D-023F-E4FB-B84D-C8D2BEE0A3D5}"/>
              </a:ext>
            </a:extLst>
          </p:cNvPr>
          <p:cNvPicPr>
            <a:picLocks noChangeAspect="1"/>
          </p:cNvPicPr>
          <p:nvPr/>
        </p:nvPicPr>
        <p:blipFill>
          <a:blip r:embed="rId2"/>
          <a:stretch>
            <a:fillRect/>
          </a:stretch>
        </p:blipFill>
        <p:spPr>
          <a:xfrm>
            <a:off x="1044383" y="1553360"/>
            <a:ext cx="3525012" cy="3058668"/>
          </a:xfrm>
          <a:prstGeom prst="rect">
            <a:avLst/>
          </a:prstGeom>
        </p:spPr>
      </p:pic>
      <p:pic>
        <p:nvPicPr>
          <p:cNvPr id="9" name="Picture 8">
            <a:extLst>
              <a:ext uri="{FF2B5EF4-FFF2-40B4-BE49-F238E27FC236}">
                <a16:creationId xmlns:a16="http://schemas.microsoft.com/office/drawing/2014/main" id="{F51476D1-6CF5-BE40-8087-8E68591C25AA}"/>
              </a:ext>
            </a:extLst>
          </p:cNvPr>
          <p:cNvPicPr>
            <a:picLocks noChangeAspect="1"/>
          </p:cNvPicPr>
          <p:nvPr/>
        </p:nvPicPr>
        <p:blipFill>
          <a:blip r:embed="rId3"/>
          <a:stretch>
            <a:fillRect/>
          </a:stretch>
        </p:blipFill>
        <p:spPr>
          <a:xfrm>
            <a:off x="7855777" y="1553360"/>
            <a:ext cx="3291840" cy="3019044"/>
          </a:xfrm>
          <a:prstGeom prst="rect">
            <a:avLst/>
          </a:prstGeom>
        </p:spPr>
      </p:pic>
    </p:spTree>
    <p:extLst>
      <p:ext uri="{BB962C8B-B14F-4D97-AF65-F5344CB8AC3E}">
        <p14:creationId xmlns:p14="http://schemas.microsoft.com/office/powerpoint/2010/main" val="260222008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D7A4E-BE8C-DBF1-33CA-EA1577864CD8}"/>
              </a:ext>
            </a:extLst>
          </p:cNvPr>
          <p:cNvSpPr>
            <a:spLocks noGrp="1"/>
          </p:cNvSpPr>
          <p:nvPr>
            <p:ph type="title"/>
          </p:nvPr>
        </p:nvSpPr>
        <p:spPr/>
        <p:txBody>
          <a:bodyPr/>
          <a:lstStyle/>
          <a:p>
            <a:r>
              <a:rPr lang="en-US" dirty="0"/>
              <a:t>Distribution of Hourly Traffic</a:t>
            </a:r>
            <a:endParaRPr lang="en-IN" dirty="0"/>
          </a:p>
        </p:txBody>
      </p:sp>
      <p:pic>
        <p:nvPicPr>
          <p:cNvPr id="6" name="Chart Placeholder 5">
            <a:extLst>
              <a:ext uri="{FF2B5EF4-FFF2-40B4-BE49-F238E27FC236}">
                <a16:creationId xmlns:a16="http://schemas.microsoft.com/office/drawing/2014/main" id="{EFBE03A5-C454-349B-7186-8F0C6EECFAA3}"/>
              </a:ext>
            </a:extLst>
          </p:cNvPr>
          <p:cNvPicPr>
            <a:picLocks noGrp="1" noChangeAspect="1"/>
          </p:cNvPicPr>
          <p:nvPr>
            <p:ph type="chart" sz="quarter" idx="11"/>
          </p:nvPr>
        </p:nvPicPr>
        <p:blipFill>
          <a:blip r:embed="rId2"/>
          <a:stretch>
            <a:fillRect/>
          </a:stretch>
        </p:blipFill>
        <p:spPr>
          <a:xfrm>
            <a:off x="7313570" y="1420581"/>
            <a:ext cx="3489884" cy="3324225"/>
          </a:xfrm>
          <a:prstGeom prst="rect">
            <a:avLst/>
          </a:prstGeom>
        </p:spPr>
      </p:pic>
      <p:sp>
        <p:nvSpPr>
          <p:cNvPr id="4" name="Text Placeholder 3">
            <a:extLst>
              <a:ext uri="{FF2B5EF4-FFF2-40B4-BE49-F238E27FC236}">
                <a16:creationId xmlns:a16="http://schemas.microsoft.com/office/drawing/2014/main" id="{EAFDAD8A-FAE3-A32D-6AAF-76F65B13FF84}"/>
              </a:ext>
            </a:extLst>
          </p:cNvPr>
          <p:cNvSpPr>
            <a:spLocks noGrp="1"/>
          </p:cNvSpPr>
          <p:nvPr>
            <p:ph type="body" sz="quarter" idx="12"/>
          </p:nvPr>
        </p:nvSpPr>
        <p:spPr/>
        <p:txBody>
          <a:bodyPr/>
          <a:lstStyle/>
          <a:p>
            <a:endParaRPr lang="en-IN"/>
          </a:p>
        </p:txBody>
      </p:sp>
      <p:pic>
        <p:nvPicPr>
          <p:cNvPr id="5" name="Picture 4">
            <a:extLst>
              <a:ext uri="{FF2B5EF4-FFF2-40B4-BE49-F238E27FC236}">
                <a16:creationId xmlns:a16="http://schemas.microsoft.com/office/drawing/2014/main" id="{C70E65A2-C916-4E3B-F50C-BF33E5889BA9}"/>
              </a:ext>
            </a:extLst>
          </p:cNvPr>
          <p:cNvPicPr>
            <a:picLocks noChangeAspect="1"/>
          </p:cNvPicPr>
          <p:nvPr/>
        </p:nvPicPr>
        <p:blipFill>
          <a:blip r:embed="rId3"/>
          <a:stretch>
            <a:fillRect/>
          </a:stretch>
        </p:blipFill>
        <p:spPr>
          <a:xfrm>
            <a:off x="403200" y="1420580"/>
            <a:ext cx="6420681" cy="3324225"/>
          </a:xfrm>
          <a:prstGeom prst="rect">
            <a:avLst/>
          </a:prstGeom>
        </p:spPr>
      </p:pic>
    </p:spTree>
    <p:extLst>
      <p:ext uri="{BB962C8B-B14F-4D97-AF65-F5344CB8AC3E}">
        <p14:creationId xmlns:p14="http://schemas.microsoft.com/office/powerpoint/2010/main" val="366047186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E7FBF-41A8-5861-656E-8878323A7904}"/>
              </a:ext>
            </a:extLst>
          </p:cNvPr>
          <p:cNvSpPr>
            <a:spLocks noGrp="1"/>
          </p:cNvSpPr>
          <p:nvPr>
            <p:ph type="title"/>
          </p:nvPr>
        </p:nvSpPr>
        <p:spPr/>
        <p:txBody>
          <a:bodyPr/>
          <a:lstStyle/>
          <a:p>
            <a:r>
              <a:rPr lang="en-US" dirty="0"/>
              <a:t>Distribution of Quarters</a:t>
            </a:r>
            <a:endParaRPr lang="en-IN" dirty="0"/>
          </a:p>
        </p:txBody>
      </p:sp>
      <p:sp>
        <p:nvSpPr>
          <p:cNvPr id="3" name="Chart Placeholder 2">
            <a:extLst>
              <a:ext uri="{FF2B5EF4-FFF2-40B4-BE49-F238E27FC236}">
                <a16:creationId xmlns:a16="http://schemas.microsoft.com/office/drawing/2014/main" id="{BD53DEB1-05A5-E8AC-C94A-B2EDBA23F2A6}"/>
              </a:ext>
            </a:extLst>
          </p:cNvPr>
          <p:cNvSpPr>
            <a:spLocks noGrp="1"/>
          </p:cNvSpPr>
          <p:nvPr>
            <p:ph type="chart" sz="quarter" idx="11"/>
          </p:nvPr>
        </p:nvSpPr>
        <p:spPr/>
      </p:sp>
      <p:sp>
        <p:nvSpPr>
          <p:cNvPr id="4" name="Text Placeholder 3">
            <a:extLst>
              <a:ext uri="{FF2B5EF4-FFF2-40B4-BE49-F238E27FC236}">
                <a16:creationId xmlns:a16="http://schemas.microsoft.com/office/drawing/2014/main" id="{8AA871F2-3DE5-B32B-BE53-5A9E7417B7D8}"/>
              </a:ext>
            </a:extLst>
          </p:cNvPr>
          <p:cNvSpPr>
            <a:spLocks noGrp="1"/>
          </p:cNvSpPr>
          <p:nvPr>
            <p:ph type="body" sz="quarter" idx="12"/>
          </p:nvPr>
        </p:nvSpPr>
        <p:spPr/>
        <p:txBody>
          <a:bodyPr numCol="2"/>
          <a:lstStyle/>
          <a:p>
            <a:pPr marL="342900" indent="-342900">
              <a:buFont typeface="Arial" panose="020B0604020202020204" pitchFamily="34" charset="0"/>
              <a:buChar char="•"/>
            </a:pPr>
            <a:r>
              <a:rPr lang="en-US" sz="1400" dirty="0"/>
              <a:t>Quarters are diversified</a:t>
            </a:r>
          </a:p>
          <a:p>
            <a:endParaRPr lang="en-US" sz="1400" dirty="0"/>
          </a:p>
          <a:p>
            <a:endParaRPr lang="en-US" sz="1400" dirty="0"/>
          </a:p>
          <a:p>
            <a:endParaRPr lang="en-US" sz="1400" dirty="0"/>
          </a:p>
          <a:p>
            <a:pPr marL="285750" indent="-285750">
              <a:buFont typeface="Arial" panose="020B0604020202020204" pitchFamily="34" charset="0"/>
              <a:buChar char="•"/>
            </a:pPr>
            <a:r>
              <a:rPr lang="en-US" sz="1400" dirty="0"/>
              <a:t>Target Q2 and Q3 which will increase seasonal sales due to festive seasons like Diwali, Navratri, Independence day, Christmas, new year and more.</a:t>
            </a:r>
          </a:p>
          <a:p>
            <a:pPr marL="285750" indent="-285750">
              <a:buFont typeface="Arial" panose="020B0604020202020204" pitchFamily="34" charset="0"/>
              <a:buChar char="•"/>
            </a:pPr>
            <a:endParaRPr lang="en-IN" sz="1400" dirty="0"/>
          </a:p>
        </p:txBody>
      </p:sp>
      <p:pic>
        <p:nvPicPr>
          <p:cNvPr id="7" name="Picture 6">
            <a:extLst>
              <a:ext uri="{FF2B5EF4-FFF2-40B4-BE49-F238E27FC236}">
                <a16:creationId xmlns:a16="http://schemas.microsoft.com/office/drawing/2014/main" id="{F122E31D-354E-A98B-7D72-69A746363E8C}"/>
              </a:ext>
            </a:extLst>
          </p:cNvPr>
          <p:cNvPicPr>
            <a:picLocks noChangeAspect="1"/>
          </p:cNvPicPr>
          <p:nvPr/>
        </p:nvPicPr>
        <p:blipFill>
          <a:blip r:embed="rId2"/>
          <a:stretch>
            <a:fillRect/>
          </a:stretch>
        </p:blipFill>
        <p:spPr>
          <a:xfrm>
            <a:off x="1062990" y="1526540"/>
            <a:ext cx="3415284" cy="2918460"/>
          </a:xfrm>
          <a:prstGeom prst="rect">
            <a:avLst/>
          </a:prstGeom>
        </p:spPr>
      </p:pic>
      <p:pic>
        <p:nvPicPr>
          <p:cNvPr id="8" name="Picture 7">
            <a:extLst>
              <a:ext uri="{FF2B5EF4-FFF2-40B4-BE49-F238E27FC236}">
                <a16:creationId xmlns:a16="http://schemas.microsoft.com/office/drawing/2014/main" id="{C16F94DD-5B8B-5FF1-DD85-7AE78FB3F13E}"/>
              </a:ext>
            </a:extLst>
          </p:cNvPr>
          <p:cNvPicPr>
            <a:picLocks noChangeAspect="1"/>
          </p:cNvPicPr>
          <p:nvPr/>
        </p:nvPicPr>
        <p:blipFill>
          <a:blip r:embed="rId3"/>
          <a:stretch>
            <a:fillRect/>
          </a:stretch>
        </p:blipFill>
        <p:spPr>
          <a:xfrm>
            <a:off x="7893558" y="1549400"/>
            <a:ext cx="3235452" cy="2895600"/>
          </a:xfrm>
          <a:prstGeom prst="rect">
            <a:avLst/>
          </a:prstGeom>
        </p:spPr>
      </p:pic>
    </p:spTree>
    <p:extLst>
      <p:ext uri="{BB962C8B-B14F-4D97-AF65-F5344CB8AC3E}">
        <p14:creationId xmlns:p14="http://schemas.microsoft.com/office/powerpoint/2010/main" val="172729459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DD128-42B6-61F1-3C27-65C19198936D}"/>
              </a:ext>
            </a:extLst>
          </p:cNvPr>
          <p:cNvSpPr>
            <a:spLocks noGrp="1"/>
          </p:cNvSpPr>
          <p:nvPr>
            <p:ph type="title"/>
          </p:nvPr>
        </p:nvSpPr>
        <p:spPr/>
        <p:txBody>
          <a:bodyPr/>
          <a:lstStyle/>
          <a:p>
            <a:r>
              <a:rPr lang="en-US" dirty="0"/>
              <a:t>Average Sales , Discount , Profit</a:t>
            </a:r>
            <a:endParaRPr lang="en-IN" dirty="0"/>
          </a:p>
        </p:txBody>
      </p:sp>
      <p:pic>
        <p:nvPicPr>
          <p:cNvPr id="6" name="Chart Placeholder 5">
            <a:extLst>
              <a:ext uri="{FF2B5EF4-FFF2-40B4-BE49-F238E27FC236}">
                <a16:creationId xmlns:a16="http://schemas.microsoft.com/office/drawing/2014/main" id="{FC42853B-9219-F50E-C8F3-202CEF7E83A5}"/>
              </a:ext>
            </a:extLst>
          </p:cNvPr>
          <p:cNvPicPr>
            <a:picLocks noGrp="1" noChangeAspect="1"/>
          </p:cNvPicPr>
          <p:nvPr>
            <p:ph type="chart" sz="quarter" idx="11"/>
          </p:nvPr>
        </p:nvPicPr>
        <p:blipFill>
          <a:blip r:embed="rId2"/>
          <a:stretch>
            <a:fillRect/>
          </a:stretch>
        </p:blipFill>
        <p:spPr>
          <a:xfrm>
            <a:off x="6095999" y="1576832"/>
            <a:ext cx="5667375" cy="1181100"/>
          </a:xfrm>
          <a:prstGeom prst="rect">
            <a:avLst/>
          </a:prstGeom>
        </p:spPr>
      </p:pic>
      <p:sp>
        <p:nvSpPr>
          <p:cNvPr id="4" name="Text Placeholder 3">
            <a:extLst>
              <a:ext uri="{FF2B5EF4-FFF2-40B4-BE49-F238E27FC236}">
                <a16:creationId xmlns:a16="http://schemas.microsoft.com/office/drawing/2014/main" id="{575FF930-6BC1-E184-A36E-110CE6F23F4A}"/>
              </a:ext>
            </a:extLst>
          </p:cNvPr>
          <p:cNvSpPr>
            <a:spLocks noGrp="1"/>
          </p:cNvSpPr>
          <p:nvPr>
            <p:ph type="body" sz="quarter" idx="12"/>
          </p:nvPr>
        </p:nvSpPr>
        <p:spPr/>
        <p:txBody>
          <a:bodyPr/>
          <a:lstStyle/>
          <a:p>
            <a:endParaRPr lang="en-IN"/>
          </a:p>
        </p:txBody>
      </p:sp>
      <p:pic>
        <p:nvPicPr>
          <p:cNvPr id="5" name="Picture 4">
            <a:extLst>
              <a:ext uri="{FF2B5EF4-FFF2-40B4-BE49-F238E27FC236}">
                <a16:creationId xmlns:a16="http://schemas.microsoft.com/office/drawing/2014/main" id="{CE094E28-9AD4-4C36-6032-D779A0BBBFFB}"/>
              </a:ext>
            </a:extLst>
          </p:cNvPr>
          <p:cNvPicPr>
            <a:picLocks noChangeAspect="1"/>
          </p:cNvPicPr>
          <p:nvPr/>
        </p:nvPicPr>
        <p:blipFill>
          <a:blip r:embed="rId3"/>
          <a:stretch>
            <a:fillRect/>
          </a:stretch>
        </p:blipFill>
        <p:spPr>
          <a:xfrm>
            <a:off x="428000" y="1549400"/>
            <a:ext cx="5668000" cy="1208532"/>
          </a:xfrm>
          <a:prstGeom prst="rect">
            <a:avLst/>
          </a:prstGeom>
        </p:spPr>
      </p:pic>
      <p:pic>
        <p:nvPicPr>
          <p:cNvPr id="7" name="Picture 6">
            <a:extLst>
              <a:ext uri="{FF2B5EF4-FFF2-40B4-BE49-F238E27FC236}">
                <a16:creationId xmlns:a16="http://schemas.microsoft.com/office/drawing/2014/main" id="{6356F42C-D91A-FFDE-C526-FE5D4AD1FDB0}"/>
              </a:ext>
            </a:extLst>
          </p:cNvPr>
          <p:cNvPicPr>
            <a:picLocks noChangeAspect="1"/>
          </p:cNvPicPr>
          <p:nvPr/>
        </p:nvPicPr>
        <p:blipFill>
          <a:blip r:embed="rId4"/>
          <a:stretch>
            <a:fillRect/>
          </a:stretch>
        </p:blipFill>
        <p:spPr>
          <a:xfrm>
            <a:off x="3312227" y="3013457"/>
            <a:ext cx="5668000" cy="1086612"/>
          </a:xfrm>
          <a:prstGeom prst="rect">
            <a:avLst/>
          </a:prstGeom>
        </p:spPr>
      </p:pic>
    </p:spTree>
    <p:extLst>
      <p:ext uri="{BB962C8B-B14F-4D97-AF65-F5344CB8AC3E}">
        <p14:creationId xmlns:p14="http://schemas.microsoft.com/office/powerpoint/2010/main" val="54862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56D0588-3983-C04E-E4D1-ECCFAF56EC13}"/>
              </a:ext>
            </a:extLst>
          </p:cNvPr>
          <p:cNvSpPr>
            <a:spLocks noGrp="1"/>
          </p:cNvSpPr>
          <p:nvPr>
            <p:ph type="title"/>
          </p:nvPr>
        </p:nvSpPr>
        <p:spPr/>
        <p:txBody>
          <a:bodyPr/>
          <a:lstStyle/>
          <a:p>
            <a:r>
              <a:rPr lang="en-US" dirty="0"/>
              <a:t>Average Days Between Orders</a:t>
            </a:r>
            <a:endParaRPr lang="en-IN" dirty="0"/>
          </a:p>
        </p:txBody>
      </p:sp>
      <p:sp>
        <p:nvSpPr>
          <p:cNvPr id="8" name="Text Placeholder 7">
            <a:extLst>
              <a:ext uri="{FF2B5EF4-FFF2-40B4-BE49-F238E27FC236}">
                <a16:creationId xmlns:a16="http://schemas.microsoft.com/office/drawing/2014/main" id="{2CB13114-CD40-310A-456E-E1CFADBECE0C}"/>
              </a:ext>
            </a:extLst>
          </p:cNvPr>
          <p:cNvSpPr>
            <a:spLocks noGrp="1"/>
          </p:cNvSpPr>
          <p:nvPr>
            <p:ph type="body" sz="quarter" idx="13"/>
          </p:nvPr>
        </p:nvSpPr>
        <p:spPr/>
        <p:txBody>
          <a:bodyPr/>
          <a:lstStyle/>
          <a:p>
            <a:endParaRPr lang="en-IN"/>
          </a:p>
        </p:txBody>
      </p:sp>
      <p:pic>
        <p:nvPicPr>
          <p:cNvPr id="2" name="Picture 1">
            <a:extLst>
              <a:ext uri="{FF2B5EF4-FFF2-40B4-BE49-F238E27FC236}">
                <a16:creationId xmlns:a16="http://schemas.microsoft.com/office/drawing/2014/main" id="{B5F85E2A-687B-3EB7-184D-BD3E1804C7FE}"/>
              </a:ext>
            </a:extLst>
          </p:cNvPr>
          <p:cNvPicPr>
            <a:picLocks noChangeAspect="1"/>
          </p:cNvPicPr>
          <p:nvPr/>
        </p:nvPicPr>
        <p:blipFill>
          <a:blip r:embed="rId2"/>
          <a:stretch>
            <a:fillRect/>
          </a:stretch>
        </p:blipFill>
        <p:spPr>
          <a:xfrm>
            <a:off x="3723894" y="2830830"/>
            <a:ext cx="4744212" cy="1196340"/>
          </a:xfrm>
          <a:prstGeom prst="rect">
            <a:avLst/>
          </a:prstGeom>
        </p:spPr>
      </p:pic>
    </p:spTree>
    <p:extLst>
      <p:ext uri="{BB962C8B-B14F-4D97-AF65-F5344CB8AC3E}">
        <p14:creationId xmlns:p14="http://schemas.microsoft.com/office/powerpoint/2010/main" val="209749925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D229E-FE85-42FD-9721-DDD18A55AD0B}"/>
              </a:ext>
            </a:extLst>
          </p:cNvPr>
          <p:cNvSpPr>
            <a:spLocks noGrp="1"/>
          </p:cNvSpPr>
          <p:nvPr>
            <p:ph type="title"/>
          </p:nvPr>
        </p:nvSpPr>
        <p:spPr/>
        <p:txBody>
          <a:bodyPr/>
          <a:lstStyle/>
          <a:p>
            <a:endParaRPr lang="en-IN" dirty="0"/>
          </a:p>
        </p:txBody>
      </p:sp>
      <p:sp>
        <p:nvSpPr>
          <p:cNvPr id="4" name="Text Placeholder 3">
            <a:extLst>
              <a:ext uri="{FF2B5EF4-FFF2-40B4-BE49-F238E27FC236}">
                <a16:creationId xmlns:a16="http://schemas.microsoft.com/office/drawing/2014/main" id="{0624200F-177B-BC75-A0CE-387854E0EEE4}"/>
              </a:ext>
            </a:extLst>
          </p:cNvPr>
          <p:cNvSpPr>
            <a:spLocks noGrp="1"/>
          </p:cNvSpPr>
          <p:nvPr>
            <p:ph type="body" sz="quarter" idx="12"/>
          </p:nvPr>
        </p:nvSpPr>
        <p:spPr/>
        <p:txBody>
          <a:bodyPr/>
          <a:lstStyle/>
          <a:p>
            <a:r>
              <a:rPr lang="en-US" sz="4000" b="1" dirty="0"/>
              <a:t>                         INTER-REGION vs INTRA-REGION</a:t>
            </a:r>
            <a:endParaRPr lang="en-IN" sz="4000" b="1" dirty="0"/>
          </a:p>
        </p:txBody>
      </p:sp>
    </p:spTree>
    <p:extLst>
      <p:ext uri="{BB962C8B-B14F-4D97-AF65-F5344CB8AC3E}">
        <p14:creationId xmlns:p14="http://schemas.microsoft.com/office/powerpoint/2010/main" val="215506131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A1AD3-9391-B31E-321B-D8A48116EFEE}"/>
              </a:ext>
            </a:extLst>
          </p:cNvPr>
          <p:cNvSpPr>
            <a:spLocks noGrp="1"/>
          </p:cNvSpPr>
          <p:nvPr>
            <p:ph type="title"/>
          </p:nvPr>
        </p:nvSpPr>
        <p:spPr/>
        <p:txBody>
          <a:bodyPr/>
          <a:lstStyle/>
          <a:p>
            <a:r>
              <a:rPr lang="en-US" dirty="0"/>
              <a:t>Customer Distribution of </a:t>
            </a:r>
            <a:r>
              <a:rPr lang="en-US" dirty="0" err="1"/>
              <a:t>InterRegion</a:t>
            </a:r>
            <a:r>
              <a:rPr lang="en-US" dirty="0"/>
              <a:t> </a:t>
            </a:r>
            <a:r>
              <a:rPr lang="en-US" dirty="0" err="1"/>
              <a:t>IntraRegion</a:t>
            </a:r>
            <a:endParaRPr lang="en-IN" dirty="0"/>
          </a:p>
        </p:txBody>
      </p:sp>
      <p:pic>
        <p:nvPicPr>
          <p:cNvPr id="5" name="Chart Placeholder 4">
            <a:extLst>
              <a:ext uri="{FF2B5EF4-FFF2-40B4-BE49-F238E27FC236}">
                <a16:creationId xmlns:a16="http://schemas.microsoft.com/office/drawing/2014/main" id="{B66CC3BE-6103-AAB4-38CD-5FA671E02D6A}"/>
              </a:ext>
            </a:extLst>
          </p:cNvPr>
          <p:cNvPicPr>
            <a:picLocks noGrp="1" noChangeAspect="1"/>
          </p:cNvPicPr>
          <p:nvPr>
            <p:ph type="chart" sz="quarter" idx="11"/>
          </p:nvPr>
        </p:nvPicPr>
        <p:blipFill>
          <a:blip r:embed="rId2"/>
          <a:stretch>
            <a:fillRect/>
          </a:stretch>
        </p:blipFill>
        <p:spPr>
          <a:xfrm>
            <a:off x="1052187" y="1549400"/>
            <a:ext cx="6214125" cy="4500563"/>
          </a:xfrm>
          <a:prstGeom prst="rect">
            <a:avLst/>
          </a:prstGeom>
        </p:spPr>
      </p:pic>
      <p:sp>
        <p:nvSpPr>
          <p:cNvPr id="4" name="Text Placeholder 3">
            <a:extLst>
              <a:ext uri="{FF2B5EF4-FFF2-40B4-BE49-F238E27FC236}">
                <a16:creationId xmlns:a16="http://schemas.microsoft.com/office/drawing/2014/main" id="{BD03BB62-D9A9-A698-F6A4-541D3260ED7B}"/>
              </a:ext>
            </a:extLst>
          </p:cNvPr>
          <p:cNvSpPr>
            <a:spLocks noGrp="1"/>
          </p:cNvSpPr>
          <p:nvPr>
            <p:ph type="body" sz="quarter" idx="12"/>
          </p:nvPr>
        </p:nvSpPr>
        <p:spPr>
          <a:xfrm>
            <a:off x="8284191" y="1549400"/>
            <a:ext cx="3479184" cy="4500563"/>
          </a:xfrm>
        </p:spPr>
        <p:txBody>
          <a:bodyPr/>
          <a:lstStyle/>
          <a:p>
            <a:pPr marL="285750" indent="-285750">
              <a:buFont typeface="Arial" panose="020B0604020202020204" pitchFamily="34" charset="0"/>
              <a:buChar char="•"/>
            </a:pPr>
            <a:r>
              <a:rPr lang="en-US" sz="1400" dirty="0"/>
              <a:t>Only 10 out of 37 Store offers Inter-Regional transactions.</a:t>
            </a:r>
          </a:p>
          <a:p>
            <a:pPr marL="285750" indent="-285750">
              <a:buFont typeface="Arial" panose="020B0604020202020204" pitchFamily="34" charset="0"/>
              <a:buChar char="•"/>
            </a:pPr>
            <a:r>
              <a:rPr lang="en-US" sz="1400" dirty="0"/>
              <a:t>Region West dominates in inter-regional transactions.</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endParaRPr lang="en-US" sz="1400" dirty="0"/>
          </a:p>
          <a:p>
            <a:endParaRPr lang="en-US" sz="1400" dirty="0"/>
          </a:p>
          <a:p>
            <a:pPr marL="285750" indent="-285750">
              <a:buFont typeface="Arial" panose="020B0604020202020204" pitchFamily="34" charset="0"/>
              <a:buChar char="•"/>
            </a:pPr>
            <a:r>
              <a:rPr lang="en-US" sz="1400" dirty="0"/>
              <a:t>Offer Region specific product to other regions by developing strong supply chain and delivery networks.</a:t>
            </a:r>
          </a:p>
        </p:txBody>
      </p:sp>
    </p:spTree>
    <p:extLst>
      <p:ext uri="{BB962C8B-B14F-4D97-AF65-F5344CB8AC3E}">
        <p14:creationId xmlns:p14="http://schemas.microsoft.com/office/powerpoint/2010/main" val="424463778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AC9AB9-D59A-C21B-0E94-00F02AC362B1}"/>
              </a:ext>
            </a:extLst>
          </p:cNvPr>
          <p:cNvSpPr>
            <a:spLocks noGrp="1"/>
          </p:cNvSpPr>
          <p:nvPr>
            <p:ph type="title"/>
          </p:nvPr>
        </p:nvSpPr>
        <p:spPr/>
        <p:txBody>
          <a:bodyPr/>
          <a:lstStyle/>
          <a:p>
            <a:r>
              <a:rPr lang="en-US" dirty="0" err="1"/>
              <a:t>InterRegion</a:t>
            </a:r>
            <a:r>
              <a:rPr lang="en-US" dirty="0"/>
              <a:t> Vs </a:t>
            </a:r>
            <a:r>
              <a:rPr lang="en-US" dirty="0" err="1"/>
              <a:t>IntraRegion</a:t>
            </a:r>
            <a:r>
              <a:rPr lang="en-US" dirty="0"/>
              <a:t> Weekend and Weekdays Sales</a:t>
            </a:r>
            <a:endParaRPr lang="en-IN" dirty="0"/>
          </a:p>
        </p:txBody>
      </p:sp>
      <p:sp>
        <p:nvSpPr>
          <p:cNvPr id="3" name="Chart Placeholder 2">
            <a:extLst>
              <a:ext uri="{FF2B5EF4-FFF2-40B4-BE49-F238E27FC236}">
                <a16:creationId xmlns:a16="http://schemas.microsoft.com/office/drawing/2014/main" id="{2A8BD0EA-86BD-2EB2-AE6A-4EC04DE6088D}"/>
              </a:ext>
            </a:extLst>
          </p:cNvPr>
          <p:cNvSpPr>
            <a:spLocks noGrp="1"/>
          </p:cNvSpPr>
          <p:nvPr>
            <p:ph type="chart" sz="quarter" idx="11"/>
          </p:nvPr>
        </p:nvSpPr>
        <p:spPr/>
      </p:sp>
      <p:sp>
        <p:nvSpPr>
          <p:cNvPr id="4" name="Text Placeholder 3">
            <a:extLst>
              <a:ext uri="{FF2B5EF4-FFF2-40B4-BE49-F238E27FC236}">
                <a16:creationId xmlns:a16="http://schemas.microsoft.com/office/drawing/2014/main" id="{285C739A-C6BF-E12A-68E5-AE980D0ACEA9}"/>
              </a:ext>
            </a:extLst>
          </p:cNvPr>
          <p:cNvSpPr>
            <a:spLocks noGrp="1"/>
          </p:cNvSpPr>
          <p:nvPr>
            <p:ph type="body" sz="quarter" idx="12"/>
          </p:nvPr>
        </p:nvSpPr>
        <p:spPr/>
        <p:txBody>
          <a:bodyPr numCol="2"/>
          <a:lstStyle/>
          <a:p>
            <a:pPr marL="285750" indent="-285750">
              <a:buFont typeface="Arial" panose="020B0604020202020204" pitchFamily="34" charset="0"/>
              <a:buChar char="•"/>
            </a:pPr>
            <a:r>
              <a:rPr lang="en-US" sz="1400" dirty="0"/>
              <a:t>Weekend contributes 21% of total sales.</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Launch weekend-specific promotions, offer discounts on paid games in play areas to attract parents.</a:t>
            </a:r>
          </a:p>
          <a:p>
            <a:pPr marL="285750" indent="-285750">
              <a:buFont typeface="Arial" panose="020B0604020202020204" pitchFamily="34" charset="0"/>
              <a:buChar char="•"/>
            </a:pPr>
            <a:endParaRPr lang="en-IN" sz="1400" dirty="0"/>
          </a:p>
        </p:txBody>
      </p:sp>
      <p:pic>
        <p:nvPicPr>
          <p:cNvPr id="7" name="Picture 6">
            <a:extLst>
              <a:ext uri="{FF2B5EF4-FFF2-40B4-BE49-F238E27FC236}">
                <a16:creationId xmlns:a16="http://schemas.microsoft.com/office/drawing/2014/main" id="{972B497E-C156-4A00-4C46-68A89717CA4A}"/>
              </a:ext>
            </a:extLst>
          </p:cNvPr>
          <p:cNvPicPr>
            <a:picLocks noChangeAspect="1"/>
          </p:cNvPicPr>
          <p:nvPr/>
        </p:nvPicPr>
        <p:blipFill>
          <a:blip r:embed="rId2"/>
          <a:stretch>
            <a:fillRect/>
          </a:stretch>
        </p:blipFill>
        <p:spPr>
          <a:xfrm>
            <a:off x="1058292" y="1570736"/>
            <a:ext cx="3144012" cy="2808732"/>
          </a:xfrm>
          <a:prstGeom prst="rect">
            <a:avLst/>
          </a:prstGeom>
        </p:spPr>
      </p:pic>
      <p:pic>
        <p:nvPicPr>
          <p:cNvPr id="8" name="Picture 7">
            <a:extLst>
              <a:ext uri="{FF2B5EF4-FFF2-40B4-BE49-F238E27FC236}">
                <a16:creationId xmlns:a16="http://schemas.microsoft.com/office/drawing/2014/main" id="{B29178F5-BE2A-05E5-C42C-194720DE8807}"/>
              </a:ext>
            </a:extLst>
          </p:cNvPr>
          <p:cNvPicPr>
            <a:picLocks noChangeAspect="1"/>
          </p:cNvPicPr>
          <p:nvPr/>
        </p:nvPicPr>
        <p:blipFill>
          <a:blip r:embed="rId3"/>
          <a:stretch>
            <a:fillRect/>
          </a:stretch>
        </p:blipFill>
        <p:spPr>
          <a:xfrm>
            <a:off x="8276208" y="1528064"/>
            <a:ext cx="2857500" cy="2851404"/>
          </a:xfrm>
          <a:prstGeom prst="rect">
            <a:avLst/>
          </a:prstGeom>
        </p:spPr>
      </p:pic>
    </p:spTree>
    <p:extLst>
      <p:ext uri="{BB962C8B-B14F-4D97-AF65-F5344CB8AC3E}">
        <p14:creationId xmlns:p14="http://schemas.microsoft.com/office/powerpoint/2010/main" val="306187140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8F6CF-2AFF-2EFC-38B5-C2C98396FFF3}"/>
              </a:ext>
            </a:extLst>
          </p:cNvPr>
          <p:cNvSpPr>
            <a:spLocks noGrp="1"/>
          </p:cNvSpPr>
          <p:nvPr>
            <p:ph type="title"/>
          </p:nvPr>
        </p:nvSpPr>
        <p:spPr/>
        <p:txBody>
          <a:bodyPr/>
          <a:lstStyle/>
          <a:p>
            <a:r>
              <a:rPr lang="en-US" dirty="0"/>
              <a:t>Distribution of </a:t>
            </a:r>
            <a:r>
              <a:rPr lang="en-US" dirty="0" err="1"/>
              <a:t>Prefered</a:t>
            </a:r>
            <a:r>
              <a:rPr lang="en-US" dirty="0"/>
              <a:t> Channel</a:t>
            </a:r>
            <a:endParaRPr lang="en-IN" dirty="0"/>
          </a:p>
        </p:txBody>
      </p:sp>
      <p:sp>
        <p:nvSpPr>
          <p:cNvPr id="3" name="Chart Placeholder 2">
            <a:extLst>
              <a:ext uri="{FF2B5EF4-FFF2-40B4-BE49-F238E27FC236}">
                <a16:creationId xmlns:a16="http://schemas.microsoft.com/office/drawing/2014/main" id="{77EC224F-4FDB-B20A-3A7B-40B62CEDFBED}"/>
              </a:ext>
            </a:extLst>
          </p:cNvPr>
          <p:cNvSpPr>
            <a:spLocks noGrp="1"/>
          </p:cNvSpPr>
          <p:nvPr>
            <p:ph type="chart" sz="quarter" idx="11"/>
          </p:nvPr>
        </p:nvSpPr>
        <p:spPr/>
      </p:sp>
      <p:sp>
        <p:nvSpPr>
          <p:cNvPr id="4" name="Text Placeholder 3">
            <a:extLst>
              <a:ext uri="{FF2B5EF4-FFF2-40B4-BE49-F238E27FC236}">
                <a16:creationId xmlns:a16="http://schemas.microsoft.com/office/drawing/2014/main" id="{D9301D8F-6360-9F38-3A24-9FADE78BC75A}"/>
              </a:ext>
            </a:extLst>
          </p:cNvPr>
          <p:cNvSpPr>
            <a:spLocks noGrp="1"/>
          </p:cNvSpPr>
          <p:nvPr>
            <p:ph type="body" sz="quarter" idx="12"/>
          </p:nvPr>
        </p:nvSpPr>
        <p:spPr/>
        <p:txBody>
          <a:bodyPr numCol="2"/>
          <a:lstStyle/>
          <a:p>
            <a:pPr marL="285750" indent="-285750">
              <a:buFont typeface="Arial" panose="020B0604020202020204" pitchFamily="34" charset="0"/>
              <a:buChar char="•"/>
            </a:pPr>
            <a:r>
              <a:rPr lang="en-US" sz="1400" dirty="0"/>
              <a:t>Around 85% customers prefer buying threw instore channel</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endParaRPr lang="en-US" sz="1400" dirty="0"/>
          </a:p>
          <a:p>
            <a:endParaRPr lang="en-US" sz="1400" dirty="0"/>
          </a:p>
          <a:p>
            <a:pPr marL="285750" indent="-285750">
              <a:buFont typeface="Arial" panose="020B0604020202020204" pitchFamily="34" charset="0"/>
              <a:buChar char="•"/>
            </a:pPr>
            <a:r>
              <a:rPr lang="en-US" sz="1400" dirty="0"/>
              <a:t>Optimize product positioning with cross selling and positioning strategies like V-Shaped display, Pyramid, </a:t>
            </a:r>
          </a:p>
          <a:p>
            <a:pPr marL="285750" indent="-285750">
              <a:buFont typeface="Arial" panose="020B0604020202020204" pitchFamily="34" charset="0"/>
              <a:buChar char="•"/>
            </a:pPr>
            <a:r>
              <a:rPr lang="en-US" sz="1400" dirty="0"/>
              <a:t>Create better interface of online application </a:t>
            </a:r>
            <a:endParaRPr lang="en-IN" sz="1400" dirty="0"/>
          </a:p>
          <a:p>
            <a:endParaRPr lang="en-IN" sz="1400" dirty="0"/>
          </a:p>
        </p:txBody>
      </p:sp>
      <p:pic>
        <p:nvPicPr>
          <p:cNvPr id="6" name="Picture 5">
            <a:extLst>
              <a:ext uri="{FF2B5EF4-FFF2-40B4-BE49-F238E27FC236}">
                <a16:creationId xmlns:a16="http://schemas.microsoft.com/office/drawing/2014/main" id="{08518EC4-6339-2741-E547-92856949972B}"/>
              </a:ext>
            </a:extLst>
          </p:cNvPr>
          <p:cNvPicPr>
            <a:picLocks noChangeAspect="1"/>
          </p:cNvPicPr>
          <p:nvPr/>
        </p:nvPicPr>
        <p:blipFill>
          <a:blip r:embed="rId2"/>
          <a:stretch>
            <a:fillRect/>
          </a:stretch>
        </p:blipFill>
        <p:spPr>
          <a:xfrm>
            <a:off x="1085588" y="1549400"/>
            <a:ext cx="3168396" cy="2854452"/>
          </a:xfrm>
          <a:prstGeom prst="rect">
            <a:avLst/>
          </a:prstGeom>
        </p:spPr>
      </p:pic>
      <p:pic>
        <p:nvPicPr>
          <p:cNvPr id="8" name="Picture 7">
            <a:extLst>
              <a:ext uri="{FF2B5EF4-FFF2-40B4-BE49-F238E27FC236}">
                <a16:creationId xmlns:a16="http://schemas.microsoft.com/office/drawing/2014/main" id="{F10F3E75-06C9-9BB2-1506-F52B61E8F838}"/>
              </a:ext>
            </a:extLst>
          </p:cNvPr>
          <p:cNvPicPr>
            <a:picLocks noChangeAspect="1"/>
          </p:cNvPicPr>
          <p:nvPr/>
        </p:nvPicPr>
        <p:blipFill>
          <a:blip r:embed="rId3"/>
          <a:stretch>
            <a:fillRect/>
          </a:stretch>
        </p:blipFill>
        <p:spPr>
          <a:xfrm>
            <a:off x="7899916" y="1549400"/>
            <a:ext cx="3206496" cy="2840736"/>
          </a:xfrm>
          <a:prstGeom prst="rect">
            <a:avLst/>
          </a:prstGeom>
        </p:spPr>
      </p:pic>
    </p:spTree>
    <p:extLst>
      <p:ext uri="{BB962C8B-B14F-4D97-AF65-F5344CB8AC3E}">
        <p14:creationId xmlns:p14="http://schemas.microsoft.com/office/powerpoint/2010/main" val="84548447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E39E02-322A-2AFA-0CEB-C284817838F5}"/>
              </a:ext>
            </a:extLst>
          </p:cNvPr>
          <p:cNvSpPr>
            <a:spLocks noGrp="1"/>
          </p:cNvSpPr>
          <p:nvPr>
            <p:ph type="title"/>
          </p:nvPr>
        </p:nvSpPr>
        <p:spPr/>
        <p:txBody>
          <a:bodyPr/>
          <a:lstStyle/>
          <a:p>
            <a:r>
              <a:rPr lang="en-US" dirty="0"/>
              <a:t>Distribution of Time Slot</a:t>
            </a:r>
            <a:endParaRPr lang="en-IN" dirty="0"/>
          </a:p>
        </p:txBody>
      </p:sp>
      <p:sp>
        <p:nvSpPr>
          <p:cNvPr id="4" name="Text Placeholder 3">
            <a:extLst>
              <a:ext uri="{FF2B5EF4-FFF2-40B4-BE49-F238E27FC236}">
                <a16:creationId xmlns:a16="http://schemas.microsoft.com/office/drawing/2014/main" id="{4EA75A61-5F63-4D3E-2947-F4760603589F}"/>
              </a:ext>
            </a:extLst>
          </p:cNvPr>
          <p:cNvSpPr>
            <a:spLocks noGrp="1"/>
          </p:cNvSpPr>
          <p:nvPr>
            <p:ph type="body" sz="quarter" idx="12"/>
          </p:nvPr>
        </p:nvSpPr>
        <p:spPr/>
        <p:txBody>
          <a:bodyPr numCol="2"/>
          <a:lstStyle/>
          <a:p>
            <a:pPr marL="285750" indent="-285750">
              <a:buFont typeface="Arial" panose="020B0604020202020204" pitchFamily="34" charset="0"/>
              <a:buChar char="•"/>
            </a:pPr>
            <a:r>
              <a:rPr lang="en-US" sz="1400" dirty="0"/>
              <a:t>Around 65%of sales of Inter-Region is done at Late night and afternoon</a:t>
            </a:r>
            <a:r>
              <a:rPr lang="en-IN" sz="1400" dirty="0"/>
              <a:t> Where as in Intra-Region, Night , Late Night, evening contributes around 70%of sales.</a:t>
            </a:r>
          </a:p>
          <a:p>
            <a:endParaRPr lang="en-IN" sz="1400" dirty="0"/>
          </a:p>
          <a:p>
            <a:pPr marL="285750" indent="-285750">
              <a:buFont typeface="Arial" panose="020B0604020202020204" pitchFamily="34" charset="0"/>
              <a:buChar char="•"/>
            </a:pPr>
            <a:r>
              <a:rPr lang="en-US" sz="1400" dirty="0"/>
              <a:t>Increase Night slot staffing and promotions.</a:t>
            </a:r>
          </a:p>
          <a:p>
            <a:pPr marL="285750" indent="-285750">
              <a:buFont typeface="Arial" panose="020B0604020202020204" pitchFamily="34" charset="0"/>
              <a:buChar char="•"/>
            </a:pPr>
            <a:r>
              <a:rPr lang="en-IN" sz="1400" dirty="0"/>
              <a:t>Enable fast billing counters and instant payment offers to cater  more traffic.</a:t>
            </a:r>
          </a:p>
          <a:p>
            <a:pPr marL="285750" indent="-285750">
              <a:buFont typeface="Arial" panose="020B0604020202020204" pitchFamily="34" charset="0"/>
              <a:buChar char="•"/>
            </a:pPr>
            <a:endParaRPr lang="en-IN" sz="1400" dirty="0"/>
          </a:p>
        </p:txBody>
      </p:sp>
      <p:sp>
        <p:nvSpPr>
          <p:cNvPr id="7" name="Chart Placeholder 6">
            <a:extLst>
              <a:ext uri="{FF2B5EF4-FFF2-40B4-BE49-F238E27FC236}">
                <a16:creationId xmlns:a16="http://schemas.microsoft.com/office/drawing/2014/main" id="{B100D308-42C6-3E9F-99AE-87A09E06795F}"/>
              </a:ext>
            </a:extLst>
          </p:cNvPr>
          <p:cNvSpPr>
            <a:spLocks noGrp="1"/>
          </p:cNvSpPr>
          <p:nvPr>
            <p:ph type="chart" sz="quarter" idx="11"/>
          </p:nvPr>
        </p:nvSpPr>
        <p:spPr/>
      </p:sp>
      <p:pic>
        <p:nvPicPr>
          <p:cNvPr id="3" name="Picture 2">
            <a:extLst>
              <a:ext uri="{FF2B5EF4-FFF2-40B4-BE49-F238E27FC236}">
                <a16:creationId xmlns:a16="http://schemas.microsoft.com/office/drawing/2014/main" id="{14A9EC1D-1638-6B4B-C481-A81B339E7ED0}"/>
              </a:ext>
            </a:extLst>
          </p:cNvPr>
          <p:cNvPicPr>
            <a:picLocks noChangeAspect="1"/>
          </p:cNvPicPr>
          <p:nvPr/>
        </p:nvPicPr>
        <p:blipFill>
          <a:blip r:embed="rId2"/>
          <a:stretch>
            <a:fillRect/>
          </a:stretch>
        </p:blipFill>
        <p:spPr>
          <a:xfrm>
            <a:off x="1058292" y="1549400"/>
            <a:ext cx="3025140" cy="2833116"/>
          </a:xfrm>
          <a:prstGeom prst="rect">
            <a:avLst/>
          </a:prstGeom>
        </p:spPr>
      </p:pic>
      <p:pic>
        <p:nvPicPr>
          <p:cNvPr id="5" name="Picture 4">
            <a:extLst>
              <a:ext uri="{FF2B5EF4-FFF2-40B4-BE49-F238E27FC236}">
                <a16:creationId xmlns:a16="http://schemas.microsoft.com/office/drawing/2014/main" id="{189CDFCB-EED3-BBCC-6984-CB8515C5BBBE}"/>
              </a:ext>
            </a:extLst>
          </p:cNvPr>
          <p:cNvPicPr>
            <a:picLocks noChangeAspect="1"/>
          </p:cNvPicPr>
          <p:nvPr/>
        </p:nvPicPr>
        <p:blipFill>
          <a:blip r:embed="rId3"/>
          <a:stretch>
            <a:fillRect/>
          </a:stretch>
        </p:blipFill>
        <p:spPr>
          <a:xfrm>
            <a:off x="7945500" y="1549400"/>
            <a:ext cx="3188208" cy="2996184"/>
          </a:xfrm>
          <a:prstGeom prst="rect">
            <a:avLst/>
          </a:prstGeom>
        </p:spPr>
      </p:pic>
    </p:spTree>
    <p:extLst>
      <p:ext uri="{BB962C8B-B14F-4D97-AF65-F5344CB8AC3E}">
        <p14:creationId xmlns:p14="http://schemas.microsoft.com/office/powerpoint/2010/main" val="382305192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01F9A-5606-23C3-24F0-C99FB0A10437}"/>
              </a:ext>
            </a:extLst>
          </p:cNvPr>
          <p:cNvSpPr>
            <a:spLocks noGrp="1"/>
          </p:cNvSpPr>
          <p:nvPr>
            <p:ph type="title"/>
          </p:nvPr>
        </p:nvSpPr>
        <p:spPr/>
        <p:txBody>
          <a:bodyPr/>
          <a:lstStyle/>
          <a:p>
            <a:r>
              <a:rPr lang="en-US" dirty="0"/>
              <a:t>Distribution of Payment mode</a:t>
            </a:r>
            <a:endParaRPr lang="en-IN" dirty="0"/>
          </a:p>
        </p:txBody>
      </p:sp>
      <p:sp>
        <p:nvSpPr>
          <p:cNvPr id="3" name="Chart Placeholder 2">
            <a:extLst>
              <a:ext uri="{FF2B5EF4-FFF2-40B4-BE49-F238E27FC236}">
                <a16:creationId xmlns:a16="http://schemas.microsoft.com/office/drawing/2014/main" id="{4EF110A5-8B67-A5FB-58F0-4DD7084CB939}"/>
              </a:ext>
            </a:extLst>
          </p:cNvPr>
          <p:cNvSpPr>
            <a:spLocks noGrp="1"/>
          </p:cNvSpPr>
          <p:nvPr>
            <p:ph type="chart" sz="quarter" idx="11"/>
          </p:nvPr>
        </p:nvSpPr>
        <p:spPr/>
      </p:sp>
      <p:sp>
        <p:nvSpPr>
          <p:cNvPr id="4" name="Text Placeholder 3">
            <a:extLst>
              <a:ext uri="{FF2B5EF4-FFF2-40B4-BE49-F238E27FC236}">
                <a16:creationId xmlns:a16="http://schemas.microsoft.com/office/drawing/2014/main" id="{A3EF65E1-1ED9-0621-A2A8-2D240DBC5049}"/>
              </a:ext>
            </a:extLst>
          </p:cNvPr>
          <p:cNvSpPr>
            <a:spLocks noGrp="1"/>
          </p:cNvSpPr>
          <p:nvPr>
            <p:ph type="body" sz="quarter" idx="12"/>
          </p:nvPr>
        </p:nvSpPr>
        <p:spPr/>
        <p:txBody>
          <a:bodyPr numCol="2"/>
          <a:lstStyle/>
          <a:p>
            <a:pPr marL="285750" indent="-285750">
              <a:buFont typeface="Arial" panose="020B0604020202020204" pitchFamily="34" charset="0"/>
              <a:buChar char="•"/>
            </a:pPr>
            <a:r>
              <a:rPr lang="en-US" sz="1400" dirty="0"/>
              <a:t>Credit card contributes majority of total transactions done by both Inter-Region and Intra-Region where as debit card and vouchers are contributing around 5%.</a:t>
            </a:r>
          </a:p>
          <a:p>
            <a:endParaRPr lang="en-US" sz="1400" dirty="0"/>
          </a:p>
          <a:p>
            <a:pPr marL="285750" indent="-285750">
              <a:buFont typeface="Arial" panose="020B0604020202020204" pitchFamily="34" charset="0"/>
              <a:buChar char="•"/>
            </a:pPr>
            <a:r>
              <a:rPr lang="en-US" sz="1400" dirty="0"/>
              <a:t>Establish collaboration with banks for offers.</a:t>
            </a:r>
          </a:p>
          <a:p>
            <a:pPr marL="285750" indent="-285750">
              <a:buFont typeface="Arial" panose="020B0604020202020204" pitchFamily="34" charset="0"/>
              <a:buChar char="•"/>
            </a:pPr>
            <a:r>
              <a:rPr lang="en-US" sz="1400" dirty="0"/>
              <a:t>Offer vouchers with great discount on minimum purchase value which will increase sales and retain customers.</a:t>
            </a:r>
          </a:p>
          <a:p>
            <a:endParaRPr lang="en-IN" sz="1400" dirty="0"/>
          </a:p>
        </p:txBody>
      </p:sp>
      <p:pic>
        <p:nvPicPr>
          <p:cNvPr id="6" name="Picture 5">
            <a:extLst>
              <a:ext uri="{FF2B5EF4-FFF2-40B4-BE49-F238E27FC236}">
                <a16:creationId xmlns:a16="http://schemas.microsoft.com/office/drawing/2014/main" id="{EC49B3F2-7F54-F420-3005-D2D2B3E40062}"/>
              </a:ext>
            </a:extLst>
          </p:cNvPr>
          <p:cNvPicPr>
            <a:picLocks noChangeAspect="1"/>
          </p:cNvPicPr>
          <p:nvPr/>
        </p:nvPicPr>
        <p:blipFill>
          <a:blip r:embed="rId2"/>
          <a:stretch>
            <a:fillRect/>
          </a:stretch>
        </p:blipFill>
        <p:spPr>
          <a:xfrm>
            <a:off x="1057031" y="1549400"/>
            <a:ext cx="2708148" cy="3038856"/>
          </a:xfrm>
          <a:prstGeom prst="rect">
            <a:avLst/>
          </a:prstGeom>
        </p:spPr>
      </p:pic>
      <p:pic>
        <p:nvPicPr>
          <p:cNvPr id="8" name="Picture 7">
            <a:extLst>
              <a:ext uri="{FF2B5EF4-FFF2-40B4-BE49-F238E27FC236}">
                <a16:creationId xmlns:a16="http://schemas.microsoft.com/office/drawing/2014/main" id="{23AD714B-BE36-0CBF-0B54-DED0177E62CC}"/>
              </a:ext>
            </a:extLst>
          </p:cNvPr>
          <p:cNvPicPr>
            <a:picLocks noChangeAspect="1"/>
          </p:cNvPicPr>
          <p:nvPr/>
        </p:nvPicPr>
        <p:blipFill>
          <a:blip r:embed="rId3"/>
          <a:stretch>
            <a:fillRect/>
          </a:stretch>
        </p:blipFill>
        <p:spPr>
          <a:xfrm>
            <a:off x="7945237" y="1560068"/>
            <a:ext cx="3189732" cy="3028188"/>
          </a:xfrm>
          <a:prstGeom prst="rect">
            <a:avLst/>
          </a:prstGeom>
        </p:spPr>
      </p:pic>
    </p:spTree>
    <p:extLst>
      <p:ext uri="{BB962C8B-B14F-4D97-AF65-F5344CB8AC3E}">
        <p14:creationId xmlns:p14="http://schemas.microsoft.com/office/powerpoint/2010/main" val="228022453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76EDA-4F1A-1ACB-B923-AD4331F3CBFC}"/>
              </a:ext>
            </a:extLst>
          </p:cNvPr>
          <p:cNvSpPr>
            <a:spLocks noGrp="1"/>
          </p:cNvSpPr>
          <p:nvPr>
            <p:ph type="title"/>
          </p:nvPr>
        </p:nvSpPr>
        <p:spPr/>
        <p:txBody>
          <a:bodyPr/>
          <a:lstStyle/>
          <a:p>
            <a:r>
              <a:rPr lang="en-US" dirty="0"/>
              <a:t>Distribution of Hourly Traffic</a:t>
            </a:r>
            <a:endParaRPr lang="en-IN" dirty="0"/>
          </a:p>
        </p:txBody>
      </p:sp>
      <p:pic>
        <p:nvPicPr>
          <p:cNvPr id="5" name="Chart Placeholder 4">
            <a:extLst>
              <a:ext uri="{FF2B5EF4-FFF2-40B4-BE49-F238E27FC236}">
                <a16:creationId xmlns:a16="http://schemas.microsoft.com/office/drawing/2014/main" id="{89793897-1BEC-BEB7-B63F-A0B1B9791213}"/>
              </a:ext>
            </a:extLst>
          </p:cNvPr>
          <p:cNvPicPr>
            <a:picLocks noGrp="1" noChangeAspect="1"/>
          </p:cNvPicPr>
          <p:nvPr>
            <p:ph type="chart" sz="quarter" idx="11"/>
          </p:nvPr>
        </p:nvPicPr>
        <p:blipFill>
          <a:blip r:embed="rId2"/>
          <a:stretch>
            <a:fillRect/>
          </a:stretch>
        </p:blipFill>
        <p:spPr>
          <a:xfrm>
            <a:off x="403200" y="1383280"/>
            <a:ext cx="6611749" cy="2209800"/>
          </a:xfrm>
          <a:prstGeom prst="rect">
            <a:avLst/>
          </a:prstGeom>
        </p:spPr>
      </p:pic>
      <p:sp>
        <p:nvSpPr>
          <p:cNvPr id="4" name="Text Placeholder 3">
            <a:extLst>
              <a:ext uri="{FF2B5EF4-FFF2-40B4-BE49-F238E27FC236}">
                <a16:creationId xmlns:a16="http://schemas.microsoft.com/office/drawing/2014/main" id="{82DC800E-4134-6C01-5B22-CF7A18B9201D}"/>
              </a:ext>
            </a:extLst>
          </p:cNvPr>
          <p:cNvSpPr>
            <a:spLocks noGrp="1"/>
          </p:cNvSpPr>
          <p:nvPr>
            <p:ph type="body" sz="quarter" idx="12"/>
          </p:nvPr>
        </p:nvSpPr>
        <p:spPr/>
        <p:txBody>
          <a:bodyPr/>
          <a:lstStyle/>
          <a:p>
            <a:endParaRPr lang="en-IN"/>
          </a:p>
        </p:txBody>
      </p:sp>
      <p:pic>
        <p:nvPicPr>
          <p:cNvPr id="6" name="Picture 5">
            <a:extLst>
              <a:ext uri="{FF2B5EF4-FFF2-40B4-BE49-F238E27FC236}">
                <a16:creationId xmlns:a16="http://schemas.microsoft.com/office/drawing/2014/main" id="{8243223B-73F2-8280-B94F-8281BDA1CD84}"/>
              </a:ext>
            </a:extLst>
          </p:cNvPr>
          <p:cNvPicPr>
            <a:picLocks noChangeAspect="1"/>
          </p:cNvPicPr>
          <p:nvPr/>
        </p:nvPicPr>
        <p:blipFill>
          <a:blip r:embed="rId3"/>
          <a:stretch>
            <a:fillRect/>
          </a:stretch>
        </p:blipFill>
        <p:spPr>
          <a:xfrm>
            <a:off x="7670041" y="808037"/>
            <a:ext cx="3915088" cy="3794131"/>
          </a:xfrm>
          <a:prstGeom prst="rect">
            <a:avLst/>
          </a:prstGeom>
        </p:spPr>
      </p:pic>
    </p:spTree>
    <p:extLst>
      <p:ext uri="{BB962C8B-B14F-4D97-AF65-F5344CB8AC3E}">
        <p14:creationId xmlns:p14="http://schemas.microsoft.com/office/powerpoint/2010/main" val="257716669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19916-10A2-95F7-04D7-4DDB9186C2F6}"/>
              </a:ext>
            </a:extLst>
          </p:cNvPr>
          <p:cNvSpPr>
            <a:spLocks noGrp="1"/>
          </p:cNvSpPr>
          <p:nvPr>
            <p:ph type="title"/>
          </p:nvPr>
        </p:nvSpPr>
        <p:spPr/>
        <p:txBody>
          <a:bodyPr/>
          <a:lstStyle/>
          <a:p>
            <a:r>
              <a:rPr lang="en-US" dirty="0"/>
              <a:t>Distribution of Quarters</a:t>
            </a:r>
            <a:endParaRPr lang="en-IN" dirty="0"/>
          </a:p>
        </p:txBody>
      </p:sp>
      <p:sp>
        <p:nvSpPr>
          <p:cNvPr id="4" name="Text Placeholder 3">
            <a:extLst>
              <a:ext uri="{FF2B5EF4-FFF2-40B4-BE49-F238E27FC236}">
                <a16:creationId xmlns:a16="http://schemas.microsoft.com/office/drawing/2014/main" id="{D53877EF-2D44-2968-371D-799A1CA1760C}"/>
              </a:ext>
            </a:extLst>
          </p:cNvPr>
          <p:cNvSpPr>
            <a:spLocks noGrp="1"/>
          </p:cNvSpPr>
          <p:nvPr>
            <p:ph type="body" sz="quarter" idx="12"/>
          </p:nvPr>
        </p:nvSpPr>
        <p:spPr/>
        <p:txBody>
          <a:bodyPr numCol="2"/>
          <a:lstStyle/>
          <a:p>
            <a:pPr marL="342900" indent="-342900">
              <a:buFont typeface="Arial" panose="020B0604020202020204" pitchFamily="34" charset="0"/>
              <a:buChar char="•"/>
            </a:pPr>
            <a:r>
              <a:rPr lang="en-US" sz="1400" dirty="0"/>
              <a:t>Quarters are diversified</a:t>
            </a:r>
          </a:p>
          <a:p>
            <a:endParaRPr lang="en-US" sz="1400" dirty="0"/>
          </a:p>
          <a:p>
            <a:endParaRPr lang="en-US" sz="1400" dirty="0"/>
          </a:p>
          <a:p>
            <a:endParaRPr lang="en-US" sz="1400" dirty="0"/>
          </a:p>
          <a:p>
            <a:pPr marL="285750" indent="-285750">
              <a:buFont typeface="Arial" panose="020B0604020202020204" pitchFamily="34" charset="0"/>
              <a:buChar char="•"/>
            </a:pPr>
            <a:r>
              <a:rPr lang="en-US" sz="1400" dirty="0"/>
              <a:t>Target Q2 and Q3 which will increase seasonal sales due to festive seasons like Diwali, Navratri, Independence day, Christmas, new year and more.</a:t>
            </a:r>
          </a:p>
          <a:p>
            <a:endParaRPr lang="en-IN" sz="1400" dirty="0"/>
          </a:p>
        </p:txBody>
      </p:sp>
      <p:pic>
        <p:nvPicPr>
          <p:cNvPr id="8" name="Picture 7">
            <a:extLst>
              <a:ext uri="{FF2B5EF4-FFF2-40B4-BE49-F238E27FC236}">
                <a16:creationId xmlns:a16="http://schemas.microsoft.com/office/drawing/2014/main" id="{DE2E0D5A-B378-54D8-C4D1-2FA47B7C5F77}"/>
              </a:ext>
            </a:extLst>
          </p:cNvPr>
          <p:cNvPicPr>
            <a:picLocks noChangeAspect="1"/>
          </p:cNvPicPr>
          <p:nvPr/>
        </p:nvPicPr>
        <p:blipFill>
          <a:blip r:embed="rId2"/>
          <a:stretch>
            <a:fillRect/>
          </a:stretch>
        </p:blipFill>
        <p:spPr>
          <a:xfrm>
            <a:off x="1062137" y="1470302"/>
            <a:ext cx="3549802" cy="2856038"/>
          </a:xfrm>
          <a:prstGeom prst="rect">
            <a:avLst/>
          </a:prstGeom>
        </p:spPr>
      </p:pic>
      <p:pic>
        <p:nvPicPr>
          <p:cNvPr id="9" name="Picture 8">
            <a:extLst>
              <a:ext uri="{FF2B5EF4-FFF2-40B4-BE49-F238E27FC236}">
                <a16:creationId xmlns:a16="http://schemas.microsoft.com/office/drawing/2014/main" id="{291398F1-FE12-985A-403D-E3C790532B20}"/>
              </a:ext>
            </a:extLst>
          </p:cNvPr>
          <p:cNvPicPr>
            <a:picLocks noChangeAspect="1"/>
          </p:cNvPicPr>
          <p:nvPr/>
        </p:nvPicPr>
        <p:blipFill>
          <a:blip r:embed="rId3"/>
          <a:stretch>
            <a:fillRect/>
          </a:stretch>
        </p:blipFill>
        <p:spPr>
          <a:xfrm>
            <a:off x="7850400" y="1470302"/>
            <a:ext cx="3279462" cy="2856038"/>
          </a:xfrm>
          <a:prstGeom prst="rect">
            <a:avLst/>
          </a:prstGeom>
        </p:spPr>
      </p:pic>
    </p:spTree>
    <p:extLst>
      <p:ext uri="{BB962C8B-B14F-4D97-AF65-F5344CB8AC3E}">
        <p14:creationId xmlns:p14="http://schemas.microsoft.com/office/powerpoint/2010/main" val="1353206175"/>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4934A-D227-73A7-39C0-5FFCD5A984BD}"/>
              </a:ext>
            </a:extLst>
          </p:cNvPr>
          <p:cNvSpPr>
            <a:spLocks noGrp="1"/>
          </p:cNvSpPr>
          <p:nvPr>
            <p:ph type="title"/>
          </p:nvPr>
        </p:nvSpPr>
        <p:spPr/>
        <p:txBody>
          <a:bodyPr/>
          <a:lstStyle/>
          <a:p>
            <a:r>
              <a:rPr lang="en-US" dirty="0"/>
              <a:t>Average Sales , Profit , Discount</a:t>
            </a:r>
            <a:endParaRPr lang="en-IN" dirty="0"/>
          </a:p>
        </p:txBody>
      </p:sp>
      <p:pic>
        <p:nvPicPr>
          <p:cNvPr id="7" name="Chart Placeholder 6">
            <a:extLst>
              <a:ext uri="{FF2B5EF4-FFF2-40B4-BE49-F238E27FC236}">
                <a16:creationId xmlns:a16="http://schemas.microsoft.com/office/drawing/2014/main" id="{5CD53903-BBCD-D53E-5556-91692E851508}"/>
              </a:ext>
            </a:extLst>
          </p:cNvPr>
          <p:cNvPicPr>
            <a:picLocks noGrp="1" noChangeAspect="1"/>
          </p:cNvPicPr>
          <p:nvPr>
            <p:ph type="chart" sz="quarter" idx="11"/>
          </p:nvPr>
        </p:nvPicPr>
        <p:blipFill>
          <a:blip r:embed="rId2"/>
          <a:stretch>
            <a:fillRect/>
          </a:stretch>
        </p:blipFill>
        <p:spPr>
          <a:xfrm>
            <a:off x="3286775" y="3065774"/>
            <a:ext cx="5668000" cy="1249680"/>
          </a:xfrm>
          <a:prstGeom prst="rect">
            <a:avLst/>
          </a:prstGeom>
        </p:spPr>
      </p:pic>
      <p:sp>
        <p:nvSpPr>
          <p:cNvPr id="4" name="Text Placeholder 3">
            <a:extLst>
              <a:ext uri="{FF2B5EF4-FFF2-40B4-BE49-F238E27FC236}">
                <a16:creationId xmlns:a16="http://schemas.microsoft.com/office/drawing/2014/main" id="{822A7305-5F41-A74A-3FA4-498805703E20}"/>
              </a:ext>
            </a:extLst>
          </p:cNvPr>
          <p:cNvSpPr>
            <a:spLocks noGrp="1"/>
          </p:cNvSpPr>
          <p:nvPr>
            <p:ph type="body" sz="quarter" idx="12"/>
          </p:nvPr>
        </p:nvSpPr>
        <p:spPr/>
        <p:txBody>
          <a:bodyPr/>
          <a:lstStyle/>
          <a:p>
            <a:endParaRPr lang="en-IN"/>
          </a:p>
        </p:txBody>
      </p:sp>
      <p:pic>
        <p:nvPicPr>
          <p:cNvPr id="5" name="Picture 4">
            <a:extLst>
              <a:ext uri="{FF2B5EF4-FFF2-40B4-BE49-F238E27FC236}">
                <a16:creationId xmlns:a16="http://schemas.microsoft.com/office/drawing/2014/main" id="{35F9E9C1-ECCD-1DD2-D78F-BDCA72F6FAFC}"/>
              </a:ext>
            </a:extLst>
          </p:cNvPr>
          <p:cNvPicPr>
            <a:picLocks noChangeAspect="1"/>
          </p:cNvPicPr>
          <p:nvPr/>
        </p:nvPicPr>
        <p:blipFill>
          <a:blip r:embed="rId3"/>
          <a:stretch>
            <a:fillRect/>
          </a:stretch>
        </p:blipFill>
        <p:spPr>
          <a:xfrm>
            <a:off x="428000" y="1549400"/>
            <a:ext cx="5668000" cy="1197864"/>
          </a:xfrm>
          <a:prstGeom prst="rect">
            <a:avLst/>
          </a:prstGeom>
        </p:spPr>
      </p:pic>
      <p:pic>
        <p:nvPicPr>
          <p:cNvPr id="6" name="Picture 5">
            <a:extLst>
              <a:ext uri="{FF2B5EF4-FFF2-40B4-BE49-F238E27FC236}">
                <a16:creationId xmlns:a16="http://schemas.microsoft.com/office/drawing/2014/main" id="{DB6E57B8-75E2-262A-CF32-D35F26997427}"/>
              </a:ext>
            </a:extLst>
          </p:cNvPr>
          <p:cNvPicPr>
            <a:picLocks noChangeAspect="1"/>
          </p:cNvPicPr>
          <p:nvPr/>
        </p:nvPicPr>
        <p:blipFill>
          <a:blip r:embed="rId4"/>
          <a:stretch>
            <a:fillRect/>
          </a:stretch>
        </p:blipFill>
        <p:spPr>
          <a:xfrm>
            <a:off x="6120775" y="1549400"/>
            <a:ext cx="5668000" cy="1232916"/>
          </a:xfrm>
          <a:prstGeom prst="rect">
            <a:avLst/>
          </a:prstGeom>
        </p:spPr>
      </p:pic>
    </p:spTree>
    <p:extLst>
      <p:ext uri="{BB962C8B-B14F-4D97-AF65-F5344CB8AC3E}">
        <p14:creationId xmlns:p14="http://schemas.microsoft.com/office/powerpoint/2010/main" val="163174227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46610-0671-F039-D8EA-6825BC0A72E5}"/>
              </a:ext>
            </a:extLst>
          </p:cNvPr>
          <p:cNvSpPr>
            <a:spLocks noGrp="1"/>
          </p:cNvSpPr>
          <p:nvPr>
            <p:ph type="title"/>
          </p:nvPr>
        </p:nvSpPr>
        <p:spPr/>
        <p:txBody>
          <a:bodyPr/>
          <a:lstStyle/>
          <a:p>
            <a:r>
              <a:rPr lang="en-US" dirty="0"/>
              <a:t>Average Days Between Orders</a:t>
            </a:r>
            <a:endParaRPr lang="en-IN" dirty="0"/>
          </a:p>
        </p:txBody>
      </p:sp>
      <p:sp>
        <p:nvSpPr>
          <p:cNvPr id="3" name="Chart Placeholder 2">
            <a:extLst>
              <a:ext uri="{FF2B5EF4-FFF2-40B4-BE49-F238E27FC236}">
                <a16:creationId xmlns:a16="http://schemas.microsoft.com/office/drawing/2014/main" id="{53DC2355-A7C3-352E-773C-87B7EFCCA14B}"/>
              </a:ext>
            </a:extLst>
          </p:cNvPr>
          <p:cNvSpPr>
            <a:spLocks noGrp="1"/>
          </p:cNvSpPr>
          <p:nvPr>
            <p:ph type="chart" sz="quarter" idx="11"/>
          </p:nvPr>
        </p:nvSpPr>
        <p:spPr/>
      </p:sp>
      <p:sp>
        <p:nvSpPr>
          <p:cNvPr id="4" name="Text Placeholder 3">
            <a:extLst>
              <a:ext uri="{FF2B5EF4-FFF2-40B4-BE49-F238E27FC236}">
                <a16:creationId xmlns:a16="http://schemas.microsoft.com/office/drawing/2014/main" id="{FF903260-F05A-B5EA-FEAD-C50B70A1BCDE}"/>
              </a:ext>
            </a:extLst>
          </p:cNvPr>
          <p:cNvSpPr>
            <a:spLocks noGrp="1"/>
          </p:cNvSpPr>
          <p:nvPr>
            <p:ph type="body" sz="quarter" idx="12"/>
          </p:nvPr>
        </p:nvSpPr>
        <p:spPr/>
        <p:txBody>
          <a:bodyPr/>
          <a:lstStyle/>
          <a:p>
            <a:endParaRPr lang="en-IN"/>
          </a:p>
        </p:txBody>
      </p:sp>
      <p:pic>
        <p:nvPicPr>
          <p:cNvPr id="5" name="Picture 4">
            <a:extLst>
              <a:ext uri="{FF2B5EF4-FFF2-40B4-BE49-F238E27FC236}">
                <a16:creationId xmlns:a16="http://schemas.microsoft.com/office/drawing/2014/main" id="{B09B3DC7-A22D-C398-3A92-E129D4B006D8}"/>
              </a:ext>
            </a:extLst>
          </p:cNvPr>
          <p:cNvPicPr>
            <a:picLocks noChangeAspect="1"/>
          </p:cNvPicPr>
          <p:nvPr/>
        </p:nvPicPr>
        <p:blipFill>
          <a:blip r:embed="rId2"/>
          <a:stretch>
            <a:fillRect/>
          </a:stretch>
        </p:blipFill>
        <p:spPr>
          <a:xfrm>
            <a:off x="3480180" y="2799588"/>
            <a:ext cx="5936776" cy="1258824"/>
          </a:xfrm>
          <a:prstGeom prst="rect">
            <a:avLst/>
          </a:prstGeom>
        </p:spPr>
      </p:pic>
    </p:spTree>
    <p:extLst>
      <p:ext uri="{BB962C8B-B14F-4D97-AF65-F5344CB8AC3E}">
        <p14:creationId xmlns:p14="http://schemas.microsoft.com/office/powerpoint/2010/main" val="315602980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AC3E8-AF95-4F0A-9207-8F79542DD3A0}"/>
              </a:ext>
            </a:extLst>
          </p:cNvPr>
          <p:cNvSpPr>
            <a:spLocks noGrp="1"/>
          </p:cNvSpPr>
          <p:nvPr>
            <p:ph type="title"/>
          </p:nvPr>
        </p:nvSpPr>
        <p:spPr/>
        <p:txBody>
          <a:bodyPr/>
          <a:lstStyle/>
          <a:p>
            <a:endParaRPr lang="en-IN" dirty="0"/>
          </a:p>
        </p:txBody>
      </p:sp>
      <p:sp>
        <p:nvSpPr>
          <p:cNvPr id="4" name="Text Placeholder 3">
            <a:extLst>
              <a:ext uri="{FF2B5EF4-FFF2-40B4-BE49-F238E27FC236}">
                <a16:creationId xmlns:a16="http://schemas.microsoft.com/office/drawing/2014/main" id="{F8D53D13-9B8D-F8CD-5455-4174524BAB2D}"/>
              </a:ext>
            </a:extLst>
          </p:cNvPr>
          <p:cNvSpPr>
            <a:spLocks noGrp="1"/>
          </p:cNvSpPr>
          <p:nvPr>
            <p:ph type="body" sz="quarter" idx="12"/>
          </p:nvPr>
        </p:nvSpPr>
        <p:spPr/>
        <p:txBody>
          <a:bodyPr/>
          <a:lstStyle/>
          <a:p>
            <a:pPr algn="r"/>
            <a:r>
              <a:rPr lang="en-US" sz="4000" b="1" dirty="0"/>
              <a:t>               STORE ANALYSIS</a:t>
            </a:r>
            <a:endParaRPr lang="en-IN" sz="4000" b="1" dirty="0"/>
          </a:p>
        </p:txBody>
      </p:sp>
    </p:spTree>
    <p:extLst>
      <p:ext uri="{BB962C8B-B14F-4D97-AF65-F5344CB8AC3E}">
        <p14:creationId xmlns:p14="http://schemas.microsoft.com/office/powerpoint/2010/main" val="427455713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B8C05-AB8E-08F9-61C2-6B049083B587}"/>
              </a:ext>
            </a:extLst>
          </p:cNvPr>
          <p:cNvSpPr>
            <a:spLocks noGrp="1"/>
          </p:cNvSpPr>
          <p:nvPr>
            <p:ph type="title"/>
          </p:nvPr>
        </p:nvSpPr>
        <p:spPr/>
        <p:txBody>
          <a:bodyPr/>
          <a:lstStyle/>
          <a:p>
            <a:r>
              <a:rPr lang="en-US" dirty="0"/>
              <a:t>Top 10 , Bottom 10 Stores by Revenue Distribution</a:t>
            </a:r>
            <a:endParaRPr lang="en-IN" dirty="0"/>
          </a:p>
        </p:txBody>
      </p:sp>
      <p:sp>
        <p:nvSpPr>
          <p:cNvPr id="3" name="Chart Placeholder 2">
            <a:extLst>
              <a:ext uri="{FF2B5EF4-FFF2-40B4-BE49-F238E27FC236}">
                <a16:creationId xmlns:a16="http://schemas.microsoft.com/office/drawing/2014/main" id="{2CF4B43A-8BB0-4E11-1E77-A8B09871FCD3}"/>
              </a:ext>
            </a:extLst>
          </p:cNvPr>
          <p:cNvSpPr>
            <a:spLocks noGrp="1"/>
          </p:cNvSpPr>
          <p:nvPr>
            <p:ph type="chart" sz="quarter" idx="11"/>
          </p:nvPr>
        </p:nvSpPr>
        <p:spPr/>
      </p:sp>
      <p:sp>
        <p:nvSpPr>
          <p:cNvPr id="4" name="Text Placeholder 3">
            <a:extLst>
              <a:ext uri="{FF2B5EF4-FFF2-40B4-BE49-F238E27FC236}">
                <a16:creationId xmlns:a16="http://schemas.microsoft.com/office/drawing/2014/main" id="{DF9C248F-1AB4-9B29-24EB-33302EEF537A}"/>
              </a:ext>
            </a:extLst>
          </p:cNvPr>
          <p:cNvSpPr>
            <a:spLocks noGrp="1"/>
          </p:cNvSpPr>
          <p:nvPr>
            <p:ph type="body" sz="quarter" idx="12"/>
          </p:nvPr>
        </p:nvSpPr>
        <p:spPr/>
        <p:txBody>
          <a:bodyPr/>
          <a:lstStyle/>
          <a:p>
            <a:endParaRPr lang="en-IN"/>
          </a:p>
        </p:txBody>
      </p:sp>
      <p:pic>
        <p:nvPicPr>
          <p:cNvPr id="6" name="Picture 5">
            <a:extLst>
              <a:ext uri="{FF2B5EF4-FFF2-40B4-BE49-F238E27FC236}">
                <a16:creationId xmlns:a16="http://schemas.microsoft.com/office/drawing/2014/main" id="{88CCF2E4-A7EF-93BB-0245-91F15BA9F11B}"/>
              </a:ext>
            </a:extLst>
          </p:cNvPr>
          <p:cNvPicPr>
            <a:picLocks noChangeAspect="1"/>
          </p:cNvPicPr>
          <p:nvPr/>
        </p:nvPicPr>
        <p:blipFill>
          <a:blip r:embed="rId2"/>
          <a:stretch>
            <a:fillRect/>
          </a:stretch>
        </p:blipFill>
        <p:spPr>
          <a:xfrm>
            <a:off x="403199" y="1549400"/>
            <a:ext cx="5506281" cy="3145430"/>
          </a:xfrm>
          <a:prstGeom prst="rect">
            <a:avLst/>
          </a:prstGeom>
        </p:spPr>
      </p:pic>
      <p:pic>
        <p:nvPicPr>
          <p:cNvPr id="7" name="Picture 6">
            <a:extLst>
              <a:ext uri="{FF2B5EF4-FFF2-40B4-BE49-F238E27FC236}">
                <a16:creationId xmlns:a16="http://schemas.microsoft.com/office/drawing/2014/main" id="{5DFC9487-4B6C-6819-39D6-10446B662D0D}"/>
              </a:ext>
            </a:extLst>
          </p:cNvPr>
          <p:cNvPicPr>
            <a:picLocks noChangeAspect="1"/>
          </p:cNvPicPr>
          <p:nvPr/>
        </p:nvPicPr>
        <p:blipFill>
          <a:blip r:embed="rId3"/>
          <a:stretch>
            <a:fillRect/>
          </a:stretch>
        </p:blipFill>
        <p:spPr>
          <a:xfrm>
            <a:off x="6257094" y="1549400"/>
            <a:ext cx="5506281" cy="3145430"/>
          </a:xfrm>
          <a:prstGeom prst="rect">
            <a:avLst/>
          </a:prstGeom>
        </p:spPr>
      </p:pic>
    </p:spTree>
    <p:extLst>
      <p:ext uri="{BB962C8B-B14F-4D97-AF65-F5344CB8AC3E}">
        <p14:creationId xmlns:p14="http://schemas.microsoft.com/office/powerpoint/2010/main" val="129855401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ADEC0-F51F-A9BA-7237-3357474915AD}"/>
              </a:ext>
            </a:extLst>
          </p:cNvPr>
          <p:cNvSpPr>
            <a:spLocks noGrp="1"/>
          </p:cNvSpPr>
          <p:nvPr>
            <p:ph type="title"/>
          </p:nvPr>
        </p:nvSpPr>
        <p:spPr/>
        <p:txBody>
          <a:bodyPr/>
          <a:lstStyle/>
          <a:p>
            <a:r>
              <a:rPr lang="en-US" dirty="0"/>
              <a:t>Top 10 , Bottom 10 Stores By Orders</a:t>
            </a:r>
            <a:endParaRPr lang="en-IN" dirty="0"/>
          </a:p>
        </p:txBody>
      </p:sp>
      <p:sp>
        <p:nvSpPr>
          <p:cNvPr id="3" name="Chart Placeholder 2">
            <a:extLst>
              <a:ext uri="{FF2B5EF4-FFF2-40B4-BE49-F238E27FC236}">
                <a16:creationId xmlns:a16="http://schemas.microsoft.com/office/drawing/2014/main" id="{56556688-973F-7E48-5071-396A13A14B6B}"/>
              </a:ext>
            </a:extLst>
          </p:cNvPr>
          <p:cNvSpPr>
            <a:spLocks noGrp="1"/>
          </p:cNvSpPr>
          <p:nvPr>
            <p:ph type="chart" sz="quarter" idx="11"/>
          </p:nvPr>
        </p:nvSpPr>
        <p:spPr/>
      </p:sp>
      <p:sp>
        <p:nvSpPr>
          <p:cNvPr id="4" name="Text Placeholder 3">
            <a:extLst>
              <a:ext uri="{FF2B5EF4-FFF2-40B4-BE49-F238E27FC236}">
                <a16:creationId xmlns:a16="http://schemas.microsoft.com/office/drawing/2014/main" id="{6B92E2C9-BF83-6B31-9B08-7B27510EEBB4}"/>
              </a:ext>
            </a:extLst>
          </p:cNvPr>
          <p:cNvSpPr>
            <a:spLocks noGrp="1"/>
          </p:cNvSpPr>
          <p:nvPr>
            <p:ph type="body" sz="quarter" idx="12"/>
          </p:nvPr>
        </p:nvSpPr>
        <p:spPr/>
        <p:txBody>
          <a:bodyPr/>
          <a:lstStyle/>
          <a:p>
            <a:endParaRPr lang="en-IN"/>
          </a:p>
        </p:txBody>
      </p:sp>
      <p:pic>
        <p:nvPicPr>
          <p:cNvPr id="5" name="Picture 4">
            <a:extLst>
              <a:ext uri="{FF2B5EF4-FFF2-40B4-BE49-F238E27FC236}">
                <a16:creationId xmlns:a16="http://schemas.microsoft.com/office/drawing/2014/main" id="{4A2D58DE-60B1-29BD-0DC1-45E5E483766D}"/>
              </a:ext>
            </a:extLst>
          </p:cNvPr>
          <p:cNvPicPr>
            <a:picLocks noChangeAspect="1"/>
          </p:cNvPicPr>
          <p:nvPr/>
        </p:nvPicPr>
        <p:blipFill>
          <a:blip r:embed="rId2"/>
          <a:stretch>
            <a:fillRect/>
          </a:stretch>
        </p:blipFill>
        <p:spPr>
          <a:xfrm>
            <a:off x="666796" y="1549399"/>
            <a:ext cx="5256332" cy="3104487"/>
          </a:xfrm>
          <a:prstGeom prst="rect">
            <a:avLst/>
          </a:prstGeom>
        </p:spPr>
      </p:pic>
      <p:pic>
        <p:nvPicPr>
          <p:cNvPr id="6" name="Picture 5">
            <a:extLst>
              <a:ext uri="{FF2B5EF4-FFF2-40B4-BE49-F238E27FC236}">
                <a16:creationId xmlns:a16="http://schemas.microsoft.com/office/drawing/2014/main" id="{DF539B27-4196-91D8-5A90-EB37923C2895}"/>
              </a:ext>
            </a:extLst>
          </p:cNvPr>
          <p:cNvPicPr>
            <a:picLocks noChangeAspect="1"/>
          </p:cNvPicPr>
          <p:nvPr/>
        </p:nvPicPr>
        <p:blipFill>
          <a:blip r:embed="rId3"/>
          <a:stretch>
            <a:fillRect/>
          </a:stretch>
        </p:blipFill>
        <p:spPr>
          <a:xfrm>
            <a:off x="6268874" y="1549399"/>
            <a:ext cx="5099711" cy="3104487"/>
          </a:xfrm>
          <a:prstGeom prst="rect">
            <a:avLst/>
          </a:prstGeom>
        </p:spPr>
      </p:pic>
    </p:spTree>
    <p:extLst>
      <p:ext uri="{BB962C8B-B14F-4D97-AF65-F5344CB8AC3E}">
        <p14:creationId xmlns:p14="http://schemas.microsoft.com/office/powerpoint/2010/main" val="97746310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61A42-0E9D-55C7-A7DC-6015F3E3BA47}"/>
              </a:ext>
            </a:extLst>
          </p:cNvPr>
          <p:cNvSpPr>
            <a:spLocks noGrp="1"/>
          </p:cNvSpPr>
          <p:nvPr>
            <p:ph type="title"/>
          </p:nvPr>
        </p:nvSpPr>
        <p:spPr/>
        <p:txBody>
          <a:bodyPr/>
          <a:lstStyle/>
          <a:p>
            <a:r>
              <a:rPr lang="en-US" dirty="0"/>
              <a:t>Top 10 , Bottom 10 Stores By Profit Distribution</a:t>
            </a:r>
            <a:endParaRPr lang="en-IN" dirty="0"/>
          </a:p>
        </p:txBody>
      </p:sp>
      <p:sp>
        <p:nvSpPr>
          <p:cNvPr id="3" name="Chart Placeholder 2">
            <a:extLst>
              <a:ext uri="{FF2B5EF4-FFF2-40B4-BE49-F238E27FC236}">
                <a16:creationId xmlns:a16="http://schemas.microsoft.com/office/drawing/2014/main" id="{0464A07C-152E-F2A5-A932-42BBCC362B09}"/>
              </a:ext>
            </a:extLst>
          </p:cNvPr>
          <p:cNvSpPr>
            <a:spLocks noGrp="1"/>
          </p:cNvSpPr>
          <p:nvPr>
            <p:ph type="chart" sz="quarter" idx="11"/>
          </p:nvPr>
        </p:nvSpPr>
        <p:spPr/>
      </p:sp>
      <p:sp>
        <p:nvSpPr>
          <p:cNvPr id="4" name="Text Placeholder 3">
            <a:extLst>
              <a:ext uri="{FF2B5EF4-FFF2-40B4-BE49-F238E27FC236}">
                <a16:creationId xmlns:a16="http://schemas.microsoft.com/office/drawing/2014/main" id="{E23AD7A4-4A82-3110-50BC-F08368A11018}"/>
              </a:ext>
            </a:extLst>
          </p:cNvPr>
          <p:cNvSpPr>
            <a:spLocks noGrp="1"/>
          </p:cNvSpPr>
          <p:nvPr>
            <p:ph type="body" sz="quarter" idx="12"/>
          </p:nvPr>
        </p:nvSpPr>
        <p:spPr/>
        <p:txBody>
          <a:bodyPr/>
          <a:lstStyle/>
          <a:p>
            <a:endParaRPr lang="en-IN"/>
          </a:p>
        </p:txBody>
      </p:sp>
      <p:pic>
        <p:nvPicPr>
          <p:cNvPr id="5" name="Picture 4">
            <a:extLst>
              <a:ext uri="{FF2B5EF4-FFF2-40B4-BE49-F238E27FC236}">
                <a16:creationId xmlns:a16="http://schemas.microsoft.com/office/drawing/2014/main" id="{E95542D4-2058-26BD-3D42-72C183B7C1BE}"/>
              </a:ext>
            </a:extLst>
          </p:cNvPr>
          <p:cNvPicPr>
            <a:picLocks noChangeAspect="1"/>
          </p:cNvPicPr>
          <p:nvPr/>
        </p:nvPicPr>
        <p:blipFill>
          <a:blip r:embed="rId2"/>
          <a:stretch>
            <a:fillRect/>
          </a:stretch>
        </p:blipFill>
        <p:spPr>
          <a:xfrm>
            <a:off x="558376" y="1549400"/>
            <a:ext cx="5405696" cy="3022600"/>
          </a:xfrm>
          <a:prstGeom prst="rect">
            <a:avLst/>
          </a:prstGeom>
        </p:spPr>
      </p:pic>
      <p:pic>
        <p:nvPicPr>
          <p:cNvPr id="6" name="Picture 5">
            <a:extLst>
              <a:ext uri="{FF2B5EF4-FFF2-40B4-BE49-F238E27FC236}">
                <a16:creationId xmlns:a16="http://schemas.microsoft.com/office/drawing/2014/main" id="{44F160A8-87B6-FC1E-9E41-D8DD53AB62DA}"/>
              </a:ext>
            </a:extLst>
          </p:cNvPr>
          <p:cNvPicPr>
            <a:picLocks noChangeAspect="1"/>
          </p:cNvPicPr>
          <p:nvPr/>
        </p:nvPicPr>
        <p:blipFill>
          <a:blip r:embed="rId3"/>
          <a:stretch>
            <a:fillRect/>
          </a:stretch>
        </p:blipFill>
        <p:spPr>
          <a:xfrm>
            <a:off x="6227930" y="1549400"/>
            <a:ext cx="5125324" cy="3022600"/>
          </a:xfrm>
          <a:prstGeom prst="rect">
            <a:avLst/>
          </a:prstGeom>
        </p:spPr>
      </p:pic>
    </p:spTree>
    <p:extLst>
      <p:ext uri="{BB962C8B-B14F-4D97-AF65-F5344CB8AC3E}">
        <p14:creationId xmlns:p14="http://schemas.microsoft.com/office/powerpoint/2010/main" val="194929069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088BD-0703-A1FC-AE61-E41E9D9B9F4F}"/>
              </a:ext>
            </a:extLst>
          </p:cNvPr>
          <p:cNvSpPr>
            <a:spLocks noGrp="1"/>
          </p:cNvSpPr>
          <p:nvPr>
            <p:ph type="title"/>
          </p:nvPr>
        </p:nvSpPr>
        <p:spPr/>
        <p:txBody>
          <a:bodyPr/>
          <a:lstStyle/>
          <a:p>
            <a:r>
              <a:rPr lang="en-US" dirty="0"/>
              <a:t>Top 10 , Bottom 10 Stores By Average Order Value</a:t>
            </a:r>
            <a:endParaRPr lang="en-IN" dirty="0"/>
          </a:p>
        </p:txBody>
      </p:sp>
      <p:sp>
        <p:nvSpPr>
          <p:cNvPr id="3" name="Chart Placeholder 2">
            <a:extLst>
              <a:ext uri="{FF2B5EF4-FFF2-40B4-BE49-F238E27FC236}">
                <a16:creationId xmlns:a16="http://schemas.microsoft.com/office/drawing/2014/main" id="{2285DA0D-A4C1-8159-DB84-91E5650D35B5}"/>
              </a:ext>
            </a:extLst>
          </p:cNvPr>
          <p:cNvSpPr>
            <a:spLocks noGrp="1"/>
          </p:cNvSpPr>
          <p:nvPr>
            <p:ph type="chart" sz="quarter" idx="11"/>
          </p:nvPr>
        </p:nvSpPr>
        <p:spPr/>
      </p:sp>
      <p:sp>
        <p:nvSpPr>
          <p:cNvPr id="4" name="Text Placeholder 3">
            <a:extLst>
              <a:ext uri="{FF2B5EF4-FFF2-40B4-BE49-F238E27FC236}">
                <a16:creationId xmlns:a16="http://schemas.microsoft.com/office/drawing/2014/main" id="{0997AC6A-B748-528D-4503-2E3F07AD41B8}"/>
              </a:ext>
            </a:extLst>
          </p:cNvPr>
          <p:cNvSpPr>
            <a:spLocks noGrp="1"/>
          </p:cNvSpPr>
          <p:nvPr>
            <p:ph type="body" sz="quarter" idx="12"/>
          </p:nvPr>
        </p:nvSpPr>
        <p:spPr/>
        <p:txBody>
          <a:bodyPr/>
          <a:lstStyle/>
          <a:p>
            <a:endParaRPr lang="en-IN"/>
          </a:p>
        </p:txBody>
      </p:sp>
      <p:pic>
        <p:nvPicPr>
          <p:cNvPr id="7" name="Picture 6">
            <a:extLst>
              <a:ext uri="{FF2B5EF4-FFF2-40B4-BE49-F238E27FC236}">
                <a16:creationId xmlns:a16="http://schemas.microsoft.com/office/drawing/2014/main" id="{A50D0B98-DEFF-10F8-3E6D-3CAA987BD58F}"/>
              </a:ext>
            </a:extLst>
          </p:cNvPr>
          <p:cNvPicPr>
            <a:picLocks noChangeAspect="1"/>
          </p:cNvPicPr>
          <p:nvPr/>
        </p:nvPicPr>
        <p:blipFill>
          <a:blip r:embed="rId2"/>
          <a:stretch>
            <a:fillRect/>
          </a:stretch>
        </p:blipFill>
        <p:spPr>
          <a:xfrm>
            <a:off x="428000" y="1549400"/>
            <a:ext cx="5331822" cy="3324224"/>
          </a:xfrm>
          <a:prstGeom prst="rect">
            <a:avLst/>
          </a:prstGeom>
        </p:spPr>
      </p:pic>
      <p:pic>
        <p:nvPicPr>
          <p:cNvPr id="8" name="Picture 7">
            <a:extLst>
              <a:ext uri="{FF2B5EF4-FFF2-40B4-BE49-F238E27FC236}">
                <a16:creationId xmlns:a16="http://schemas.microsoft.com/office/drawing/2014/main" id="{FD85D483-3545-6095-ECF6-4B4EE77F5E2B}"/>
              </a:ext>
            </a:extLst>
          </p:cNvPr>
          <p:cNvPicPr>
            <a:picLocks noChangeAspect="1"/>
          </p:cNvPicPr>
          <p:nvPr/>
        </p:nvPicPr>
        <p:blipFill>
          <a:blip r:embed="rId3"/>
          <a:stretch>
            <a:fillRect/>
          </a:stretch>
        </p:blipFill>
        <p:spPr>
          <a:xfrm>
            <a:off x="6432179" y="1549399"/>
            <a:ext cx="5331195" cy="3324223"/>
          </a:xfrm>
          <a:prstGeom prst="rect">
            <a:avLst/>
          </a:prstGeom>
        </p:spPr>
      </p:pic>
    </p:spTree>
    <p:extLst>
      <p:ext uri="{BB962C8B-B14F-4D97-AF65-F5344CB8AC3E}">
        <p14:creationId xmlns:p14="http://schemas.microsoft.com/office/powerpoint/2010/main" val="844308714"/>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751F7-7FFF-8CB3-EA4A-29118F3D8EB0}"/>
              </a:ext>
            </a:extLst>
          </p:cNvPr>
          <p:cNvSpPr>
            <a:spLocks noGrp="1"/>
          </p:cNvSpPr>
          <p:nvPr>
            <p:ph type="title"/>
          </p:nvPr>
        </p:nvSpPr>
        <p:spPr/>
        <p:txBody>
          <a:bodyPr/>
          <a:lstStyle/>
          <a:p>
            <a:r>
              <a:rPr lang="en-US" dirty="0"/>
              <a:t>Store Wise Average Orders per Customer</a:t>
            </a:r>
            <a:endParaRPr lang="en-IN" dirty="0"/>
          </a:p>
        </p:txBody>
      </p:sp>
      <p:sp>
        <p:nvSpPr>
          <p:cNvPr id="3" name="Chart Placeholder 2">
            <a:extLst>
              <a:ext uri="{FF2B5EF4-FFF2-40B4-BE49-F238E27FC236}">
                <a16:creationId xmlns:a16="http://schemas.microsoft.com/office/drawing/2014/main" id="{CC11C8BC-F755-BD4C-E506-EB358E8491AF}"/>
              </a:ext>
            </a:extLst>
          </p:cNvPr>
          <p:cNvSpPr>
            <a:spLocks noGrp="1"/>
          </p:cNvSpPr>
          <p:nvPr>
            <p:ph type="chart" sz="quarter" idx="11"/>
          </p:nvPr>
        </p:nvSpPr>
        <p:spPr>
          <a:xfrm>
            <a:off x="403225" y="1549400"/>
            <a:ext cx="5692775" cy="4500564"/>
          </a:xfrm>
        </p:spPr>
      </p:sp>
      <p:sp>
        <p:nvSpPr>
          <p:cNvPr id="4" name="Text Placeholder 3">
            <a:extLst>
              <a:ext uri="{FF2B5EF4-FFF2-40B4-BE49-F238E27FC236}">
                <a16:creationId xmlns:a16="http://schemas.microsoft.com/office/drawing/2014/main" id="{DB65A02F-7878-97B2-D008-E215FC00D017}"/>
              </a:ext>
            </a:extLst>
          </p:cNvPr>
          <p:cNvSpPr>
            <a:spLocks noGrp="1"/>
          </p:cNvSpPr>
          <p:nvPr>
            <p:ph type="body" sz="quarter" idx="12"/>
          </p:nvPr>
        </p:nvSpPr>
        <p:spPr>
          <a:xfrm>
            <a:off x="7588155" y="1549400"/>
            <a:ext cx="4175220" cy="4500564"/>
          </a:xfrm>
        </p:spPr>
        <p:txBody>
          <a:bodyPr numCol="1"/>
          <a:lstStyle/>
          <a:p>
            <a:pPr marL="285750" indent="-285750">
              <a:buFont typeface="Arial" panose="020B0604020202020204" pitchFamily="34" charset="0"/>
              <a:buChar char="•"/>
            </a:pPr>
            <a:r>
              <a:rPr lang="en-US" sz="1400" dirty="0"/>
              <a:t>All values are closed to one which shows our customer base Is mainly consisting of one Timers and we are not able to retain them for longer purchases.</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Investigate product mix, pricing strategy, and customer demographics of East.</a:t>
            </a:r>
          </a:p>
          <a:p>
            <a:pPr marL="285750" indent="-285750">
              <a:buFont typeface="Arial" panose="020B0604020202020204" pitchFamily="34" charset="0"/>
              <a:buChar char="•"/>
            </a:pPr>
            <a:r>
              <a:rPr lang="en-US" sz="1400" dirty="0"/>
              <a:t>Introduce cross-selling and upselling campaigns in low-AOV regions.</a:t>
            </a:r>
          </a:p>
          <a:p>
            <a:pPr marL="285750" indent="-285750">
              <a:buFont typeface="Arial" panose="020B0604020202020204" pitchFamily="34" charset="0"/>
              <a:buChar char="•"/>
            </a:pPr>
            <a:r>
              <a:rPr lang="en-IN" sz="1400" dirty="0"/>
              <a:t>Provide timely remainder to attract traffic in fest season.</a:t>
            </a:r>
          </a:p>
          <a:p>
            <a:pPr marL="285750" indent="-285750">
              <a:buFont typeface="Arial" panose="020B0604020202020204" pitchFamily="34" charset="0"/>
              <a:buChar char="•"/>
            </a:pPr>
            <a:r>
              <a:rPr lang="en-IN" sz="1400" dirty="0"/>
              <a:t>Provide space for local anchor stores to attract traffic</a:t>
            </a:r>
          </a:p>
        </p:txBody>
      </p:sp>
      <p:pic>
        <p:nvPicPr>
          <p:cNvPr id="5" name="Picture 4">
            <a:extLst>
              <a:ext uri="{FF2B5EF4-FFF2-40B4-BE49-F238E27FC236}">
                <a16:creationId xmlns:a16="http://schemas.microsoft.com/office/drawing/2014/main" id="{4FB744BD-8209-4400-A1B0-88B7D9EB82BA}"/>
              </a:ext>
            </a:extLst>
          </p:cNvPr>
          <p:cNvPicPr>
            <a:picLocks noChangeAspect="1"/>
          </p:cNvPicPr>
          <p:nvPr/>
        </p:nvPicPr>
        <p:blipFill>
          <a:blip r:embed="rId2"/>
          <a:stretch>
            <a:fillRect/>
          </a:stretch>
        </p:blipFill>
        <p:spPr>
          <a:xfrm>
            <a:off x="1034623" y="1549400"/>
            <a:ext cx="4429978" cy="4500564"/>
          </a:xfrm>
          <a:prstGeom prst="rect">
            <a:avLst/>
          </a:prstGeom>
        </p:spPr>
      </p:pic>
    </p:spTree>
    <p:extLst>
      <p:ext uri="{BB962C8B-B14F-4D97-AF65-F5344CB8AC3E}">
        <p14:creationId xmlns:p14="http://schemas.microsoft.com/office/powerpoint/2010/main" val="550087370"/>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E7ABD-083E-1D49-30AA-5045925D481E}"/>
              </a:ext>
            </a:extLst>
          </p:cNvPr>
          <p:cNvSpPr>
            <a:spLocks noGrp="1"/>
          </p:cNvSpPr>
          <p:nvPr>
            <p:ph type="title"/>
          </p:nvPr>
        </p:nvSpPr>
        <p:spPr/>
        <p:txBody>
          <a:bodyPr/>
          <a:lstStyle/>
          <a:p>
            <a:r>
              <a:rPr lang="en-US" dirty="0"/>
              <a:t>Region Wise Revenue , Orders , Profit and AOV Distribution</a:t>
            </a:r>
            <a:endParaRPr lang="en-IN" dirty="0"/>
          </a:p>
        </p:txBody>
      </p:sp>
      <p:sp>
        <p:nvSpPr>
          <p:cNvPr id="3" name="Chart Placeholder 2">
            <a:extLst>
              <a:ext uri="{FF2B5EF4-FFF2-40B4-BE49-F238E27FC236}">
                <a16:creationId xmlns:a16="http://schemas.microsoft.com/office/drawing/2014/main" id="{72222F78-256F-5D79-A11E-F4519BB48219}"/>
              </a:ext>
            </a:extLst>
          </p:cNvPr>
          <p:cNvSpPr>
            <a:spLocks noGrp="1"/>
          </p:cNvSpPr>
          <p:nvPr>
            <p:ph type="chart" sz="quarter" idx="11"/>
          </p:nvPr>
        </p:nvSpPr>
        <p:spPr/>
      </p:sp>
      <p:sp>
        <p:nvSpPr>
          <p:cNvPr id="4" name="Text Placeholder 3">
            <a:extLst>
              <a:ext uri="{FF2B5EF4-FFF2-40B4-BE49-F238E27FC236}">
                <a16:creationId xmlns:a16="http://schemas.microsoft.com/office/drawing/2014/main" id="{E777BF41-2F8C-B398-173C-A01AA00C677D}"/>
              </a:ext>
            </a:extLst>
          </p:cNvPr>
          <p:cNvSpPr>
            <a:spLocks noGrp="1"/>
          </p:cNvSpPr>
          <p:nvPr>
            <p:ph type="body" sz="quarter" idx="12"/>
          </p:nvPr>
        </p:nvSpPr>
        <p:spPr/>
        <p:txBody>
          <a:bodyPr numCol="2"/>
          <a:lstStyle/>
          <a:p>
            <a:pPr marL="285750" indent="-285750">
              <a:buFont typeface="Arial" panose="020B0604020202020204" pitchFamily="34" charset="0"/>
              <a:buChar char="•"/>
            </a:pPr>
            <a:r>
              <a:rPr lang="en-US" sz="1400" dirty="0" err="1"/>
              <a:t>Revneue</a:t>
            </a:r>
            <a:r>
              <a:rPr lang="en-US" sz="1400" dirty="0"/>
              <a:t>, </a:t>
            </a:r>
            <a:r>
              <a:rPr lang="en-US" sz="1400" dirty="0" err="1"/>
              <a:t>Profift</a:t>
            </a:r>
            <a:r>
              <a:rPr lang="en-US" sz="1400" dirty="0"/>
              <a:t>  and Order’s count follows similar trend with south contributing 75% and East contributing only 2%.</a:t>
            </a:r>
          </a:p>
          <a:p>
            <a:pPr marL="285750" indent="-285750">
              <a:buFont typeface="Arial" panose="020B0604020202020204" pitchFamily="34" charset="0"/>
              <a:buChar char="•"/>
            </a:pPr>
            <a:endParaRPr lang="en-US" sz="1400" dirty="0"/>
          </a:p>
          <a:p>
            <a:endParaRPr lang="en-US" sz="1400" dirty="0"/>
          </a:p>
          <a:p>
            <a:pPr marL="285750" indent="-285750">
              <a:buFont typeface="Arial" panose="020B0604020202020204" pitchFamily="34" charset="0"/>
              <a:buChar char="•"/>
            </a:pPr>
            <a:r>
              <a:rPr lang="en-US" sz="1400" dirty="0"/>
              <a:t>Optimize channel to deliver in harsh environment of East </a:t>
            </a:r>
          </a:p>
          <a:p>
            <a:pPr marL="285750" indent="-285750">
              <a:buFont typeface="Arial" panose="020B0604020202020204" pitchFamily="34" charset="0"/>
              <a:buChar char="•"/>
            </a:pPr>
            <a:r>
              <a:rPr lang="en-US" sz="1400" dirty="0"/>
              <a:t>Increase demographical reach in East.</a:t>
            </a:r>
          </a:p>
          <a:p>
            <a:pPr marL="285750" indent="-285750">
              <a:buFont typeface="Arial" panose="020B0604020202020204" pitchFamily="34" charset="0"/>
              <a:buChar char="•"/>
            </a:pPr>
            <a:endParaRPr lang="en-IN" sz="1400" dirty="0"/>
          </a:p>
        </p:txBody>
      </p:sp>
      <p:pic>
        <p:nvPicPr>
          <p:cNvPr id="9" name="Picture 8">
            <a:extLst>
              <a:ext uri="{FF2B5EF4-FFF2-40B4-BE49-F238E27FC236}">
                <a16:creationId xmlns:a16="http://schemas.microsoft.com/office/drawing/2014/main" id="{7E5E3B83-7FE0-6F4E-932F-7647E691E898}"/>
              </a:ext>
            </a:extLst>
          </p:cNvPr>
          <p:cNvPicPr>
            <a:picLocks noChangeAspect="1"/>
          </p:cNvPicPr>
          <p:nvPr/>
        </p:nvPicPr>
        <p:blipFill>
          <a:blip r:embed="rId2"/>
          <a:stretch>
            <a:fillRect/>
          </a:stretch>
        </p:blipFill>
        <p:spPr>
          <a:xfrm>
            <a:off x="1032317" y="1562654"/>
            <a:ext cx="3194304" cy="3113532"/>
          </a:xfrm>
          <a:prstGeom prst="rect">
            <a:avLst/>
          </a:prstGeom>
        </p:spPr>
      </p:pic>
      <p:pic>
        <p:nvPicPr>
          <p:cNvPr id="10" name="Picture 9">
            <a:extLst>
              <a:ext uri="{FF2B5EF4-FFF2-40B4-BE49-F238E27FC236}">
                <a16:creationId xmlns:a16="http://schemas.microsoft.com/office/drawing/2014/main" id="{AEA3A224-7C80-8692-8600-94365C1D7214}"/>
              </a:ext>
            </a:extLst>
          </p:cNvPr>
          <p:cNvPicPr>
            <a:picLocks noChangeAspect="1"/>
          </p:cNvPicPr>
          <p:nvPr/>
        </p:nvPicPr>
        <p:blipFill>
          <a:blip r:embed="rId3"/>
          <a:stretch>
            <a:fillRect/>
          </a:stretch>
        </p:blipFill>
        <p:spPr>
          <a:xfrm>
            <a:off x="8165023" y="1549400"/>
            <a:ext cx="2994660" cy="3191256"/>
          </a:xfrm>
          <a:prstGeom prst="rect">
            <a:avLst/>
          </a:prstGeom>
        </p:spPr>
      </p:pic>
      <p:pic>
        <p:nvPicPr>
          <p:cNvPr id="11" name="Picture 10">
            <a:extLst>
              <a:ext uri="{FF2B5EF4-FFF2-40B4-BE49-F238E27FC236}">
                <a16:creationId xmlns:a16="http://schemas.microsoft.com/office/drawing/2014/main" id="{97F045B6-9707-EE55-3C69-6954A389FECC}"/>
              </a:ext>
            </a:extLst>
          </p:cNvPr>
          <p:cNvPicPr>
            <a:picLocks noChangeAspect="1"/>
          </p:cNvPicPr>
          <p:nvPr/>
        </p:nvPicPr>
        <p:blipFill>
          <a:blip r:embed="rId4"/>
          <a:stretch>
            <a:fillRect/>
          </a:stretch>
        </p:blipFill>
        <p:spPr>
          <a:xfrm>
            <a:off x="4624070" y="1548176"/>
            <a:ext cx="2918460" cy="3142488"/>
          </a:xfrm>
          <a:prstGeom prst="rect">
            <a:avLst/>
          </a:prstGeom>
        </p:spPr>
      </p:pic>
    </p:spTree>
    <p:extLst>
      <p:ext uri="{BB962C8B-B14F-4D97-AF65-F5344CB8AC3E}">
        <p14:creationId xmlns:p14="http://schemas.microsoft.com/office/powerpoint/2010/main" val="703467654"/>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CABEC-E2C2-43A3-E28F-C7BFDB5DE7C5}"/>
              </a:ext>
            </a:extLst>
          </p:cNvPr>
          <p:cNvSpPr>
            <a:spLocks noGrp="1"/>
          </p:cNvSpPr>
          <p:nvPr>
            <p:ph type="title"/>
          </p:nvPr>
        </p:nvSpPr>
        <p:spPr/>
        <p:txBody>
          <a:bodyPr/>
          <a:lstStyle/>
          <a:p>
            <a:r>
              <a:rPr lang="en-US" dirty="0"/>
              <a:t>Average Order Value</a:t>
            </a:r>
            <a:endParaRPr lang="en-IN" dirty="0"/>
          </a:p>
        </p:txBody>
      </p:sp>
      <p:pic>
        <p:nvPicPr>
          <p:cNvPr id="5" name="Chart Placeholder 4">
            <a:extLst>
              <a:ext uri="{FF2B5EF4-FFF2-40B4-BE49-F238E27FC236}">
                <a16:creationId xmlns:a16="http://schemas.microsoft.com/office/drawing/2014/main" id="{6F5ED3E2-C3F2-15B0-93CA-46E8A9A35A37}"/>
              </a:ext>
            </a:extLst>
          </p:cNvPr>
          <p:cNvPicPr>
            <a:picLocks noGrp="1" noChangeAspect="1"/>
          </p:cNvPicPr>
          <p:nvPr>
            <p:ph type="chart" sz="quarter" idx="11"/>
          </p:nvPr>
        </p:nvPicPr>
        <p:blipFill>
          <a:blip r:embed="rId2"/>
          <a:stretch>
            <a:fillRect/>
          </a:stretch>
        </p:blipFill>
        <p:spPr>
          <a:xfrm>
            <a:off x="1046830" y="1604413"/>
            <a:ext cx="10089743" cy="2967587"/>
          </a:xfrm>
          <a:prstGeom prst="rect">
            <a:avLst/>
          </a:prstGeom>
        </p:spPr>
      </p:pic>
      <p:sp>
        <p:nvSpPr>
          <p:cNvPr id="4" name="Text Placeholder 3">
            <a:extLst>
              <a:ext uri="{FF2B5EF4-FFF2-40B4-BE49-F238E27FC236}">
                <a16:creationId xmlns:a16="http://schemas.microsoft.com/office/drawing/2014/main" id="{56B15F6B-9310-D9D6-EAD1-DC37FF0BA542}"/>
              </a:ext>
            </a:extLst>
          </p:cNvPr>
          <p:cNvSpPr>
            <a:spLocks noGrp="1"/>
          </p:cNvSpPr>
          <p:nvPr>
            <p:ph type="body" sz="quarter" idx="12"/>
          </p:nvPr>
        </p:nvSpPr>
        <p:spPr/>
        <p:txBody>
          <a:bodyPr numCol="2"/>
          <a:lstStyle/>
          <a:p>
            <a:pPr marL="285750" indent="-285750">
              <a:buFont typeface="Arial" panose="020B0604020202020204" pitchFamily="34" charset="0"/>
              <a:buChar char="•"/>
            </a:pPr>
            <a:r>
              <a:rPr lang="en-US" sz="1400" dirty="0"/>
              <a:t>AOV of East is comparably low.</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Investigate product mix, pricing strategy, and customer demographics of East.</a:t>
            </a:r>
          </a:p>
          <a:p>
            <a:pPr marL="285750" indent="-285750">
              <a:buFont typeface="Arial" panose="020B0604020202020204" pitchFamily="34" charset="0"/>
              <a:buChar char="•"/>
            </a:pPr>
            <a:r>
              <a:rPr lang="en-US" sz="1400" dirty="0"/>
              <a:t>Introduce cross-selling and upselling campaigns in low-AOV regions.</a:t>
            </a:r>
          </a:p>
          <a:p>
            <a:pPr marL="285750" indent="-285750">
              <a:buFont typeface="Arial" panose="020B0604020202020204" pitchFamily="34" charset="0"/>
              <a:buChar char="•"/>
            </a:pPr>
            <a:endParaRPr lang="en-IN" sz="1400" dirty="0"/>
          </a:p>
        </p:txBody>
      </p:sp>
    </p:spTree>
    <p:extLst>
      <p:ext uri="{BB962C8B-B14F-4D97-AF65-F5344CB8AC3E}">
        <p14:creationId xmlns:p14="http://schemas.microsoft.com/office/powerpoint/2010/main" val="174353475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BA782-C3A2-1CEC-0929-FFE5FAF1FF86}"/>
              </a:ext>
            </a:extLst>
          </p:cNvPr>
          <p:cNvSpPr>
            <a:spLocks noGrp="1"/>
          </p:cNvSpPr>
          <p:nvPr>
            <p:ph type="title"/>
          </p:nvPr>
        </p:nvSpPr>
        <p:spPr/>
        <p:txBody>
          <a:bodyPr/>
          <a:lstStyle/>
          <a:p>
            <a:r>
              <a:rPr lang="en-US" dirty="0"/>
              <a:t>State Wise Revenue , Order Distribution</a:t>
            </a:r>
            <a:endParaRPr lang="en-IN" dirty="0"/>
          </a:p>
        </p:txBody>
      </p:sp>
      <p:pic>
        <p:nvPicPr>
          <p:cNvPr id="5" name="Chart Placeholder 4">
            <a:extLst>
              <a:ext uri="{FF2B5EF4-FFF2-40B4-BE49-F238E27FC236}">
                <a16:creationId xmlns:a16="http://schemas.microsoft.com/office/drawing/2014/main" id="{58324A37-4D59-ABCC-6022-4FBDF73FB3B3}"/>
              </a:ext>
            </a:extLst>
          </p:cNvPr>
          <p:cNvPicPr>
            <a:picLocks noGrp="1" noChangeAspect="1"/>
          </p:cNvPicPr>
          <p:nvPr>
            <p:ph type="chart" sz="quarter" idx="11"/>
          </p:nvPr>
        </p:nvPicPr>
        <p:blipFill>
          <a:blip r:embed="rId2"/>
          <a:stretch>
            <a:fillRect/>
          </a:stretch>
        </p:blipFill>
        <p:spPr>
          <a:xfrm>
            <a:off x="403200" y="1511502"/>
            <a:ext cx="5680100" cy="3278861"/>
          </a:xfrm>
          <a:prstGeom prst="rect">
            <a:avLst/>
          </a:prstGeom>
        </p:spPr>
      </p:pic>
      <p:sp>
        <p:nvSpPr>
          <p:cNvPr id="4" name="Text Placeholder 3">
            <a:extLst>
              <a:ext uri="{FF2B5EF4-FFF2-40B4-BE49-F238E27FC236}">
                <a16:creationId xmlns:a16="http://schemas.microsoft.com/office/drawing/2014/main" id="{A8A83D40-2EC0-F2FB-B8D4-117D93D1ACB5}"/>
              </a:ext>
            </a:extLst>
          </p:cNvPr>
          <p:cNvSpPr>
            <a:spLocks noGrp="1"/>
          </p:cNvSpPr>
          <p:nvPr>
            <p:ph type="body" sz="quarter" idx="12"/>
          </p:nvPr>
        </p:nvSpPr>
        <p:spPr/>
        <p:txBody>
          <a:bodyPr numCol="2"/>
          <a:lstStyle/>
          <a:p>
            <a:pPr marL="285750" indent="-285750">
              <a:buFont typeface="Arial" panose="020B0604020202020204" pitchFamily="34" charset="0"/>
              <a:buChar char="•"/>
            </a:pPr>
            <a:r>
              <a:rPr lang="en-US" sz="1400" dirty="0"/>
              <a:t>Andhra contributes almost 75% in both Revenue and in Order distribution.</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Upgrade inventory with environmentally friendly and healthier options and charge premium for it.</a:t>
            </a:r>
          </a:p>
          <a:p>
            <a:pPr marL="285750" indent="-285750">
              <a:buFont typeface="Arial" panose="020B0604020202020204" pitchFamily="34" charset="0"/>
              <a:buChar char="•"/>
            </a:pPr>
            <a:r>
              <a:rPr lang="en-US" sz="1400" dirty="0"/>
              <a:t>Increase Demographical reach.</a:t>
            </a:r>
            <a:endParaRPr lang="en-IN" sz="1400" dirty="0"/>
          </a:p>
          <a:p>
            <a:pPr marL="285750" indent="-285750">
              <a:buFont typeface="Arial" panose="020B0604020202020204" pitchFamily="34" charset="0"/>
              <a:buChar char="•"/>
            </a:pPr>
            <a:endParaRPr lang="en-IN" sz="1400" dirty="0"/>
          </a:p>
        </p:txBody>
      </p:sp>
      <p:pic>
        <p:nvPicPr>
          <p:cNvPr id="6" name="Picture 5">
            <a:extLst>
              <a:ext uri="{FF2B5EF4-FFF2-40B4-BE49-F238E27FC236}">
                <a16:creationId xmlns:a16="http://schemas.microsoft.com/office/drawing/2014/main" id="{007EBAFD-C149-6103-4322-CC3CF0372F43}"/>
              </a:ext>
            </a:extLst>
          </p:cNvPr>
          <p:cNvPicPr>
            <a:picLocks noChangeAspect="1"/>
          </p:cNvPicPr>
          <p:nvPr/>
        </p:nvPicPr>
        <p:blipFill>
          <a:blip r:embed="rId3"/>
          <a:stretch>
            <a:fillRect/>
          </a:stretch>
        </p:blipFill>
        <p:spPr>
          <a:xfrm>
            <a:off x="6083299" y="1511501"/>
            <a:ext cx="5680075" cy="3278860"/>
          </a:xfrm>
          <a:prstGeom prst="rect">
            <a:avLst/>
          </a:prstGeom>
        </p:spPr>
      </p:pic>
    </p:spTree>
    <p:extLst>
      <p:ext uri="{BB962C8B-B14F-4D97-AF65-F5344CB8AC3E}">
        <p14:creationId xmlns:p14="http://schemas.microsoft.com/office/powerpoint/2010/main" val="790642454"/>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33483-EFBC-5199-B92E-3E0401A16FFA}"/>
              </a:ext>
            </a:extLst>
          </p:cNvPr>
          <p:cNvSpPr>
            <a:spLocks noGrp="1"/>
          </p:cNvSpPr>
          <p:nvPr>
            <p:ph type="title"/>
          </p:nvPr>
        </p:nvSpPr>
        <p:spPr/>
        <p:txBody>
          <a:bodyPr/>
          <a:lstStyle/>
          <a:p>
            <a:r>
              <a:rPr lang="en-US" dirty="0"/>
              <a:t>State Wise Profit and AOV distribution</a:t>
            </a:r>
            <a:endParaRPr lang="en-IN" dirty="0"/>
          </a:p>
        </p:txBody>
      </p:sp>
      <p:sp>
        <p:nvSpPr>
          <p:cNvPr id="3" name="Chart Placeholder 2">
            <a:extLst>
              <a:ext uri="{FF2B5EF4-FFF2-40B4-BE49-F238E27FC236}">
                <a16:creationId xmlns:a16="http://schemas.microsoft.com/office/drawing/2014/main" id="{64BDF912-0FBB-1EF5-ADF8-AF4A2A29ADEB}"/>
              </a:ext>
            </a:extLst>
          </p:cNvPr>
          <p:cNvSpPr>
            <a:spLocks noGrp="1"/>
          </p:cNvSpPr>
          <p:nvPr>
            <p:ph type="chart" sz="quarter" idx="11"/>
          </p:nvPr>
        </p:nvSpPr>
        <p:spPr/>
      </p:sp>
      <p:sp>
        <p:nvSpPr>
          <p:cNvPr id="4" name="Text Placeholder 3">
            <a:extLst>
              <a:ext uri="{FF2B5EF4-FFF2-40B4-BE49-F238E27FC236}">
                <a16:creationId xmlns:a16="http://schemas.microsoft.com/office/drawing/2014/main" id="{045B0DC6-E40B-EB4A-84CB-E23AEEFDB999}"/>
              </a:ext>
            </a:extLst>
          </p:cNvPr>
          <p:cNvSpPr>
            <a:spLocks noGrp="1"/>
          </p:cNvSpPr>
          <p:nvPr>
            <p:ph type="body" sz="quarter" idx="12"/>
          </p:nvPr>
        </p:nvSpPr>
        <p:spPr/>
        <p:txBody>
          <a:bodyPr numCol="2"/>
          <a:lstStyle/>
          <a:p>
            <a:pPr marL="285750" indent="-285750">
              <a:buFont typeface="Arial" panose="020B0604020202020204" pitchFamily="34" charset="0"/>
              <a:buChar char="•"/>
            </a:pPr>
            <a:r>
              <a:rPr lang="en-US" sz="1400" dirty="0"/>
              <a:t>Andhra contributes almost 75% in profit whereas its AOV is second lowest.</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Upgrade inventory with environmentally friendly and healthier options and charge premium for it.</a:t>
            </a:r>
          </a:p>
          <a:p>
            <a:pPr marL="285750" indent="-285750">
              <a:buFont typeface="Arial" panose="020B0604020202020204" pitchFamily="34" charset="0"/>
              <a:buChar char="•"/>
            </a:pPr>
            <a:r>
              <a:rPr lang="en-US" sz="1400" dirty="0"/>
              <a:t>Increase Demographical reach.</a:t>
            </a:r>
            <a:endParaRPr lang="en-IN" sz="1400" dirty="0"/>
          </a:p>
        </p:txBody>
      </p:sp>
      <p:pic>
        <p:nvPicPr>
          <p:cNvPr id="5" name="Picture 4">
            <a:extLst>
              <a:ext uri="{FF2B5EF4-FFF2-40B4-BE49-F238E27FC236}">
                <a16:creationId xmlns:a16="http://schemas.microsoft.com/office/drawing/2014/main" id="{A5B4DE19-5340-315D-8239-0DF2C6A52E36}"/>
              </a:ext>
            </a:extLst>
          </p:cNvPr>
          <p:cNvPicPr>
            <a:picLocks noChangeAspect="1"/>
          </p:cNvPicPr>
          <p:nvPr/>
        </p:nvPicPr>
        <p:blipFill>
          <a:blip r:embed="rId2"/>
          <a:stretch>
            <a:fillRect/>
          </a:stretch>
        </p:blipFill>
        <p:spPr>
          <a:xfrm>
            <a:off x="403200" y="1549400"/>
            <a:ext cx="5692800" cy="3324224"/>
          </a:xfrm>
          <a:prstGeom prst="rect">
            <a:avLst/>
          </a:prstGeom>
        </p:spPr>
      </p:pic>
      <p:pic>
        <p:nvPicPr>
          <p:cNvPr id="6" name="Picture 5">
            <a:extLst>
              <a:ext uri="{FF2B5EF4-FFF2-40B4-BE49-F238E27FC236}">
                <a16:creationId xmlns:a16="http://schemas.microsoft.com/office/drawing/2014/main" id="{CFF6DE41-81F9-F89B-E08A-B38C613CB7FC}"/>
              </a:ext>
            </a:extLst>
          </p:cNvPr>
          <p:cNvPicPr>
            <a:picLocks noChangeAspect="1"/>
          </p:cNvPicPr>
          <p:nvPr/>
        </p:nvPicPr>
        <p:blipFill>
          <a:blip r:embed="rId3"/>
          <a:stretch>
            <a:fillRect/>
          </a:stretch>
        </p:blipFill>
        <p:spPr>
          <a:xfrm>
            <a:off x="6096000" y="1549399"/>
            <a:ext cx="5692775" cy="3324224"/>
          </a:xfrm>
          <a:prstGeom prst="rect">
            <a:avLst/>
          </a:prstGeom>
        </p:spPr>
      </p:pic>
    </p:spTree>
    <p:extLst>
      <p:ext uri="{BB962C8B-B14F-4D97-AF65-F5344CB8AC3E}">
        <p14:creationId xmlns:p14="http://schemas.microsoft.com/office/powerpoint/2010/main" val="200176630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D598C-6CFB-B344-765F-A6C1A53A33A5}"/>
              </a:ext>
            </a:extLst>
          </p:cNvPr>
          <p:cNvSpPr>
            <a:spLocks noGrp="1"/>
          </p:cNvSpPr>
          <p:nvPr>
            <p:ph type="title"/>
          </p:nvPr>
        </p:nvSpPr>
        <p:spPr/>
        <p:txBody>
          <a:bodyPr/>
          <a:lstStyle/>
          <a:p>
            <a:r>
              <a:rPr lang="en-US" dirty="0"/>
              <a:t>Ordered by </a:t>
            </a:r>
            <a:r>
              <a:rPr lang="en-US" dirty="0" err="1"/>
              <a:t>Profitablity</a:t>
            </a:r>
            <a:r>
              <a:rPr lang="en-US" dirty="0"/>
              <a:t> and satisfaction Score</a:t>
            </a:r>
            <a:endParaRPr lang="en-IN" dirty="0"/>
          </a:p>
        </p:txBody>
      </p:sp>
      <p:pic>
        <p:nvPicPr>
          <p:cNvPr id="5" name="Chart Placeholder 4">
            <a:extLst>
              <a:ext uri="{FF2B5EF4-FFF2-40B4-BE49-F238E27FC236}">
                <a16:creationId xmlns:a16="http://schemas.microsoft.com/office/drawing/2014/main" id="{25442854-A9E4-D858-A90E-EB86D6FE9E0D}"/>
              </a:ext>
            </a:extLst>
          </p:cNvPr>
          <p:cNvPicPr>
            <a:picLocks noGrp="1" noChangeAspect="1"/>
          </p:cNvPicPr>
          <p:nvPr>
            <p:ph type="chart" sz="quarter" idx="11"/>
          </p:nvPr>
        </p:nvPicPr>
        <p:blipFill>
          <a:blip r:embed="rId2"/>
          <a:stretch>
            <a:fillRect/>
          </a:stretch>
        </p:blipFill>
        <p:spPr>
          <a:xfrm>
            <a:off x="1012079" y="1549400"/>
            <a:ext cx="5175155" cy="4500563"/>
          </a:xfrm>
          <a:prstGeom prst="rect">
            <a:avLst/>
          </a:prstGeom>
        </p:spPr>
      </p:pic>
      <p:sp>
        <p:nvSpPr>
          <p:cNvPr id="4" name="Text Placeholder 3">
            <a:extLst>
              <a:ext uri="{FF2B5EF4-FFF2-40B4-BE49-F238E27FC236}">
                <a16:creationId xmlns:a16="http://schemas.microsoft.com/office/drawing/2014/main" id="{C723818C-CEE8-96FD-A034-1FE2A3BCB9B1}"/>
              </a:ext>
            </a:extLst>
          </p:cNvPr>
          <p:cNvSpPr>
            <a:spLocks noGrp="1"/>
          </p:cNvSpPr>
          <p:nvPr>
            <p:ph type="body" sz="quarter" idx="12"/>
          </p:nvPr>
        </p:nvSpPr>
        <p:spPr>
          <a:xfrm>
            <a:off x="7492621" y="1549400"/>
            <a:ext cx="4270753" cy="4500563"/>
          </a:xfrm>
        </p:spPr>
        <p:txBody>
          <a:bodyPr numCol="1"/>
          <a:lstStyle/>
          <a:p>
            <a:pPr marL="285750" indent="-285750">
              <a:buFont typeface="Arial" panose="020B0604020202020204" pitchFamily="34" charset="0"/>
              <a:buChar char="•"/>
            </a:pPr>
            <a:r>
              <a:rPr lang="en-US" sz="1400" dirty="0"/>
              <a:t>Profit-Discount Ratio helps compare profitability relative to discounts given by store.</a:t>
            </a:r>
          </a:p>
          <a:p>
            <a:pPr marL="285750" indent="-285750">
              <a:buFont typeface="Arial" panose="020B0604020202020204" pitchFamily="34" charset="0"/>
              <a:buChar char="•"/>
            </a:pPr>
            <a:r>
              <a:rPr lang="en-US" sz="1400" dirty="0"/>
              <a:t>Profit-Discount-Ratio ST180 performs poorly in both PD-Ration as well as Average customer Rating</a:t>
            </a:r>
            <a:r>
              <a:rPr lang="en-IN" sz="1400" dirty="0"/>
              <a:t>.</a:t>
            </a:r>
          </a:p>
          <a:p>
            <a:pPr marL="285750" indent="-285750">
              <a:buFont typeface="Arial" panose="020B0604020202020204" pitchFamily="34" charset="0"/>
              <a:buChar char="•"/>
            </a:pPr>
            <a:r>
              <a:rPr lang="en-US" sz="1400" dirty="0"/>
              <a:t>Stores as higher Profitability are not among highly rated ones.</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Investigate ST180 Operational inefficiencies.</a:t>
            </a:r>
          </a:p>
          <a:p>
            <a:pPr marL="285750" indent="-285750">
              <a:buFont typeface="Arial" panose="020B0604020202020204" pitchFamily="34" charset="0"/>
              <a:buChar char="•"/>
            </a:pPr>
            <a:r>
              <a:rPr lang="en-US" sz="1400" dirty="0"/>
              <a:t>Invest in staff training, product quality checks and service improvement programs.</a:t>
            </a:r>
          </a:p>
          <a:p>
            <a:pPr marL="285750" indent="-285750">
              <a:buFont typeface="Arial" panose="020B0604020202020204" pitchFamily="34" charset="0"/>
              <a:buChar char="•"/>
            </a:pPr>
            <a:r>
              <a:rPr lang="en-US" sz="1400" dirty="0"/>
              <a:t>Consider upselling strategies or optimizing discount policies to improve profitability without losing customer trust.</a:t>
            </a:r>
            <a:endParaRPr lang="en-IN" sz="1400" dirty="0"/>
          </a:p>
        </p:txBody>
      </p:sp>
    </p:spTree>
    <p:extLst>
      <p:ext uri="{BB962C8B-B14F-4D97-AF65-F5344CB8AC3E}">
        <p14:creationId xmlns:p14="http://schemas.microsoft.com/office/powerpoint/2010/main" val="2462308010"/>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CD7C6-7A2E-6856-95A3-09F583C3C0A5}"/>
              </a:ext>
            </a:extLst>
          </p:cNvPr>
          <p:cNvSpPr>
            <a:spLocks noGrp="1"/>
          </p:cNvSpPr>
          <p:nvPr>
            <p:ph type="title"/>
          </p:nvPr>
        </p:nvSpPr>
        <p:spPr/>
        <p:txBody>
          <a:bodyPr/>
          <a:lstStyle/>
          <a:p>
            <a:r>
              <a:rPr lang="en-US" dirty="0"/>
              <a:t>AOV Most Preferred Category</a:t>
            </a:r>
            <a:endParaRPr lang="en-IN" dirty="0"/>
          </a:p>
        </p:txBody>
      </p:sp>
      <p:sp>
        <p:nvSpPr>
          <p:cNvPr id="3" name="Chart Placeholder 2">
            <a:extLst>
              <a:ext uri="{FF2B5EF4-FFF2-40B4-BE49-F238E27FC236}">
                <a16:creationId xmlns:a16="http://schemas.microsoft.com/office/drawing/2014/main" id="{6AED9BAF-02AD-9463-A927-4045E716E9DD}"/>
              </a:ext>
            </a:extLst>
          </p:cNvPr>
          <p:cNvSpPr>
            <a:spLocks noGrp="1"/>
          </p:cNvSpPr>
          <p:nvPr>
            <p:ph type="chart" sz="quarter" idx="11"/>
          </p:nvPr>
        </p:nvSpPr>
        <p:spPr/>
      </p:sp>
      <p:sp>
        <p:nvSpPr>
          <p:cNvPr id="4" name="Text Placeholder 3">
            <a:extLst>
              <a:ext uri="{FF2B5EF4-FFF2-40B4-BE49-F238E27FC236}">
                <a16:creationId xmlns:a16="http://schemas.microsoft.com/office/drawing/2014/main" id="{C3731DD8-0566-E9AD-649B-04ABB4CE96C9}"/>
              </a:ext>
            </a:extLst>
          </p:cNvPr>
          <p:cNvSpPr>
            <a:spLocks noGrp="1"/>
          </p:cNvSpPr>
          <p:nvPr>
            <p:ph type="body" sz="quarter" idx="12"/>
          </p:nvPr>
        </p:nvSpPr>
        <p:spPr/>
        <p:txBody>
          <a:bodyPr numCol="2"/>
          <a:lstStyle/>
          <a:p>
            <a:pPr marL="285750" indent="-285750">
              <a:buFont typeface="Arial" panose="020B0604020202020204" pitchFamily="34" charset="0"/>
              <a:buChar char="•"/>
            </a:pPr>
            <a:r>
              <a:rPr lang="en-US" sz="1400" dirty="0"/>
              <a:t>Furniture, Food &amp; Beverages  and toys are categories with high AOV where as  Baby and Home-Appliance AOV comparably low.</a:t>
            </a:r>
          </a:p>
          <a:p>
            <a:pPr marL="285750" indent="-285750">
              <a:buFont typeface="Arial" panose="020B0604020202020204" pitchFamily="34" charset="0"/>
              <a:buChar char="•"/>
            </a:pPr>
            <a:r>
              <a:rPr lang="en-US" sz="1400" dirty="0"/>
              <a:t>Offer Proper Delivery channels for furniture.</a:t>
            </a:r>
          </a:p>
          <a:p>
            <a:pPr marL="285750" indent="-285750">
              <a:buFont typeface="Arial" panose="020B0604020202020204" pitchFamily="34" charset="0"/>
              <a:buChar char="•"/>
            </a:pPr>
            <a:r>
              <a:rPr lang="en-US" sz="1400" dirty="0"/>
              <a:t>Provide healthier options of food and Beverages.</a:t>
            </a:r>
          </a:p>
          <a:p>
            <a:pPr marL="285750" indent="-285750">
              <a:buFont typeface="Arial" panose="020B0604020202020204" pitchFamily="34" charset="0"/>
              <a:buChar char="•"/>
            </a:pPr>
            <a:r>
              <a:rPr lang="en-US" sz="1400" dirty="0"/>
              <a:t>Create play area and feeding space for parents.</a:t>
            </a:r>
          </a:p>
        </p:txBody>
      </p:sp>
      <p:pic>
        <p:nvPicPr>
          <p:cNvPr id="5" name="Picture 4">
            <a:extLst>
              <a:ext uri="{FF2B5EF4-FFF2-40B4-BE49-F238E27FC236}">
                <a16:creationId xmlns:a16="http://schemas.microsoft.com/office/drawing/2014/main" id="{F5E966AA-7A08-F8A2-B4CC-D7079D0762A2}"/>
              </a:ext>
            </a:extLst>
          </p:cNvPr>
          <p:cNvPicPr>
            <a:picLocks noChangeAspect="1"/>
          </p:cNvPicPr>
          <p:nvPr/>
        </p:nvPicPr>
        <p:blipFill>
          <a:blip r:embed="rId2"/>
          <a:stretch>
            <a:fillRect/>
          </a:stretch>
        </p:blipFill>
        <p:spPr>
          <a:xfrm>
            <a:off x="402575" y="1549400"/>
            <a:ext cx="11360799" cy="3234436"/>
          </a:xfrm>
          <a:prstGeom prst="rect">
            <a:avLst/>
          </a:prstGeom>
        </p:spPr>
      </p:pic>
    </p:spTree>
    <p:extLst>
      <p:ext uri="{BB962C8B-B14F-4D97-AF65-F5344CB8AC3E}">
        <p14:creationId xmlns:p14="http://schemas.microsoft.com/office/powerpoint/2010/main" val="741176312"/>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D6DAB-8A93-FB50-F2BB-DB98B6AD90D9}"/>
              </a:ext>
            </a:extLst>
          </p:cNvPr>
          <p:cNvSpPr>
            <a:spLocks noGrp="1"/>
          </p:cNvSpPr>
          <p:nvPr>
            <p:ph type="title"/>
          </p:nvPr>
        </p:nvSpPr>
        <p:spPr/>
        <p:txBody>
          <a:bodyPr/>
          <a:lstStyle/>
          <a:p>
            <a:r>
              <a:rPr lang="en-US" dirty="0"/>
              <a:t>Time slot and Quarterly sales</a:t>
            </a:r>
            <a:endParaRPr lang="en-IN" dirty="0"/>
          </a:p>
        </p:txBody>
      </p:sp>
      <p:sp>
        <p:nvSpPr>
          <p:cNvPr id="3" name="Chart Placeholder 2">
            <a:extLst>
              <a:ext uri="{FF2B5EF4-FFF2-40B4-BE49-F238E27FC236}">
                <a16:creationId xmlns:a16="http://schemas.microsoft.com/office/drawing/2014/main" id="{DCA72F9B-6CF7-A1FC-452E-51E4200F0C25}"/>
              </a:ext>
            </a:extLst>
          </p:cNvPr>
          <p:cNvSpPr>
            <a:spLocks noGrp="1"/>
          </p:cNvSpPr>
          <p:nvPr>
            <p:ph type="chart" sz="quarter" idx="11"/>
          </p:nvPr>
        </p:nvSpPr>
        <p:spPr/>
      </p:sp>
      <p:sp>
        <p:nvSpPr>
          <p:cNvPr id="4" name="Text Placeholder 3">
            <a:extLst>
              <a:ext uri="{FF2B5EF4-FFF2-40B4-BE49-F238E27FC236}">
                <a16:creationId xmlns:a16="http://schemas.microsoft.com/office/drawing/2014/main" id="{F3CACD68-ED86-6746-C077-5FED15C839D3}"/>
              </a:ext>
            </a:extLst>
          </p:cNvPr>
          <p:cNvSpPr>
            <a:spLocks noGrp="1"/>
          </p:cNvSpPr>
          <p:nvPr>
            <p:ph type="body" sz="quarter" idx="12"/>
          </p:nvPr>
        </p:nvSpPr>
        <p:spPr/>
        <p:txBody>
          <a:bodyPr numCol="2"/>
          <a:lstStyle/>
          <a:p>
            <a:pPr marL="285750" indent="-285750">
              <a:buFont typeface="Arial" panose="020B0604020202020204" pitchFamily="34" charset="0"/>
              <a:buChar char="•"/>
            </a:pPr>
            <a:r>
              <a:rPr lang="en-US" sz="1400" dirty="0"/>
              <a:t>Q1 contributes least around 9% of total.</a:t>
            </a:r>
          </a:p>
          <a:p>
            <a:pPr marL="285750" indent="-285750">
              <a:buFont typeface="Arial" panose="020B0604020202020204" pitchFamily="34" charset="0"/>
              <a:buChar char="•"/>
            </a:pPr>
            <a:r>
              <a:rPr lang="en-US" sz="1400" dirty="0"/>
              <a:t>Late night (89%) and afternoon (8%)  contributes more than 95% of total</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r>
              <a:rPr lang="en-US" sz="1400" dirty="0"/>
              <a:t>Diversify Quarterly sales with monthly target strategies.</a:t>
            </a:r>
          </a:p>
          <a:p>
            <a:pPr marL="285750" indent="-285750">
              <a:buFont typeface="Arial" panose="020B0604020202020204" pitchFamily="34" charset="0"/>
              <a:buChar char="•"/>
            </a:pPr>
            <a:r>
              <a:rPr lang="en-US" sz="1400" dirty="0"/>
              <a:t>Provide space for local anchor stores to attract local traffic, offer competitive pricing. </a:t>
            </a:r>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endParaRPr lang="en-US" sz="1400" dirty="0"/>
          </a:p>
          <a:p>
            <a:pPr marL="285750" indent="-285750">
              <a:buFont typeface="Arial" panose="020B0604020202020204" pitchFamily="34" charset="0"/>
              <a:buChar char="•"/>
            </a:pPr>
            <a:endParaRPr lang="en-IN" sz="1400" dirty="0"/>
          </a:p>
        </p:txBody>
      </p:sp>
      <p:pic>
        <p:nvPicPr>
          <p:cNvPr id="7" name="Picture 6">
            <a:extLst>
              <a:ext uri="{FF2B5EF4-FFF2-40B4-BE49-F238E27FC236}">
                <a16:creationId xmlns:a16="http://schemas.microsoft.com/office/drawing/2014/main" id="{86A36BF5-F392-F330-4B68-2E908D655305}"/>
              </a:ext>
            </a:extLst>
          </p:cNvPr>
          <p:cNvPicPr>
            <a:picLocks noChangeAspect="1"/>
          </p:cNvPicPr>
          <p:nvPr/>
        </p:nvPicPr>
        <p:blipFill>
          <a:blip r:embed="rId2"/>
          <a:stretch>
            <a:fillRect/>
          </a:stretch>
        </p:blipFill>
        <p:spPr>
          <a:xfrm>
            <a:off x="1030519" y="1549400"/>
            <a:ext cx="3307080" cy="3249168"/>
          </a:xfrm>
          <a:prstGeom prst="rect">
            <a:avLst/>
          </a:prstGeom>
        </p:spPr>
      </p:pic>
      <p:pic>
        <p:nvPicPr>
          <p:cNvPr id="8" name="Picture 7">
            <a:extLst>
              <a:ext uri="{FF2B5EF4-FFF2-40B4-BE49-F238E27FC236}">
                <a16:creationId xmlns:a16="http://schemas.microsoft.com/office/drawing/2014/main" id="{C1E8E701-E510-2332-084A-9133102CA6A5}"/>
              </a:ext>
            </a:extLst>
          </p:cNvPr>
          <p:cNvPicPr>
            <a:picLocks noChangeAspect="1"/>
          </p:cNvPicPr>
          <p:nvPr/>
        </p:nvPicPr>
        <p:blipFill>
          <a:blip r:embed="rId3"/>
          <a:stretch>
            <a:fillRect/>
          </a:stretch>
        </p:blipFill>
        <p:spPr>
          <a:xfrm>
            <a:off x="7666949" y="1549400"/>
            <a:ext cx="3494532" cy="3265932"/>
          </a:xfrm>
          <a:prstGeom prst="rect">
            <a:avLst/>
          </a:prstGeom>
        </p:spPr>
      </p:pic>
    </p:spTree>
    <p:extLst>
      <p:ext uri="{BB962C8B-B14F-4D97-AF65-F5344CB8AC3E}">
        <p14:creationId xmlns:p14="http://schemas.microsoft.com/office/powerpoint/2010/main" val="1899124036"/>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0BF7E-7CB9-89AE-7248-90895191ED62}"/>
              </a:ext>
            </a:extLst>
          </p:cNvPr>
          <p:cNvSpPr>
            <a:spLocks noGrp="1"/>
          </p:cNvSpPr>
          <p:nvPr>
            <p:ph type="title"/>
          </p:nvPr>
        </p:nvSpPr>
        <p:spPr/>
        <p:txBody>
          <a:bodyPr/>
          <a:lstStyle/>
          <a:p>
            <a:r>
              <a:rPr lang="en-US" dirty="0"/>
              <a:t>Store Wise Customer Discount Segment</a:t>
            </a:r>
            <a:endParaRPr lang="en-IN" dirty="0"/>
          </a:p>
        </p:txBody>
      </p:sp>
      <p:sp>
        <p:nvSpPr>
          <p:cNvPr id="4" name="Text Placeholder 3">
            <a:extLst>
              <a:ext uri="{FF2B5EF4-FFF2-40B4-BE49-F238E27FC236}">
                <a16:creationId xmlns:a16="http://schemas.microsoft.com/office/drawing/2014/main" id="{7853D278-DB3F-BE3F-3FE8-FDE5A208BB89}"/>
              </a:ext>
            </a:extLst>
          </p:cNvPr>
          <p:cNvSpPr>
            <a:spLocks noGrp="1"/>
          </p:cNvSpPr>
          <p:nvPr>
            <p:ph type="body" sz="quarter" idx="12"/>
          </p:nvPr>
        </p:nvSpPr>
        <p:spPr>
          <a:xfrm>
            <a:off x="8215951" y="1549400"/>
            <a:ext cx="3547423" cy="4500563"/>
          </a:xfrm>
        </p:spPr>
        <p:txBody>
          <a:bodyPr numCol="1"/>
          <a:lstStyle/>
          <a:p>
            <a:pPr marL="285750" indent="-285750">
              <a:buFont typeface="Arial" panose="020B0604020202020204" pitchFamily="34" charset="0"/>
              <a:buChar char="•"/>
            </a:pPr>
            <a:r>
              <a:rPr lang="en-US" sz="1400" dirty="0"/>
              <a:t>South is dominating for with west holds second most share of both seekers and non seekers.</a:t>
            </a:r>
          </a:p>
          <a:p>
            <a:pPr marL="285750" indent="-285750">
              <a:buFont typeface="Arial" panose="020B0604020202020204" pitchFamily="34" charset="0"/>
              <a:buChar char="•"/>
            </a:pPr>
            <a:r>
              <a:rPr lang="en-US" sz="1400" dirty="0"/>
              <a:t>We can see steady decline in seekers and relatively sharp decline in non seekers as we move down.</a:t>
            </a:r>
          </a:p>
          <a:p>
            <a:pPr marL="285750" indent="-285750">
              <a:buFont typeface="Arial" panose="020B0604020202020204" pitchFamily="34" charset="0"/>
              <a:buChar char="•"/>
            </a:pPr>
            <a:endParaRPr lang="en-IN" sz="1400" dirty="0"/>
          </a:p>
          <a:p>
            <a:pPr marL="285750" indent="-285750">
              <a:buFont typeface="Arial" panose="020B0604020202020204" pitchFamily="34" charset="0"/>
              <a:buChar char="•"/>
            </a:pPr>
            <a:endParaRPr lang="en-IN" sz="1400" dirty="0"/>
          </a:p>
          <a:p>
            <a:pPr marL="285750" indent="-285750">
              <a:buFont typeface="Arial" panose="020B0604020202020204" pitchFamily="34" charset="0"/>
              <a:buChar char="•"/>
            </a:pPr>
            <a:endParaRPr lang="en-IN" sz="1400" dirty="0"/>
          </a:p>
          <a:p>
            <a:pPr marL="285750" indent="-285750">
              <a:buFont typeface="Arial" panose="020B0604020202020204" pitchFamily="34" charset="0"/>
              <a:buChar char="•"/>
            </a:pPr>
            <a:r>
              <a:rPr lang="en-IN" sz="1400" dirty="0"/>
              <a:t>Non seekers are hospitality based segment, so work on customer experience</a:t>
            </a:r>
          </a:p>
          <a:p>
            <a:pPr marL="285750" indent="-285750">
              <a:buFont typeface="Arial" panose="020B0604020202020204" pitchFamily="34" charset="0"/>
              <a:buChar char="•"/>
            </a:pPr>
            <a:r>
              <a:rPr lang="en-IN" sz="1400" dirty="0"/>
              <a:t>Region Focused Promotions to maximize impact</a:t>
            </a:r>
          </a:p>
          <a:p>
            <a:pPr marL="285750" indent="-285750">
              <a:buFont typeface="Arial" panose="020B0604020202020204" pitchFamily="34" charset="0"/>
              <a:buChar char="•"/>
            </a:pPr>
            <a:endParaRPr lang="en-US" sz="1400" dirty="0"/>
          </a:p>
        </p:txBody>
      </p:sp>
      <p:pic>
        <p:nvPicPr>
          <p:cNvPr id="6" name="Chart Placeholder 5">
            <a:extLst>
              <a:ext uri="{FF2B5EF4-FFF2-40B4-BE49-F238E27FC236}">
                <a16:creationId xmlns:a16="http://schemas.microsoft.com/office/drawing/2014/main" id="{AAA91D30-65D0-780A-8FD5-155DE404C64B}"/>
              </a:ext>
            </a:extLst>
          </p:cNvPr>
          <p:cNvPicPr>
            <a:picLocks noGrp="1" noChangeAspect="1"/>
          </p:cNvPicPr>
          <p:nvPr>
            <p:ph type="chart" sz="quarter" idx="11"/>
          </p:nvPr>
        </p:nvPicPr>
        <p:blipFill>
          <a:blip r:embed="rId2"/>
          <a:stretch>
            <a:fillRect/>
          </a:stretch>
        </p:blipFill>
        <p:spPr>
          <a:xfrm>
            <a:off x="403225" y="1641203"/>
            <a:ext cx="7812088" cy="4316957"/>
          </a:xfrm>
          <a:prstGeom prst="rect">
            <a:avLst/>
          </a:prstGeom>
        </p:spPr>
      </p:pic>
    </p:spTree>
    <p:extLst>
      <p:ext uri="{BB962C8B-B14F-4D97-AF65-F5344CB8AC3E}">
        <p14:creationId xmlns:p14="http://schemas.microsoft.com/office/powerpoint/2010/main" val="406986798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Shape 1207"/>
        <p:cNvGrpSpPr/>
        <p:nvPr/>
      </p:nvGrpSpPr>
      <p:grpSpPr>
        <a:xfrm>
          <a:off x="0" y="0"/>
          <a:ext cx="0" cy="0"/>
          <a:chOff x="0" y="0"/>
          <a:chExt cx="0" cy="0"/>
        </a:xfrm>
      </p:grpSpPr>
      <p:sp>
        <p:nvSpPr>
          <p:cNvPr id="1208" name="Google Shape;1208;p46"/>
          <p:cNvSpPr txBox="1">
            <a:spLocks noGrp="1"/>
          </p:cNvSpPr>
          <p:nvPr>
            <p:ph type="subTitle" idx="1"/>
          </p:nvPr>
        </p:nvSpPr>
        <p:spPr>
          <a:xfrm>
            <a:off x="2849000" y="2488624"/>
            <a:ext cx="6494000" cy="1056800"/>
          </a:xfrm>
          <a:prstGeom prst="rect">
            <a:avLst/>
          </a:prstGeom>
          <a:noFill/>
          <a:ln>
            <a:noFill/>
          </a:ln>
        </p:spPr>
        <p:txBody>
          <a:bodyPr spcFirstLastPara="1" wrap="square" lIns="121900" tIns="121900" rIns="121900" bIns="121900" anchor="ctr" anchorCtr="0">
            <a:normAutofit fontScale="92500" lnSpcReduction="10000"/>
          </a:bodyPr>
          <a:lstStyle/>
          <a:p>
            <a:pPr marL="609585" indent="-457189"/>
            <a:r>
              <a:rPr lang="en-US" sz="6400" b="1" dirty="0"/>
              <a:t>THANK YOU!</a:t>
            </a:r>
          </a:p>
        </p:txBody>
      </p:sp>
    </p:spTree>
    <p:extLst>
      <p:ext uri="{BB962C8B-B14F-4D97-AF65-F5344CB8AC3E}">
        <p14:creationId xmlns:p14="http://schemas.microsoft.com/office/powerpoint/2010/main" val="3656772840"/>
      </p:ext>
    </p:extLst>
  </p:cSld>
  <p:clrMapOvr>
    <a:masterClrMapping/>
  </p:clrMapOvr>
</p:sld>
</file>

<file path=ppt/theme/theme1.xml><?xml version="1.0" encoding="utf-8"?>
<a:theme xmlns:a="http://schemas.openxmlformats.org/drawingml/2006/main" name="Tropic">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18883</TotalTime>
  <Words>4669</Words>
  <Application>Microsoft Office PowerPoint</Application>
  <PresentationFormat>Widescreen</PresentationFormat>
  <Paragraphs>726</Paragraphs>
  <Slides>122</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122</vt:i4>
      </vt:variant>
    </vt:vector>
  </HeadingPairs>
  <TitlesOfParts>
    <vt:vector size="129" baseType="lpstr">
      <vt:lpstr>Arial</vt:lpstr>
      <vt:lpstr>Calibri</vt:lpstr>
      <vt:lpstr>Open Sans</vt:lpstr>
      <vt:lpstr>PT Sans Narrow</vt:lpstr>
      <vt:lpstr>Raleway</vt:lpstr>
      <vt:lpstr>Wingdings</vt:lpstr>
      <vt:lpstr>Tropic</vt:lpstr>
      <vt:lpstr>Retail Intelligence: Customer Loyalty and Transaction Insights</vt:lpstr>
      <vt:lpstr>Introduction</vt:lpstr>
      <vt:lpstr>Business Context</vt:lpstr>
      <vt:lpstr>Problem Statement</vt:lpstr>
      <vt:lpstr>Technology Stack</vt:lpstr>
      <vt:lpstr>Customer Table Overview</vt:lpstr>
      <vt:lpstr>Orders Table Overview(1/2)</vt:lpstr>
      <vt:lpstr>Orders Table Overview(2/2)</vt:lpstr>
      <vt:lpstr>Product Table Overview(1/2)</vt:lpstr>
      <vt:lpstr>Product Table Overview(2/2)</vt:lpstr>
      <vt:lpstr>Store Table Overview</vt:lpstr>
      <vt:lpstr>Orders Review Table Overview</vt:lpstr>
      <vt:lpstr>Orders Payment Table Overview</vt:lpstr>
      <vt:lpstr>Meta Data(1/2)</vt:lpstr>
      <vt:lpstr>Meta Data(2/2)</vt:lpstr>
      <vt:lpstr>E-R Diagram</vt:lpstr>
      <vt:lpstr>Inconsistencies &amp; Discrepancies in Data(1/5)</vt:lpstr>
      <vt:lpstr>Inconsistencies &amp; Discrepancies in Data(2/5)</vt:lpstr>
      <vt:lpstr>Inconsistencies &amp; Discrepancies in Data(3/5)</vt:lpstr>
      <vt:lpstr>Inconsistencies &amp; Discrepancies in Data(4/5)</vt:lpstr>
      <vt:lpstr>Inconsistencies &amp; Discrepancies in Data(5/5)</vt:lpstr>
      <vt:lpstr>Data Cleaning &amp; Fixes Applied(1/2)</vt:lpstr>
      <vt:lpstr>Data Cleaning &amp; Fixes Applied(2/2)</vt:lpstr>
      <vt:lpstr>Customer Level Dashboard</vt:lpstr>
      <vt:lpstr>Recommendations</vt:lpstr>
      <vt:lpstr>Order Level Dashboard</vt:lpstr>
      <vt:lpstr>Recommendations</vt:lpstr>
      <vt:lpstr>Store Level Dashboard</vt:lpstr>
      <vt:lpstr>Recommendations </vt:lpstr>
      <vt:lpstr>Product Level Dashboard</vt:lpstr>
      <vt:lpstr>Recommendations</vt:lpstr>
      <vt:lpstr>COHORT ANALYSIS</vt:lpstr>
      <vt:lpstr>Acquisition Cohort Analysis</vt:lpstr>
      <vt:lpstr>Discount Segment Based Cohort Analysis (Seekers) </vt:lpstr>
      <vt:lpstr>Discount Segment Based Cohort Analysis(Non-Seekers)</vt:lpstr>
      <vt:lpstr>Active type Segment Based Cohort Analysis (Dawnsparrow)</vt:lpstr>
      <vt:lpstr>Active type Segment Based Cohort Analysis (NightHawks)</vt:lpstr>
      <vt:lpstr>PowerPoint Presentation</vt:lpstr>
      <vt:lpstr>RFM Segment Based Cohort Analysis (Premium)</vt:lpstr>
      <vt:lpstr>RFM Segment Based Cohort Analysis (Gold)</vt:lpstr>
      <vt:lpstr>RFM Segment Based Cohort Analysis (Silver , Standard &amp; Low Valued)</vt:lpstr>
      <vt:lpstr>Store Wise RFM Segment Distribution </vt:lpstr>
      <vt:lpstr>Rfm Segments Of AciveType</vt:lpstr>
      <vt:lpstr>PowerPoint Presentation</vt:lpstr>
      <vt:lpstr>Category Wise Penetration Percent</vt:lpstr>
      <vt:lpstr>Month Wise Category Penetration</vt:lpstr>
      <vt:lpstr>Month Wise New Customer</vt:lpstr>
      <vt:lpstr>Customer Discount Segments Of Active Type</vt:lpstr>
      <vt:lpstr>Month Wise Repeat customer rate</vt:lpstr>
      <vt:lpstr>Top 10 Most Expensive Product sale percent contribution</vt:lpstr>
      <vt:lpstr>Average Category Rating</vt:lpstr>
      <vt:lpstr>Average Rating With Respect to Transaction Type</vt:lpstr>
      <vt:lpstr>Month Wise Revenue of New Customer and Existing Customer</vt:lpstr>
      <vt:lpstr>Month Wise Sales</vt:lpstr>
      <vt:lpstr>Region Wise Customer Spread</vt:lpstr>
      <vt:lpstr>PowerPoint Presentation</vt:lpstr>
      <vt:lpstr>Active Type Distribution of One Timers and Repeaters</vt:lpstr>
      <vt:lpstr>Region Wise OneTimers Vs Repeaters</vt:lpstr>
      <vt:lpstr>RFM Segmentation of OneTimers And Repeaters</vt:lpstr>
      <vt:lpstr>Gender Distribution of OneTimers vs Repeaters</vt:lpstr>
      <vt:lpstr>Customer Discount Segmentation of OneTimers and Repeaters</vt:lpstr>
      <vt:lpstr>Preferred Categories by OneTimers and Repeaters</vt:lpstr>
      <vt:lpstr>Preferred Channel by OneTimers and Repeaters </vt:lpstr>
      <vt:lpstr>State of OneTimers and Repeaters</vt:lpstr>
      <vt:lpstr>Prefered Payment Mode of Onetimers and Repeaters</vt:lpstr>
      <vt:lpstr>Preferred Quarter of OneTimers and Repater</vt:lpstr>
      <vt:lpstr>PowerPoint Presentation</vt:lpstr>
      <vt:lpstr>Store Wise Active Type</vt:lpstr>
      <vt:lpstr>Dawnsparrows vs Nighthawks Preferred Category Percent Distribution </vt:lpstr>
      <vt:lpstr>Payment Mode Percent Distribution of Dawnsparrows and Nighthawks</vt:lpstr>
      <vt:lpstr>Channel Preference Distribution of Active Type</vt:lpstr>
      <vt:lpstr>Gender Distribution of Active Type</vt:lpstr>
      <vt:lpstr>State Wise Distribution of Active Type</vt:lpstr>
      <vt:lpstr>Region Wise Active Type</vt:lpstr>
      <vt:lpstr>Quarter Wise Distribution of Active Type</vt:lpstr>
      <vt:lpstr>Average Order, Average Discount, Average Profit wrt Active Type</vt:lpstr>
      <vt:lpstr>Average Rating and Average LifeTime wrt Active Type</vt:lpstr>
      <vt:lpstr>PowerPoint Presentation</vt:lpstr>
      <vt:lpstr>Customer Distribution by InterCity Intra City</vt:lpstr>
      <vt:lpstr>InterCity vs IntraCity of Weekend and Weekday Sales</vt:lpstr>
      <vt:lpstr>InterCity vs IntraCity by Channel Preference</vt:lpstr>
      <vt:lpstr>Time Slot Distribution</vt:lpstr>
      <vt:lpstr>Preferred Payment Mode</vt:lpstr>
      <vt:lpstr>Hourly traffic</vt:lpstr>
      <vt:lpstr>Quarters Wise Distribution</vt:lpstr>
      <vt:lpstr>Average Sales , Discount, Profit </vt:lpstr>
      <vt:lpstr>Average Days Between Orders</vt:lpstr>
      <vt:lpstr>PowerPoint Presentation</vt:lpstr>
      <vt:lpstr>Customer Distribution of InterState IntraState</vt:lpstr>
      <vt:lpstr>InterState vs IntraState of Weekend and Weekdays Sales</vt:lpstr>
      <vt:lpstr>Distribution of Preferred Channel</vt:lpstr>
      <vt:lpstr>Distribution of Time Slot</vt:lpstr>
      <vt:lpstr>Distribution of Preferred Payment mode</vt:lpstr>
      <vt:lpstr>Distribution of Hourly Traffic</vt:lpstr>
      <vt:lpstr>Distribution of Quarters</vt:lpstr>
      <vt:lpstr>Average Sales , Discount , Profit</vt:lpstr>
      <vt:lpstr>Average Days Between Orders</vt:lpstr>
      <vt:lpstr>PowerPoint Presentation</vt:lpstr>
      <vt:lpstr>Customer Distribution of InterRegion IntraRegion</vt:lpstr>
      <vt:lpstr>InterRegion Vs IntraRegion Weekend and Weekdays Sales</vt:lpstr>
      <vt:lpstr>Distribution of Prefered Channel</vt:lpstr>
      <vt:lpstr>Distribution of Time Slot</vt:lpstr>
      <vt:lpstr>Distribution of Payment mode</vt:lpstr>
      <vt:lpstr>Distribution of Hourly Traffic</vt:lpstr>
      <vt:lpstr>Distribution of Quarters</vt:lpstr>
      <vt:lpstr>Average Sales , Profit , Discount</vt:lpstr>
      <vt:lpstr>Average Days Between Orders</vt:lpstr>
      <vt:lpstr>PowerPoint Presentation</vt:lpstr>
      <vt:lpstr>Top 10 , Bottom 10 Stores by Revenue Distribution</vt:lpstr>
      <vt:lpstr>Top 10 , Bottom 10 Stores By Orders</vt:lpstr>
      <vt:lpstr>Top 10 , Bottom 10 Stores By Profit Distribution</vt:lpstr>
      <vt:lpstr>Top 10 , Bottom 10 Stores By Average Order Value</vt:lpstr>
      <vt:lpstr>Store Wise Average Orders per Customer</vt:lpstr>
      <vt:lpstr>Region Wise Revenue , Orders , Profit and AOV Distribution</vt:lpstr>
      <vt:lpstr>Average Order Value</vt:lpstr>
      <vt:lpstr>State Wise Revenue , Order Distribution</vt:lpstr>
      <vt:lpstr>State Wise Profit and AOV distribution</vt:lpstr>
      <vt:lpstr>Ordered by Profitablity and satisfaction Score</vt:lpstr>
      <vt:lpstr>AOV Most Preferred Category</vt:lpstr>
      <vt:lpstr>Time slot and Quarterly sales</vt:lpstr>
      <vt:lpstr>Store Wise Customer Discount Segment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oorja gund</dc:creator>
  <cp:lastModifiedBy>Piyush Chaudhary</cp:lastModifiedBy>
  <cp:revision>181</cp:revision>
  <dcterms:created xsi:type="dcterms:W3CDTF">2025-04-04T02:52:34Z</dcterms:created>
  <dcterms:modified xsi:type="dcterms:W3CDTF">2025-09-17T12:35:25Z</dcterms:modified>
</cp:coreProperties>
</file>